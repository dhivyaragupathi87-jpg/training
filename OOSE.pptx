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297" r:id="rId2"/>
    <p:sldId id="260" r:id="rId3"/>
    <p:sldId id="293" r:id="rId4"/>
    <p:sldId id="261" r:id="rId5"/>
    <p:sldId id="294" r:id="rId6"/>
    <p:sldId id="262" r:id="rId7"/>
    <p:sldId id="295" r:id="rId8"/>
    <p:sldId id="263" r:id="rId9"/>
    <p:sldId id="296" r:id="rId10"/>
    <p:sldId id="256" r:id="rId11"/>
    <p:sldId id="298" r:id="rId12"/>
    <p:sldId id="264" r:id="rId13"/>
    <p:sldId id="269" r:id="rId14"/>
    <p:sldId id="265" r:id="rId15"/>
    <p:sldId id="299" r:id="rId16"/>
    <p:sldId id="266" r:id="rId17"/>
    <p:sldId id="300" r:id="rId18"/>
    <p:sldId id="267" r:id="rId19"/>
    <p:sldId id="258" r:id="rId20"/>
    <p:sldId id="259" r:id="rId21"/>
    <p:sldId id="270" r:id="rId22"/>
    <p:sldId id="271" r:id="rId23"/>
    <p:sldId id="301" r:id="rId24"/>
    <p:sldId id="311" r:id="rId25"/>
    <p:sldId id="302" r:id="rId26"/>
    <p:sldId id="312" r:id="rId27"/>
    <p:sldId id="303" r:id="rId28"/>
    <p:sldId id="313" r:id="rId29"/>
    <p:sldId id="304" r:id="rId30"/>
    <p:sldId id="314" r:id="rId31"/>
    <p:sldId id="305" r:id="rId32"/>
    <p:sldId id="315" r:id="rId33"/>
    <p:sldId id="306" r:id="rId34"/>
    <p:sldId id="316" r:id="rId35"/>
    <p:sldId id="307" r:id="rId36"/>
    <p:sldId id="317" r:id="rId37"/>
    <p:sldId id="308" r:id="rId38"/>
    <p:sldId id="318" r:id="rId39"/>
    <p:sldId id="309" r:id="rId40"/>
    <p:sldId id="319" r:id="rId41"/>
    <p:sldId id="310" r:id="rId42"/>
    <p:sldId id="257" r:id="rId43"/>
    <p:sldId id="321" r:id="rId44"/>
    <p:sldId id="322" r:id="rId45"/>
    <p:sldId id="272" r:id="rId46"/>
    <p:sldId id="320" r:id="rId47"/>
    <p:sldId id="323" r:id="rId48"/>
    <p:sldId id="273" r:id="rId49"/>
    <p:sldId id="274" r:id="rId50"/>
    <p:sldId id="324" r:id="rId51"/>
    <p:sldId id="275" r:id="rId52"/>
    <p:sldId id="276" r:id="rId53"/>
    <p:sldId id="277" r:id="rId54"/>
    <p:sldId id="278" r:id="rId55"/>
    <p:sldId id="279" r:id="rId56"/>
    <p:sldId id="280" r:id="rId57"/>
    <p:sldId id="281" r:id="rId58"/>
    <p:sldId id="282" r:id="rId59"/>
    <p:sldId id="283" r:id="rId60"/>
    <p:sldId id="284" r:id="rId61"/>
    <p:sldId id="285" r:id="rId62"/>
    <p:sldId id="325" r:id="rId63"/>
    <p:sldId id="326" r:id="rId64"/>
    <p:sldId id="328" r:id="rId65"/>
    <p:sldId id="286" r:id="rId66"/>
    <p:sldId id="327" r:id="rId67"/>
    <p:sldId id="287" r:id="rId68"/>
    <p:sldId id="288" r:id="rId69"/>
    <p:sldId id="329"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768" autoAdjust="0"/>
    <p:restoredTop sz="94660"/>
  </p:normalViewPr>
  <p:slideViewPr>
    <p:cSldViewPr snapToGrid="0">
      <p:cViewPr varScale="1">
        <p:scale>
          <a:sx n="51" d="100"/>
          <a:sy n="51" d="100"/>
        </p:scale>
        <p:origin x="68"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4852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Welcome to the session on OOP, design patterns and software testing. Decorative illustration is AI-generated. All slide text is editable.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Microsoft Learn, Object-oriented programming (C#): https://learn.microsoft.com/en-us/dotnet/csharp/fundamentals/tutorials/oop</a:t>
            </a:r>
          </a:p>
          <a:p>
            <a:r>
              <a:t>Concept definitions grounded in Microsoft Learn. Banking examples are illustrative design examples, not verified claims about the current app.</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Notes body"/>
          <p:cNvSpPr>
            <a:spLocks noGrp="1"/>
          </p:cNvSpPr>
          <p:nvPr>
            <p:ph type="body" idx="1"/>
          </p:nvPr>
        </p:nvSpPr>
        <p:spPr/>
        <p:txBody>
          <a:bodyPr/>
          <a:lstStyle/>
          <a:p>
            <a:r>
              <a:t>Illustrative real-world analogy for the OOP definition on the preceding slide. The examples are conceptual models, not claims about a specific implementation. Artwork: AI-generated for this presentation. Diagram labels and connectors are editable PowerPoint objects.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Microsoft Learn, Object-oriented programming (C#): https://learn.microsoft.com/en-us/dotnet/csharp/fundamentals/tutorials/oop</a:t>
            </a:r>
          </a:p>
          <a:p>
            <a:r>
              <a:t>Concept definitions grounded in Microsoft Learn. Banking examples are illustrative design examples, not verified claims about the current app.</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Notes body"/>
          <p:cNvSpPr>
            <a:spLocks noGrp="1"/>
          </p:cNvSpPr>
          <p:nvPr>
            <p:ph type="body" idx="1"/>
          </p:nvPr>
        </p:nvSpPr>
        <p:spPr/>
        <p:txBody>
          <a:bodyPr/>
          <a:lstStyle/>
          <a:p>
            <a:r>
              <a:t>Illustrative real-world analogy for the OOP definition on the preceding slide. The examples are conceptual models, not claims about a specific implementation. Artwork: AI-generated for this presentation. Diagram labels and connectors are editable PowerPoint objects.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Microsoft Learn, Object-oriented programming (C#): https://learn.microsoft.com/en-us/dotnet/csharp/fundamentals/tutorials/oop</a:t>
            </a:r>
          </a:p>
          <a:p>
            <a:r>
              <a:t>Concept definitions grounded in Microsoft Learn. Banking examples are illustrative design examples, not verified claims about the current app.</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Notes body"/>
          <p:cNvSpPr>
            <a:spLocks noGrp="1"/>
          </p:cNvSpPr>
          <p:nvPr>
            <p:ph type="body" idx="1"/>
          </p:nvPr>
        </p:nvSpPr>
        <p:spPr/>
        <p:txBody>
          <a:bodyPr/>
          <a:lstStyle/>
          <a:p>
            <a:r>
              <a:t>Illustrative real-world analogy for the OOP definition on the preceding slide. The examples are conceptual models, not claims about a specific implementation. Artwork: AI-generated for this presentation. Diagram labels and connectors are editable PowerPoint objects.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a:t>
            </a:r>
          </a:p>
          <a:p>
            <a:r>
              <a:t>Microsoft Learn, Object-oriented programming (C#): https://learn.microsoft.com/en-us/dotnet/csharp/fundamentals/tutorials/oop</a:t>
            </a:r>
          </a:p>
          <a:p>
            <a:r>
              <a:t>Concept definitions grounded in Microsoft Learn. Banking examples are illustrative design examples, not verified claims about the current app.</a:t>
            </a:r>
          </a:p>
          <a:p>
            <a:r>
              <a:t>[/Sources]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Notes body"/>
          <p:cNvSpPr>
            <a:spLocks noGrp="1"/>
          </p:cNvSpPr>
          <p:nvPr>
            <p:ph type="body" idx="1"/>
          </p:nvPr>
        </p:nvSpPr>
        <p:spPr/>
        <p:txBody>
          <a:bodyPr/>
          <a:lstStyle/>
          <a:p>
            <a:r>
              <a:t>Illustrative real-world analogy for the OOP definition on the preceding slide. The examples are conceptual models, not claims about a specific implementation. Artwork: AI-generated for this presentation. Diagram labels and connectors are editable PowerPoint objects.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Notes body"/>
          <p:cNvSpPr>
            <a:spLocks noGrp="1"/>
          </p:cNvSpPr>
          <p:nvPr>
            <p:ph type="body" idx="1"/>
          </p:nvPr>
        </p:nvSpPr>
        <p:spPr/>
        <p:txBody>
          <a:bodyPr/>
          <a:lstStyle/>
          <a:p>
            <a:r>
              <a:t>Based on illustrative teaching models already in the source presentation: OOSE, Swiggy and Uber classes in a user journey, and Spotify, Amazon and Netflix state and behavior. These examples do not describe verified internal implementations. Artwork: AI-generated conceptual cartoons for this presentation. Brand names appear only as editable labels, not as generated logos or screenshots.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Text"/>
          <p:cNvSpPr>
            <a:spLocks noGrp="1"/>
          </p:cNvSpPr>
          <p:nvPr>
            <p:ph type="body" idx="1"/>
          </p:nvPr>
        </p:nvSpPr>
        <p:spPr/>
        <p:txBody>
          <a:bodyPr/>
          <a:lstStyle/>
          <a:p>
            <a:r>
              <a:t>[Sources]</a:t>
            </a:r>
          </a:p>
          <a:p>
            <a:r>
              <a:t>Swiggy: https://www.swiggy.com/restaurants</a:t>
            </a:r>
          </a:p>
          <a:p>
            <a:r>
              <a:t>Uber: https://www.uber.com/us/en/ride/</a:t>
            </a:r>
          </a:p>
          <a:p>
            <a:r>
              <a:t>Spotify: https://support.spotify.com/us/article/create-playlists/</a:t>
            </a:r>
          </a:p>
          <a:p>
            <a:r>
              <a:t>Amazon: https://www.amazon.com/gp/help/customer/display.html?nodeId=TM0z2tvxdI4nu36ypt</a:t>
            </a:r>
          </a:p>
          <a:p>
            <a:r>
              <a:t>Netflix: https://help.netflix.com/en/node/101917</a:t>
            </a:r>
          </a:p>
          <a:p>
            <a:r>
              <a:t>[/Sources]</a:t>
            </a:r>
          </a:p>
          <a:p>
            <a:r>
              <a:t>Public features inform these teaching examples. All proposed classes, attributes, methods, relationships, identifiers and object values are illustrative, not verified internal implementations.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FF32B-693D-4078-5D17-AE9303086640}"/>
            </a:ext>
          </a:extLst>
        </p:cNvPr>
        <p:cNvGrpSpPr/>
        <p:nvPr/>
      </p:nvGrpSpPr>
      <p:grpSpPr>
        <a:xfrm>
          <a:off x="0" y="0"/>
          <a:ext cx="0" cy="0"/>
          <a:chOff x="0" y="0"/>
          <a:chExt cx="0" cy="0"/>
        </a:xfrm>
      </p:grpSpPr>
      <p:sp>
        <p:nvSpPr>
          <p:cNvPr id="99" name="Notes Text">
            <a:extLst>
              <a:ext uri="{FF2B5EF4-FFF2-40B4-BE49-F238E27FC236}">
                <a16:creationId xmlns:a16="http://schemas.microsoft.com/office/drawing/2014/main" id="{ACC4283D-799C-2BED-2E75-00CCF4769E84}"/>
              </a:ext>
            </a:extLst>
          </p:cNvPr>
          <p:cNvSpPr>
            <a:spLocks noGrp="1"/>
          </p:cNvSpPr>
          <p:nvPr>
            <p:ph type="body" idx="1"/>
          </p:nvPr>
        </p:nvSpPr>
        <p:spPr/>
        <p:txBody>
          <a:bodyPr/>
          <a:lstStyle/>
          <a:p>
            <a:r>
              <a:t>[Sources]</a:t>
            </a:r>
          </a:p>
          <a:p>
            <a:r>
              <a:t>Swiggy: https://www.swiggy.com/restaurants</a:t>
            </a:r>
          </a:p>
          <a:p>
            <a:r>
              <a:t>Uber: https://www.uber.com/us/en/ride/</a:t>
            </a:r>
          </a:p>
          <a:p>
            <a:r>
              <a:t>Spotify: https://support.spotify.com/us/article/create-playlists/</a:t>
            </a:r>
          </a:p>
          <a:p>
            <a:r>
              <a:t>Amazon: https://www.amazon.com/gp/help/customer/display.html?nodeId=TM0z2tvxdI4nu36ypt</a:t>
            </a:r>
          </a:p>
          <a:p>
            <a:r>
              <a:t>Netflix: https://help.netflix.com/en/node/101917</a:t>
            </a:r>
          </a:p>
          <a:p>
            <a:r>
              <a:t>[/Sources]</a:t>
            </a:r>
          </a:p>
          <a:p>
            <a:r>
              <a:t>Public features inform these teaching examples. All proposed classes, attributes, methods, relationships, identifiers and object values are illustrative, not verified internal implementations.</a:t>
            </a:r>
          </a:p>
        </p:txBody>
      </p:sp>
    </p:spTree>
    <p:extLst>
      <p:ext uri="{BB962C8B-B14F-4D97-AF65-F5344CB8AC3E}">
        <p14:creationId xmlns:p14="http://schemas.microsoft.com/office/powerpoint/2010/main" val="23796900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Text"/>
          <p:cNvSpPr>
            <a:spLocks noGrp="1"/>
          </p:cNvSpPr>
          <p:nvPr>
            <p:ph type="body" idx="1"/>
          </p:nvPr>
        </p:nvSpPr>
        <p:spPr/>
        <p:txBody>
          <a:bodyPr/>
          <a:lstStyle/>
          <a:p>
            <a:r>
              <a:t>[Sources]</a:t>
            </a:r>
          </a:p>
          <a:p>
            <a:r>
              <a:t>Swiggy: https://www.swiggy.com/restaurants</a:t>
            </a:r>
          </a:p>
          <a:p>
            <a:r>
              <a:t>Uber: https://www.uber.com/us/en/ride/</a:t>
            </a:r>
          </a:p>
          <a:p>
            <a:r>
              <a:t>[/Sources]</a:t>
            </a:r>
          </a:p>
          <a:p>
            <a:r>
              <a:t>Public features inform these teaching examples. All proposed classes, attributes, methods, relationships, identifiers and object values are illustrative, not verified internal implementations.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Notes body"/>
          <p:cNvSpPr>
            <a:spLocks noGrp="1"/>
          </p:cNvSpPr>
          <p:nvPr>
            <p:ph type="body" idx="1"/>
          </p:nvPr>
        </p:nvSpPr>
        <p:spPr/>
        <p:txBody>
          <a:bodyPr/>
          <a:lstStyle/>
          <a:p>
            <a:r>
              <a:t>Based on illustrative teaching models already in the source presentation: OOSE, Swiggy and Uber classes in a user journey, and Spotify, Amazon and Netflix state and behavior. These examples do not describe verified internal implementations. Artwork: AI-generated conceptual cartoons for this presentation. Brand names appear only as editable labels, not as generated logos or screenshots.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Text"/>
          <p:cNvSpPr>
            <a:spLocks noGrp="1"/>
          </p:cNvSpPr>
          <p:nvPr>
            <p:ph type="body" idx="1"/>
          </p:nvPr>
        </p:nvSpPr>
        <p:spPr/>
        <p:txBody>
          <a:bodyPr/>
          <a:lstStyle/>
          <a:p>
            <a:r>
              <a:t>[Sources]</a:t>
            </a:r>
          </a:p>
          <a:p>
            <a:r>
              <a:t>Spotify: https://support.spotify.com/us/article/create-playlists/</a:t>
            </a:r>
          </a:p>
          <a:p>
            <a:r>
              <a:t>Amazon: https://www.amazon.com/gp/help/customer/display.html?nodeId=TM0z2tvxdI4nu36ypt</a:t>
            </a:r>
          </a:p>
          <a:p>
            <a:r>
              <a:t>Netflix: https://help.netflix.com/en/node/101917</a:t>
            </a:r>
          </a:p>
          <a:p>
            <a:r>
              <a:t>[/Sources]</a:t>
            </a:r>
          </a:p>
          <a:p>
            <a:r>
              <a:t>Public features inform these teaching examples. All proposed classes, attributes, methods, relationships, identifiers and object values are illustrative, not verified internal implementations.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Notes body"/>
          <p:cNvSpPr>
            <a:spLocks noGrp="1"/>
          </p:cNvSpPr>
          <p:nvPr>
            <p:ph type="body" idx="1"/>
          </p:nvPr>
        </p:nvSpPr>
        <p:spPr/>
        <p:txBody>
          <a:bodyPr/>
          <a:lstStyle/>
          <a:p>
            <a:r>
              <a:t>Based on illustrative teaching models already in the source presentation: OOSE, Swiggy and Uber classes in a user journey, and Spotify, Amazon and Netflix state and behavior. These examples do not describe verified internal implementations. Artwork: AI-generated conceptual cartoons for this presentation. Brand names appear only as editable labels, not as generated logos or screenshots.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Text"/>
          <p:cNvSpPr>
            <a:spLocks noGrp="1"/>
          </p:cNvSpPr>
          <p:nvPr>
            <p:ph type="body" idx="1"/>
          </p:nvPr>
        </p:nvSpPr>
        <p:spPr/>
        <p:txBody>
          <a:bodyPr/>
          <a:lstStyle/>
          <a:p>
            <a:r>
              <a:t>[Sources]</a:t>
            </a:r>
          </a:p>
          <a:p>
            <a:r>
              <a:t>Spotify: https://support.spotify.com/us/article/create-playlists/</a:t>
            </a:r>
          </a:p>
          <a:p>
            <a:r>
              <a:t>[/Sources]</a:t>
            </a:r>
          </a:p>
          <a:p>
            <a:r>
              <a:t>Public features inform these teaching examples. All proposed classes, attributes, methods, relationships, identifiers and object values are illustrative, not verified internal implementations.</a:t>
            </a:r>
          </a:p>
          <a:p>
            <a:endParaRPr/>
          </a:p>
          <a:p>
            <a:r>
              <a:t>Suggested answer: Listener, Playlist, Track. Objects: maya: Listener; weekendMix: Playlist with name “Weekend Mix”; trackA: Track and trackB: Track. Playlist facts: playlistId and name (also tracks). Action: addTrack(track). A Playlist references multiple Track objects; a Track may appear in multiple playlists. These are sample answers, and alternative well-reasoned models are valid.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Illustrative analogy for Model–view–controller. Technical mapping adapted from the adjacent existing code example (original slide 24). Cartoon generated with AI for this teaching analogy. The illustration is not evidence of an actual system implementation.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Illustrative analogy for Repository. Technical mapping adapted from the adjacent existing code example (original slide 25). Cartoon generated with AI for this teaching analogy. The illustration is not evidence of an actual system implementation.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Illustrative analogy for Singleton. Technical mapping adapted from the adjacent existing code example (original slide 26). Cartoon generated with AI for this teaching analogy. The illustration is not evidence of an actual system implementation.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Illustrative analogy for Factory. Technical mapping adapted from the adjacent existing code example (original slide 27). Cartoon generated with AI for this teaching analogy. The illustration is not evidence of an actual system implementation.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Illustrative analogy for Facade. Technical mapping adapted from the adjacent existing code example (original slide 28). Cartoon generated with AI for this teaching analogy. The illustration is not evidence of an actual system implementation.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Illustrative analogy for Strategy. Technical mapping adapted from the adjacent existing code example (original slide 29). Cartoon generated with AI for this teaching analogy. The illustration is not evidence of an actual system implementation.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Illustrative analogy for Observer. Technical mapping adapted from the adjacent existing code example (original slide 30). Cartoon generated with AI for this teaching analogy. The illustration is not evidence of an actual system implementation.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Illustrative analogy for Adapter. Technical mapping adapted from the adjacent existing code example (original slide 31). Cartoon generated with AI for this teaching analogy. The illustration is not evidence of an actual system implementation.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Illustrative analogy for Builder. Technical mapping adapted from the adjacent existing code example (original slide 32). Cartoon generated with AI for this teaching analogy. The illustration is not evidence of an actual system implementation.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User-supplied code, displayed without semantic changes. Repository clue: centralize MongoDB access behind AccountRepository methods such as find, saveBalance and listOpen. Business functions depend on the repository rather than MongoDB collections. The Repository pattern addresses coupling and duplicated persistence knowledge; it does not by itself resolve concurrent deposit updates, input validation or missing accounts. Cartoon is an AI-generated illustrative analogy.</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Source: user-supplied code. Whitespace-only formatting for readability. Repository separates persistence details from the deposit operation. This teaching example retains the supplied read-modify-write behavior and does not add concurrency protection, validation, or missing-account handling.</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rPr lang="en-US"/>
              <a:t>Clue based only on the Strategy design pattern. Grounded </a:t>
            </a:r>
            <a:r>
              <a:t>in slide 43 </a:t>
            </a:r>
            <a:r>
              <a:rPr lang="en-IN"/>
              <a:t>payment logic </a:t>
            </a:r>
            <a:r>
              <a:t>and slide 45</a:t>
            </a:r>
            <a:r>
              <a:rPr lang="en-IN"/>
              <a:t> VendingMachine calling this</a:t>
            </a:r>
            <a:r>
              <a:t>.payment.</a:t>
            </a:r>
            <a:r>
              <a:rPr lang="en-IN"/>
              <a:t>approve(request). Context: VendingMachine</a:t>
            </a:r>
            <a:r>
              <a:t>. Strategy </a:t>
            </a:r>
            <a:r>
              <a:rPr lang="en-US"/>
              <a:t>contract: approve(request). Concrete strategy shown by the solution: UpiPayment. CashPayment </a:t>
            </a:r>
            <a:r>
              <a:t>is </a:t>
            </a:r>
            <a:r>
              <a:rPr lang="en-US"/>
              <a:t>an illustrative extension, not implemented in </a:t>
            </a:r>
            <a:r>
              <a:t>the </a:t>
            </a:r>
            <a:r>
              <a:rPr lang="en-US"/>
              <a:t>existing solution. Ask learners to extract payment behavior into interchangeable strategy objects</a:t>
            </a:r>
            <a:r>
              <a:t>. </a:t>
            </a:r>
            <a:r>
              <a:rPr lang="en-US"/>
              <a:t>General refactoring clues have been removed</a:t>
            </a:r>
            <a:r>
              <a:t>. </a:t>
            </a:r>
            <a:r>
              <a:rPr lang="en-US"/>
              <a:t>New cartoon generated with AI for this teaching analogy</a:t>
            </a:r>
            <a:r>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Source: user-provided comparison and vending-machine code on slides 45 and 48. Strategy is directly demonstrated by the injected payment object and approve contract. The buy method is facade-like, rather than evidence of a separate full Facade implementation. Reusing a single machine object does not enforce the Singleton pattern. Payment validation is a teaching stub, not production UPI authentication.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Source: user-provided comparison. The MVC row describes separating rendering from application behavior. OrderFactory.create is a simple factory approach. Payment approval in this teaching example is not production authentication.</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Source: user-provided testing table. Bank behavior, paths, command, expected response and account number are preserved as supplied. These examples describe checks and expected behavior, not a report that tests have run or passed.</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Based on original slide 62, Testing types. All seven test categories are covered. The top row emphasizes scope or interface, the lower row emphasizes purpose; categories overlap. API health response expects {"ok":true}. End-to-end test checks account 10000001. Unit illustration assumes dependencies are isolated. Generated cartoon artwork is illustrative, not product UI. Technical labels are editable.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Source: testing definitions and bank examples supplied by the user and present on original slides 62–63. Smoke checks basic app availability; regression checks existing behavior after a change; acceptance checks the agreed use case. Categories may overlap and do not require a particular testing level. Artwork is AI-generated humorous illustration, not product UI or evidence of tests executed. All technical labels remain editable.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Source: original slide 63, Branch customer test case. This diagram reformats its Start state, Action, Expected result and Cleanup as four test-design steps. Test data supplied by that slide: synthetic.customer@example.com, password Test1234!, Branch. App URL http://localhost:5173/. Expected account 10000001 and Transfer funds. Cleanup Log out then see Sign in. Cartoon artwork is AI-generated and illustrative. Technical labels remain editable.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cNvSpPr>
            <a:spLocks noGrp="1"/>
          </p:cNvSpPr>
          <p:nvPr>
            <p:ph type="body" idx="1"/>
          </p:nvPr>
        </p:nvSpPr>
        <p:spPr/>
        <p:txBody>
          <a:bodyPr/>
          <a:lstStyle/>
          <a:p>
            <a:r>
              <a:t>Closing slide. Illustration is AI-generated decorative artwork. All closing text is editable.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195D2-BD04-CDC8-A35D-E587CB401A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4B7896-9A31-7171-2899-4EC1CEF8CC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F52D16C-8576-D134-4078-A2E12D854C08}"/>
              </a:ext>
            </a:extLst>
          </p:cNvPr>
          <p:cNvSpPr>
            <a:spLocks noGrp="1"/>
          </p:cNvSpPr>
          <p:nvPr>
            <p:ph type="dt" sz="half" idx="10"/>
          </p:nvPr>
        </p:nvSpPr>
        <p:spPr/>
        <p:txBody>
          <a:bodyPr/>
          <a:lstStyle/>
          <a:p>
            <a:fld id="{8FB03A22-A3EA-4EF3-9516-6B2A0A173B09}" type="datetimeFigureOut">
              <a:rPr lang="en-IN" smtClean="0"/>
              <a:t>11-10-2026</a:t>
            </a:fld>
            <a:endParaRPr lang="en-IN"/>
          </a:p>
        </p:txBody>
      </p:sp>
      <p:sp>
        <p:nvSpPr>
          <p:cNvPr id="5" name="Footer Placeholder 4">
            <a:extLst>
              <a:ext uri="{FF2B5EF4-FFF2-40B4-BE49-F238E27FC236}">
                <a16:creationId xmlns:a16="http://schemas.microsoft.com/office/drawing/2014/main" id="{4A477278-9FC2-14F7-08FF-E32C7D6245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422649-5898-48FB-FED6-E72DC2A3BC42}"/>
              </a:ext>
            </a:extLst>
          </p:cNvPr>
          <p:cNvSpPr>
            <a:spLocks noGrp="1"/>
          </p:cNvSpPr>
          <p:nvPr>
            <p:ph type="sldNum" sz="quarter" idx="12"/>
          </p:nvPr>
        </p:nvSpPr>
        <p:spPr/>
        <p:txBody>
          <a:bodyPr/>
          <a:lstStyle/>
          <a:p>
            <a:fld id="{B295577F-CF46-48D7-BEE3-1F5C237D2D49}" type="slidenum">
              <a:rPr lang="en-IN" smtClean="0"/>
              <a:t>‹#›</a:t>
            </a:fld>
            <a:endParaRPr lang="en-IN"/>
          </a:p>
        </p:txBody>
      </p:sp>
    </p:spTree>
    <p:extLst>
      <p:ext uri="{BB962C8B-B14F-4D97-AF65-F5344CB8AC3E}">
        <p14:creationId xmlns:p14="http://schemas.microsoft.com/office/powerpoint/2010/main" val="815824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DABE2-B14B-783A-ADF8-6EB19BE169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4B0809-3531-0E33-655F-2FAF956771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30E192-09CD-ACDE-05FB-E2C40DC5C078}"/>
              </a:ext>
            </a:extLst>
          </p:cNvPr>
          <p:cNvSpPr>
            <a:spLocks noGrp="1"/>
          </p:cNvSpPr>
          <p:nvPr>
            <p:ph type="dt" sz="half" idx="10"/>
          </p:nvPr>
        </p:nvSpPr>
        <p:spPr/>
        <p:txBody>
          <a:bodyPr/>
          <a:lstStyle/>
          <a:p>
            <a:fld id="{8FB03A22-A3EA-4EF3-9516-6B2A0A173B09}" type="datetimeFigureOut">
              <a:rPr lang="en-IN" smtClean="0"/>
              <a:t>11-10-2026</a:t>
            </a:fld>
            <a:endParaRPr lang="en-IN"/>
          </a:p>
        </p:txBody>
      </p:sp>
      <p:sp>
        <p:nvSpPr>
          <p:cNvPr id="5" name="Footer Placeholder 4">
            <a:extLst>
              <a:ext uri="{FF2B5EF4-FFF2-40B4-BE49-F238E27FC236}">
                <a16:creationId xmlns:a16="http://schemas.microsoft.com/office/drawing/2014/main" id="{411100EE-99EE-078E-7532-E4CF8E9C2E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1F8243-7B2E-3FA2-1809-595093D797C2}"/>
              </a:ext>
            </a:extLst>
          </p:cNvPr>
          <p:cNvSpPr>
            <a:spLocks noGrp="1"/>
          </p:cNvSpPr>
          <p:nvPr>
            <p:ph type="sldNum" sz="quarter" idx="12"/>
          </p:nvPr>
        </p:nvSpPr>
        <p:spPr/>
        <p:txBody>
          <a:bodyPr/>
          <a:lstStyle/>
          <a:p>
            <a:fld id="{B295577F-CF46-48D7-BEE3-1F5C237D2D49}" type="slidenum">
              <a:rPr lang="en-IN" smtClean="0"/>
              <a:t>‹#›</a:t>
            </a:fld>
            <a:endParaRPr lang="en-IN"/>
          </a:p>
        </p:txBody>
      </p:sp>
    </p:spTree>
    <p:extLst>
      <p:ext uri="{BB962C8B-B14F-4D97-AF65-F5344CB8AC3E}">
        <p14:creationId xmlns:p14="http://schemas.microsoft.com/office/powerpoint/2010/main" val="576209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ADEBA-C939-24A5-9F07-FB08912FAE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0BF0759-BBB3-320F-70DE-46E25730B0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14AC96-BAA2-B1B3-0530-F9C44DD9213D}"/>
              </a:ext>
            </a:extLst>
          </p:cNvPr>
          <p:cNvSpPr>
            <a:spLocks noGrp="1"/>
          </p:cNvSpPr>
          <p:nvPr>
            <p:ph type="dt" sz="half" idx="10"/>
          </p:nvPr>
        </p:nvSpPr>
        <p:spPr/>
        <p:txBody>
          <a:bodyPr/>
          <a:lstStyle/>
          <a:p>
            <a:fld id="{8FB03A22-A3EA-4EF3-9516-6B2A0A173B09}" type="datetimeFigureOut">
              <a:rPr lang="en-IN" smtClean="0"/>
              <a:t>11-10-2026</a:t>
            </a:fld>
            <a:endParaRPr lang="en-IN"/>
          </a:p>
        </p:txBody>
      </p:sp>
      <p:sp>
        <p:nvSpPr>
          <p:cNvPr id="5" name="Footer Placeholder 4">
            <a:extLst>
              <a:ext uri="{FF2B5EF4-FFF2-40B4-BE49-F238E27FC236}">
                <a16:creationId xmlns:a16="http://schemas.microsoft.com/office/drawing/2014/main" id="{4B57B20E-CEC9-F65B-5938-B4F68EB3E8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C77DC6-E88E-58D6-D7EC-5FF7D5379A0E}"/>
              </a:ext>
            </a:extLst>
          </p:cNvPr>
          <p:cNvSpPr>
            <a:spLocks noGrp="1"/>
          </p:cNvSpPr>
          <p:nvPr>
            <p:ph type="sldNum" sz="quarter" idx="12"/>
          </p:nvPr>
        </p:nvSpPr>
        <p:spPr/>
        <p:txBody>
          <a:bodyPr/>
          <a:lstStyle/>
          <a:p>
            <a:fld id="{B295577F-CF46-48D7-BEE3-1F5C237D2D49}" type="slidenum">
              <a:rPr lang="en-IN" smtClean="0"/>
              <a:t>‹#›</a:t>
            </a:fld>
            <a:endParaRPr lang="en-IN"/>
          </a:p>
        </p:txBody>
      </p:sp>
    </p:spTree>
    <p:extLst>
      <p:ext uri="{BB962C8B-B14F-4D97-AF65-F5344CB8AC3E}">
        <p14:creationId xmlns:p14="http://schemas.microsoft.com/office/powerpoint/2010/main" val="3073830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DC5DD-C650-3388-1C41-B83B8FE32C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06343E-0802-B1AE-97E1-18B3D7DFEB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BD7E91B-62A1-3999-B966-74ECA32C54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77F063B-D86F-3B9E-204C-AAB245DD00D2}"/>
              </a:ext>
            </a:extLst>
          </p:cNvPr>
          <p:cNvSpPr>
            <a:spLocks noGrp="1"/>
          </p:cNvSpPr>
          <p:nvPr>
            <p:ph type="dt" sz="half" idx="10"/>
          </p:nvPr>
        </p:nvSpPr>
        <p:spPr/>
        <p:txBody>
          <a:bodyPr/>
          <a:lstStyle/>
          <a:p>
            <a:fld id="{8FB03A22-A3EA-4EF3-9516-6B2A0A173B09}" type="datetimeFigureOut">
              <a:rPr lang="en-IN" smtClean="0"/>
              <a:t>11-10-2026</a:t>
            </a:fld>
            <a:endParaRPr lang="en-IN"/>
          </a:p>
        </p:txBody>
      </p:sp>
      <p:sp>
        <p:nvSpPr>
          <p:cNvPr id="6" name="Footer Placeholder 5">
            <a:extLst>
              <a:ext uri="{FF2B5EF4-FFF2-40B4-BE49-F238E27FC236}">
                <a16:creationId xmlns:a16="http://schemas.microsoft.com/office/drawing/2014/main" id="{C9DF6E4A-1EA0-E243-EEEA-F0AB9F3D5C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BDA147-A632-C298-0732-D3EC9E8F6BAF}"/>
              </a:ext>
            </a:extLst>
          </p:cNvPr>
          <p:cNvSpPr>
            <a:spLocks noGrp="1"/>
          </p:cNvSpPr>
          <p:nvPr>
            <p:ph type="sldNum" sz="quarter" idx="12"/>
          </p:nvPr>
        </p:nvSpPr>
        <p:spPr/>
        <p:txBody>
          <a:bodyPr/>
          <a:lstStyle/>
          <a:p>
            <a:fld id="{B295577F-CF46-48D7-BEE3-1F5C237D2D49}" type="slidenum">
              <a:rPr lang="en-IN" smtClean="0"/>
              <a:t>‹#›</a:t>
            </a:fld>
            <a:endParaRPr lang="en-IN"/>
          </a:p>
        </p:txBody>
      </p:sp>
    </p:spTree>
    <p:extLst>
      <p:ext uri="{BB962C8B-B14F-4D97-AF65-F5344CB8AC3E}">
        <p14:creationId xmlns:p14="http://schemas.microsoft.com/office/powerpoint/2010/main" val="2556353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56C7C-AACB-FF90-2E35-292EAD53E0C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DFE3EF-1EAE-DDB6-2C2C-AB888FE4A6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01E61B-3753-CEA2-BB95-1B4F437BFC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5E8E4F6-CFC5-78ED-FFCA-0506EAB0FF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97C97-4F8B-7065-15BF-E3CE259EA9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4D3EB8E-E1EF-9DB6-CCDC-403EF2551BDE}"/>
              </a:ext>
            </a:extLst>
          </p:cNvPr>
          <p:cNvSpPr>
            <a:spLocks noGrp="1"/>
          </p:cNvSpPr>
          <p:nvPr>
            <p:ph type="dt" sz="half" idx="10"/>
          </p:nvPr>
        </p:nvSpPr>
        <p:spPr/>
        <p:txBody>
          <a:bodyPr/>
          <a:lstStyle/>
          <a:p>
            <a:fld id="{8FB03A22-A3EA-4EF3-9516-6B2A0A173B09}" type="datetimeFigureOut">
              <a:rPr lang="en-IN" smtClean="0"/>
              <a:t>11-10-2026</a:t>
            </a:fld>
            <a:endParaRPr lang="en-IN"/>
          </a:p>
        </p:txBody>
      </p:sp>
      <p:sp>
        <p:nvSpPr>
          <p:cNvPr id="8" name="Footer Placeholder 7">
            <a:extLst>
              <a:ext uri="{FF2B5EF4-FFF2-40B4-BE49-F238E27FC236}">
                <a16:creationId xmlns:a16="http://schemas.microsoft.com/office/drawing/2014/main" id="{5FC70AF1-4648-4F6B-7E1E-A454935F9BB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18377B1-C89C-BE4B-CA53-DFF3BB392718}"/>
              </a:ext>
            </a:extLst>
          </p:cNvPr>
          <p:cNvSpPr>
            <a:spLocks noGrp="1"/>
          </p:cNvSpPr>
          <p:nvPr>
            <p:ph type="sldNum" sz="quarter" idx="12"/>
          </p:nvPr>
        </p:nvSpPr>
        <p:spPr/>
        <p:txBody>
          <a:bodyPr/>
          <a:lstStyle/>
          <a:p>
            <a:fld id="{B295577F-CF46-48D7-BEE3-1F5C237D2D49}" type="slidenum">
              <a:rPr lang="en-IN" smtClean="0"/>
              <a:t>‹#›</a:t>
            </a:fld>
            <a:endParaRPr lang="en-IN"/>
          </a:p>
        </p:txBody>
      </p:sp>
    </p:spTree>
    <p:extLst>
      <p:ext uri="{BB962C8B-B14F-4D97-AF65-F5344CB8AC3E}">
        <p14:creationId xmlns:p14="http://schemas.microsoft.com/office/powerpoint/2010/main" val="1230024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F6E2B-6137-72B1-9A52-BC19E683286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7C477C4-985F-B105-4C72-3675FCF2AC03}"/>
              </a:ext>
            </a:extLst>
          </p:cNvPr>
          <p:cNvSpPr>
            <a:spLocks noGrp="1"/>
          </p:cNvSpPr>
          <p:nvPr>
            <p:ph type="dt" sz="half" idx="10"/>
          </p:nvPr>
        </p:nvSpPr>
        <p:spPr/>
        <p:txBody>
          <a:bodyPr/>
          <a:lstStyle/>
          <a:p>
            <a:fld id="{8FB03A22-A3EA-4EF3-9516-6B2A0A173B09}" type="datetimeFigureOut">
              <a:rPr lang="en-IN" smtClean="0"/>
              <a:t>11-10-2026</a:t>
            </a:fld>
            <a:endParaRPr lang="en-IN"/>
          </a:p>
        </p:txBody>
      </p:sp>
      <p:sp>
        <p:nvSpPr>
          <p:cNvPr id="4" name="Footer Placeholder 3">
            <a:extLst>
              <a:ext uri="{FF2B5EF4-FFF2-40B4-BE49-F238E27FC236}">
                <a16:creationId xmlns:a16="http://schemas.microsoft.com/office/drawing/2014/main" id="{F39910E5-36D3-5630-3611-EF31E54D226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B65195A-F115-DCBA-1C7E-557D0E997331}"/>
              </a:ext>
            </a:extLst>
          </p:cNvPr>
          <p:cNvSpPr>
            <a:spLocks noGrp="1"/>
          </p:cNvSpPr>
          <p:nvPr>
            <p:ph type="sldNum" sz="quarter" idx="12"/>
          </p:nvPr>
        </p:nvSpPr>
        <p:spPr/>
        <p:txBody>
          <a:bodyPr/>
          <a:lstStyle/>
          <a:p>
            <a:fld id="{B295577F-CF46-48D7-BEE3-1F5C237D2D49}" type="slidenum">
              <a:rPr lang="en-IN" smtClean="0"/>
              <a:t>‹#›</a:t>
            </a:fld>
            <a:endParaRPr lang="en-IN"/>
          </a:p>
        </p:txBody>
      </p:sp>
    </p:spTree>
    <p:extLst>
      <p:ext uri="{BB962C8B-B14F-4D97-AF65-F5344CB8AC3E}">
        <p14:creationId xmlns:p14="http://schemas.microsoft.com/office/powerpoint/2010/main" val="306698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51A7B9-3867-90C0-957D-7E84292BF7C1}"/>
              </a:ext>
            </a:extLst>
          </p:cNvPr>
          <p:cNvSpPr>
            <a:spLocks noGrp="1"/>
          </p:cNvSpPr>
          <p:nvPr>
            <p:ph type="dt" sz="half" idx="10"/>
          </p:nvPr>
        </p:nvSpPr>
        <p:spPr/>
        <p:txBody>
          <a:bodyPr/>
          <a:lstStyle/>
          <a:p>
            <a:fld id="{8FB03A22-A3EA-4EF3-9516-6B2A0A173B09}" type="datetimeFigureOut">
              <a:rPr lang="en-IN" smtClean="0"/>
              <a:t>11-10-2026</a:t>
            </a:fld>
            <a:endParaRPr lang="en-IN"/>
          </a:p>
        </p:txBody>
      </p:sp>
      <p:sp>
        <p:nvSpPr>
          <p:cNvPr id="3" name="Footer Placeholder 2">
            <a:extLst>
              <a:ext uri="{FF2B5EF4-FFF2-40B4-BE49-F238E27FC236}">
                <a16:creationId xmlns:a16="http://schemas.microsoft.com/office/drawing/2014/main" id="{5E37C451-F5A8-E005-2D05-462774E2E3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E1AD03F-CC58-EAE8-41AC-0CF10DFE4776}"/>
              </a:ext>
            </a:extLst>
          </p:cNvPr>
          <p:cNvSpPr>
            <a:spLocks noGrp="1"/>
          </p:cNvSpPr>
          <p:nvPr>
            <p:ph type="sldNum" sz="quarter" idx="12"/>
          </p:nvPr>
        </p:nvSpPr>
        <p:spPr/>
        <p:txBody>
          <a:bodyPr/>
          <a:lstStyle/>
          <a:p>
            <a:fld id="{B295577F-CF46-48D7-BEE3-1F5C237D2D49}" type="slidenum">
              <a:rPr lang="en-IN" smtClean="0"/>
              <a:t>‹#›</a:t>
            </a:fld>
            <a:endParaRPr lang="en-IN"/>
          </a:p>
        </p:txBody>
      </p:sp>
    </p:spTree>
    <p:extLst>
      <p:ext uri="{BB962C8B-B14F-4D97-AF65-F5344CB8AC3E}">
        <p14:creationId xmlns:p14="http://schemas.microsoft.com/office/powerpoint/2010/main" val="3016045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DC95D-8D51-311C-C0BE-44BD80B502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BB9CF3E-1810-5547-1201-87CD941871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DB7E8AD-2C67-3A81-FA90-9405973B0E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F5A339-0D97-E732-D73B-4CF44E7633B4}"/>
              </a:ext>
            </a:extLst>
          </p:cNvPr>
          <p:cNvSpPr>
            <a:spLocks noGrp="1"/>
          </p:cNvSpPr>
          <p:nvPr>
            <p:ph type="dt" sz="half" idx="10"/>
          </p:nvPr>
        </p:nvSpPr>
        <p:spPr/>
        <p:txBody>
          <a:bodyPr/>
          <a:lstStyle/>
          <a:p>
            <a:fld id="{8FB03A22-A3EA-4EF3-9516-6B2A0A173B09}" type="datetimeFigureOut">
              <a:rPr lang="en-IN" smtClean="0"/>
              <a:t>11-10-2026</a:t>
            </a:fld>
            <a:endParaRPr lang="en-IN"/>
          </a:p>
        </p:txBody>
      </p:sp>
      <p:sp>
        <p:nvSpPr>
          <p:cNvPr id="6" name="Footer Placeholder 5">
            <a:extLst>
              <a:ext uri="{FF2B5EF4-FFF2-40B4-BE49-F238E27FC236}">
                <a16:creationId xmlns:a16="http://schemas.microsoft.com/office/drawing/2014/main" id="{837948A1-17A8-2C19-AB6C-421667A81D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D6E234-76A5-5FED-7C92-6B2790CC7E0E}"/>
              </a:ext>
            </a:extLst>
          </p:cNvPr>
          <p:cNvSpPr>
            <a:spLocks noGrp="1"/>
          </p:cNvSpPr>
          <p:nvPr>
            <p:ph type="sldNum" sz="quarter" idx="12"/>
          </p:nvPr>
        </p:nvSpPr>
        <p:spPr/>
        <p:txBody>
          <a:bodyPr/>
          <a:lstStyle/>
          <a:p>
            <a:fld id="{B295577F-CF46-48D7-BEE3-1F5C237D2D49}" type="slidenum">
              <a:rPr lang="en-IN" smtClean="0"/>
              <a:t>‹#›</a:t>
            </a:fld>
            <a:endParaRPr lang="en-IN"/>
          </a:p>
        </p:txBody>
      </p:sp>
    </p:spTree>
    <p:extLst>
      <p:ext uri="{BB962C8B-B14F-4D97-AF65-F5344CB8AC3E}">
        <p14:creationId xmlns:p14="http://schemas.microsoft.com/office/powerpoint/2010/main" val="3052173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5C840-FA25-4B48-DB81-C4A296C3F1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595B7F-AC90-6793-A28A-BBE8DD0D8C7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8D646F9-5C4E-2781-3B48-E023E6B83A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D80E47-C4F9-DECF-8DEC-509DC731C9DA}"/>
              </a:ext>
            </a:extLst>
          </p:cNvPr>
          <p:cNvSpPr>
            <a:spLocks noGrp="1"/>
          </p:cNvSpPr>
          <p:nvPr>
            <p:ph type="dt" sz="half" idx="10"/>
          </p:nvPr>
        </p:nvSpPr>
        <p:spPr/>
        <p:txBody>
          <a:bodyPr/>
          <a:lstStyle/>
          <a:p>
            <a:fld id="{8FB03A22-A3EA-4EF3-9516-6B2A0A173B09}" type="datetimeFigureOut">
              <a:rPr lang="en-IN" smtClean="0"/>
              <a:t>11-10-2026</a:t>
            </a:fld>
            <a:endParaRPr lang="en-IN"/>
          </a:p>
        </p:txBody>
      </p:sp>
      <p:sp>
        <p:nvSpPr>
          <p:cNvPr id="6" name="Footer Placeholder 5">
            <a:extLst>
              <a:ext uri="{FF2B5EF4-FFF2-40B4-BE49-F238E27FC236}">
                <a16:creationId xmlns:a16="http://schemas.microsoft.com/office/drawing/2014/main" id="{1A55008A-40DA-2A97-E18E-9B1F8CF923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AAD6FF-EB8C-232C-DE1F-6178F2A5CE8A}"/>
              </a:ext>
            </a:extLst>
          </p:cNvPr>
          <p:cNvSpPr>
            <a:spLocks noGrp="1"/>
          </p:cNvSpPr>
          <p:nvPr>
            <p:ph type="sldNum" sz="quarter" idx="12"/>
          </p:nvPr>
        </p:nvSpPr>
        <p:spPr/>
        <p:txBody>
          <a:bodyPr/>
          <a:lstStyle/>
          <a:p>
            <a:fld id="{B295577F-CF46-48D7-BEE3-1F5C237D2D49}" type="slidenum">
              <a:rPr lang="en-IN" smtClean="0"/>
              <a:t>‹#›</a:t>
            </a:fld>
            <a:endParaRPr lang="en-IN"/>
          </a:p>
        </p:txBody>
      </p:sp>
    </p:spTree>
    <p:extLst>
      <p:ext uri="{BB962C8B-B14F-4D97-AF65-F5344CB8AC3E}">
        <p14:creationId xmlns:p14="http://schemas.microsoft.com/office/powerpoint/2010/main" val="3072306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9136F-6ED3-4BFB-711B-7891D022AE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0357D4A-6136-E94A-6997-77983BBB15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5206C7-D271-E900-0177-B3D206DEDE88}"/>
              </a:ext>
            </a:extLst>
          </p:cNvPr>
          <p:cNvSpPr>
            <a:spLocks noGrp="1"/>
          </p:cNvSpPr>
          <p:nvPr>
            <p:ph type="dt" sz="half" idx="10"/>
          </p:nvPr>
        </p:nvSpPr>
        <p:spPr/>
        <p:txBody>
          <a:bodyPr/>
          <a:lstStyle/>
          <a:p>
            <a:fld id="{8FB03A22-A3EA-4EF3-9516-6B2A0A173B09}" type="datetimeFigureOut">
              <a:rPr lang="en-IN" smtClean="0"/>
              <a:t>11-10-2026</a:t>
            </a:fld>
            <a:endParaRPr lang="en-IN"/>
          </a:p>
        </p:txBody>
      </p:sp>
      <p:sp>
        <p:nvSpPr>
          <p:cNvPr id="5" name="Footer Placeholder 4">
            <a:extLst>
              <a:ext uri="{FF2B5EF4-FFF2-40B4-BE49-F238E27FC236}">
                <a16:creationId xmlns:a16="http://schemas.microsoft.com/office/drawing/2014/main" id="{8B2B93F9-FC23-72B8-5BE6-DB743A2A9B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C2316F-9658-DC10-4665-9D7FC792684D}"/>
              </a:ext>
            </a:extLst>
          </p:cNvPr>
          <p:cNvSpPr>
            <a:spLocks noGrp="1"/>
          </p:cNvSpPr>
          <p:nvPr>
            <p:ph type="sldNum" sz="quarter" idx="12"/>
          </p:nvPr>
        </p:nvSpPr>
        <p:spPr/>
        <p:txBody>
          <a:bodyPr/>
          <a:lstStyle/>
          <a:p>
            <a:fld id="{B295577F-CF46-48D7-BEE3-1F5C237D2D49}" type="slidenum">
              <a:rPr lang="en-IN" smtClean="0"/>
              <a:t>‹#›</a:t>
            </a:fld>
            <a:endParaRPr lang="en-IN"/>
          </a:p>
        </p:txBody>
      </p:sp>
    </p:spTree>
    <p:extLst>
      <p:ext uri="{BB962C8B-B14F-4D97-AF65-F5344CB8AC3E}">
        <p14:creationId xmlns:p14="http://schemas.microsoft.com/office/powerpoint/2010/main" val="23712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772109-0D58-9B0B-0A5C-3B3BFB3DED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EAB0414-C441-F25A-1F2A-E76D185E10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3C41D2-D132-6CAD-6DD1-457070F8C1DC}"/>
              </a:ext>
            </a:extLst>
          </p:cNvPr>
          <p:cNvSpPr>
            <a:spLocks noGrp="1"/>
          </p:cNvSpPr>
          <p:nvPr>
            <p:ph type="dt" sz="half" idx="10"/>
          </p:nvPr>
        </p:nvSpPr>
        <p:spPr/>
        <p:txBody>
          <a:bodyPr/>
          <a:lstStyle/>
          <a:p>
            <a:fld id="{8FB03A22-A3EA-4EF3-9516-6B2A0A173B09}" type="datetimeFigureOut">
              <a:rPr lang="en-IN" smtClean="0"/>
              <a:t>11-10-2026</a:t>
            </a:fld>
            <a:endParaRPr lang="en-IN"/>
          </a:p>
        </p:txBody>
      </p:sp>
      <p:sp>
        <p:nvSpPr>
          <p:cNvPr id="5" name="Footer Placeholder 4">
            <a:extLst>
              <a:ext uri="{FF2B5EF4-FFF2-40B4-BE49-F238E27FC236}">
                <a16:creationId xmlns:a16="http://schemas.microsoft.com/office/drawing/2014/main" id="{168285E6-66C1-2DFA-252A-C52110ED5F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99EE55-34BF-9629-2310-5B4142146B4C}"/>
              </a:ext>
            </a:extLst>
          </p:cNvPr>
          <p:cNvSpPr>
            <a:spLocks noGrp="1"/>
          </p:cNvSpPr>
          <p:nvPr>
            <p:ph type="sldNum" sz="quarter" idx="12"/>
          </p:nvPr>
        </p:nvSpPr>
        <p:spPr/>
        <p:txBody>
          <a:bodyPr/>
          <a:lstStyle/>
          <a:p>
            <a:fld id="{B295577F-CF46-48D7-BEE3-1F5C237D2D49}" type="slidenum">
              <a:rPr lang="en-IN" smtClean="0"/>
              <a:t>‹#›</a:t>
            </a:fld>
            <a:endParaRPr lang="en-IN"/>
          </a:p>
        </p:txBody>
      </p:sp>
    </p:spTree>
    <p:extLst>
      <p:ext uri="{BB962C8B-B14F-4D97-AF65-F5344CB8AC3E}">
        <p14:creationId xmlns:p14="http://schemas.microsoft.com/office/powerpoint/2010/main" val="4079235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B6A318-040B-4879-3E98-47017EB1F8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911B1A-5E3B-E31E-DD79-C492366DFA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7882F5-3C1E-4AB5-16F7-88BB11BD07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FB03A22-A3EA-4EF3-9516-6B2A0A173B09}" type="datetimeFigureOut">
              <a:rPr lang="en-IN" smtClean="0"/>
              <a:t>11-10-2026</a:t>
            </a:fld>
            <a:endParaRPr lang="en-IN"/>
          </a:p>
        </p:txBody>
      </p:sp>
      <p:sp>
        <p:nvSpPr>
          <p:cNvPr id="5" name="Footer Placeholder 4">
            <a:extLst>
              <a:ext uri="{FF2B5EF4-FFF2-40B4-BE49-F238E27FC236}">
                <a16:creationId xmlns:a16="http://schemas.microsoft.com/office/drawing/2014/main" id="{4134DC0E-9AA9-580C-6DE3-1E36D41250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CDB9484-8EEB-8051-569F-12B0227203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95577F-CF46-48D7-BEE3-1F5C237D2D49}" type="slidenum">
              <a:rPr lang="en-IN" smtClean="0"/>
              <a:t>‹#›</a:t>
            </a:fld>
            <a:endParaRPr lang="en-IN"/>
          </a:p>
        </p:txBody>
      </p:sp>
    </p:spTree>
    <p:extLst>
      <p:ext uri="{BB962C8B-B14F-4D97-AF65-F5344CB8AC3E}">
        <p14:creationId xmlns:p14="http://schemas.microsoft.com/office/powerpoint/2010/main" val="2179927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6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33.jpg"/><Relationship Id="rId4" Type="http://schemas.openxmlformats.org/officeDocument/2006/relationships/image" Target="../media/image32.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1463040"/>
            <a:ext cx="6126480" cy="1188720"/>
          </a:xfrm>
          <a:prstGeom prst="rect">
            <a:avLst/>
          </a:prstGeom>
          <a:noFill/>
        </p:spPr>
        <p:txBody>
          <a:bodyPr wrap="square" lIns="0" tIns="0" rIns="0" bIns="0">
            <a:spAutoFit/>
          </a:bodyPr>
          <a:lstStyle/>
          <a:p>
            <a:pPr>
              <a:lnSpc>
                <a:spcPct val="105000"/>
              </a:lnSpc>
              <a:spcAft>
                <a:spcPts val="0"/>
              </a:spcAft>
            </a:pPr>
            <a:r>
              <a:rPr sz="6800" b="1">
                <a:solidFill>
                  <a:srgbClr val="172C42"/>
                </a:solidFill>
              </a:rPr>
              <a:t>Welcome!</a:t>
            </a:r>
          </a:p>
        </p:txBody>
      </p:sp>
      <p:sp>
        <p:nvSpPr>
          <p:cNvPr id="3" name="TextBox 2"/>
          <p:cNvSpPr txBox="1"/>
          <p:nvPr/>
        </p:nvSpPr>
        <p:spPr>
          <a:xfrm>
            <a:off x="777240" y="2880360"/>
            <a:ext cx="5760720" cy="923010"/>
          </a:xfrm>
          <a:prstGeom prst="rect">
            <a:avLst/>
          </a:prstGeom>
          <a:noFill/>
        </p:spPr>
        <p:txBody>
          <a:bodyPr wrap="square" lIns="0" tIns="0" rIns="0" bIns="0">
            <a:spAutoFit/>
          </a:bodyPr>
          <a:lstStyle/>
          <a:p>
            <a:pPr>
              <a:lnSpc>
                <a:spcPct val="105000"/>
              </a:lnSpc>
              <a:spcAft>
                <a:spcPts val="0"/>
              </a:spcAft>
            </a:pPr>
            <a:r>
              <a:rPr sz="2900" b="1" dirty="0">
                <a:solidFill>
                  <a:srgbClr val="007D87"/>
                </a:solidFill>
              </a:rPr>
              <a:t>OO</a:t>
            </a:r>
            <a:r>
              <a:rPr lang="en-IN" sz="2900" b="1" dirty="0">
                <a:solidFill>
                  <a:srgbClr val="007D87"/>
                </a:solidFill>
              </a:rPr>
              <a:t>P, design patterns</a:t>
            </a:r>
          </a:p>
          <a:p>
            <a:pPr>
              <a:lnSpc>
                <a:spcPct val="105000"/>
              </a:lnSpc>
              <a:spcAft>
                <a:spcPts val="0"/>
              </a:spcAft>
            </a:pPr>
            <a:r>
              <a:rPr lang="en-IN" sz="2900" b="1" dirty="0">
                <a:solidFill>
                  <a:srgbClr val="007D87"/>
                </a:solidFill>
              </a:rPr>
              <a:t>and software testing ( OOSE )</a:t>
            </a:r>
          </a:p>
        </p:txBody>
      </p:sp>
      <p:sp>
        <p:nvSpPr>
          <p:cNvPr id="4" name="TextBox 3"/>
          <p:cNvSpPr txBox="1"/>
          <p:nvPr/>
        </p:nvSpPr>
        <p:spPr>
          <a:xfrm>
            <a:off x="777240" y="4370832"/>
            <a:ext cx="5120640" cy="640080"/>
          </a:xfrm>
          <a:prstGeom prst="rect">
            <a:avLst/>
          </a:prstGeom>
          <a:noFill/>
        </p:spPr>
        <p:txBody>
          <a:bodyPr wrap="square" lIns="0" tIns="0" rIns="0" bIns="0">
            <a:spAutoFit/>
          </a:bodyPr>
          <a:lstStyle/>
          <a:p>
            <a:pPr>
              <a:lnSpc>
                <a:spcPct val="105000"/>
              </a:lnSpc>
              <a:spcAft>
                <a:spcPts val="0"/>
              </a:spcAft>
            </a:pPr>
            <a:r>
              <a:rPr sz="2300" b="0">
                <a:solidFill>
                  <a:srgbClr val="172C42"/>
                </a:solidFill>
              </a:rPr>
              <a:t>Serious concepts. A little fun.</a:t>
            </a:r>
          </a:p>
        </p:txBody>
      </p:sp>
      <p:sp>
        <p:nvSpPr>
          <p:cNvPr id="5" name="TextBox 4"/>
          <p:cNvSpPr txBox="1"/>
          <p:nvPr/>
        </p:nvSpPr>
        <p:spPr>
          <a:xfrm>
            <a:off x="777240" y="6080760"/>
            <a:ext cx="5852160" cy="329184"/>
          </a:xfrm>
          <a:prstGeom prst="rect">
            <a:avLst/>
          </a:prstGeom>
          <a:noFill/>
        </p:spPr>
        <p:txBody>
          <a:bodyPr wrap="square" lIns="0" tIns="0" rIns="0" bIns="0">
            <a:spAutoFit/>
          </a:bodyPr>
          <a:lstStyle/>
          <a:p>
            <a:pPr>
              <a:lnSpc>
                <a:spcPct val="105000"/>
              </a:lnSpc>
              <a:spcAft>
                <a:spcPts val="0"/>
              </a:spcAft>
            </a:pPr>
            <a:r>
              <a:rPr sz="1800" b="0">
                <a:solidFill>
                  <a:srgbClr val="3C4A58"/>
                </a:solidFill>
              </a:rPr>
              <a:t>Questions are welcome from the first slide.</a:t>
            </a:r>
          </a:p>
        </p:txBody>
      </p:sp>
      <p:pic>
        <p:nvPicPr>
          <p:cNvPr id="6" name="Picture 5" descr="image-5a8bbce81cae64f53767fc659916dfa4.jpg"/>
          <p:cNvPicPr>
            <a:picLocks noChangeAspect="1"/>
          </p:cNvPicPr>
          <p:nvPr/>
        </p:nvPicPr>
        <p:blipFill>
          <a:blip r:embed="rId3"/>
          <a:stretch>
            <a:fillRect/>
          </a:stretch>
        </p:blipFill>
        <p:spPr>
          <a:xfrm>
            <a:off x="6903720" y="1398093"/>
            <a:ext cx="4663440" cy="4107533"/>
          </a:xfrm>
          <a:prstGeom prst="rect">
            <a:avLst/>
          </a:prstGeom>
        </p:spPr>
      </p:pic>
    </p:spTree>
    <p:extLst>
      <p:ext uri="{BB962C8B-B14F-4D97-AF65-F5344CB8AC3E}">
        <p14:creationId xmlns:p14="http://schemas.microsoft.com/office/powerpoint/2010/main" val="4209032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10972800" cy="548640"/>
          </a:xfrm>
          <a:prstGeom prst="rect">
            <a:avLst/>
          </a:prstGeom>
          <a:noFill/>
        </p:spPr>
        <p:txBody>
          <a:bodyPr wrap="square" lIns="0" tIns="0" rIns="0" bIns="0" anchor="t">
            <a:spAutoFit/>
          </a:bodyPr>
          <a:lstStyle/>
          <a:p>
            <a:pPr algn="l">
              <a:spcAft>
                <a:spcPts val="900"/>
              </a:spcAft>
            </a:pPr>
            <a:r>
              <a:rPr sz="3200" b="1">
                <a:solidFill>
                  <a:srgbClr val="172C42"/>
                </a:solidFill>
              </a:rPr>
              <a:t>Abstraction</a:t>
            </a:r>
          </a:p>
        </p:txBody>
      </p:sp>
      <p:sp>
        <p:nvSpPr>
          <p:cNvPr id="3" name="TextBox 2"/>
          <p:cNvSpPr txBox="1"/>
          <p:nvPr/>
        </p:nvSpPr>
        <p:spPr>
          <a:xfrm>
            <a:off x="594360" y="1143000"/>
            <a:ext cx="10972800" cy="822960"/>
          </a:xfrm>
          <a:prstGeom prst="rect">
            <a:avLst/>
          </a:prstGeom>
          <a:noFill/>
        </p:spPr>
        <p:txBody>
          <a:bodyPr wrap="square" lIns="0" tIns="0" rIns="0" bIns="0" anchor="t">
            <a:spAutoFit/>
          </a:bodyPr>
          <a:lstStyle/>
          <a:p>
            <a:pPr algn="l">
              <a:spcAft>
                <a:spcPts val="900"/>
              </a:spcAft>
            </a:pPr>
            <a:r>
              <a:rPr sz="2200" b="0">
                <a:solidFill>
                  <a:srgbClr val="3C4A58"/>
                </a:solidFill>
              </a:rPr>
              <a:t>Represent the important parts of a real-world concept and expose the actions a caller needs.</a:t>
            </a:r>
          </a:p>
        </p:txBody>
      </p:sp>
      <p:sp>
        <p:nvSpPr>
          <p:cNvPr id="4" name="TextBox 3"/>
          <p:cNvSpPr txBox="1"/>
          <p:nvPr/>
        </p:nvSpPr>
        <p:spPr>
          <a:xfrm>
            <a:off x="594360" y="6437376"/>
            <a:ext cx="9144000" cy="228600"/>
          </a:xfrm>
          <a:prstGeom prst="rect">
            <a:avLst/>
          </a:prstGeom>
          <a:noFill/>
        </p:spPr>
        <p:txBody>
          <a:bodyPr wrap="square" lIns="0" tIns="0" rIns="0" bIns="0" anchor="t">
            <a:spAutoFit/>
          </a:bodyPr>
          <a:lstStyle/>
          <a:p>
            <a:pPr algn="l">
              <a:spcAft>
                <a:spcPts val="900"/>
              </a:spcAft>
            </a:pPr>
            <a:r>
              <a:rPr sz="1400" b="0">
                <a:solidFill>
                  <a:srgbClr val="3C4A58"/>
                </a:solidFill>
              </a:rPr>
              <a:t>Illustrative banking design</a:t>
            </a:r>
          </a:p>
        </p:txBody>
      </p:sp>
      <p:sp>
        <p:nvSpPr>
          <p:cNvPr id="5" name="TextBox 4"/>
          <p:cNvSpPr txBox="1"/>
          <p:nvPr/>
        </p:nvSpPr>
        <p:spPr>
          <a:xfrm>
            <a:off x="594360" y="2240280"/>
            <a:ext cx="5074920" cy="411480"/>
          </a:xfrm>
          <a:prstGeom prst="rect">
            <a:avLst/>
          </a:prstGeom>
          <a:noFill/>
        </p:spPr>
        <p:txBody>
          <a:bodyPr wrap="square" lIns="0" tIns="0" rIns="0" bIns="0" anchor="t">
            <a:spAutoFit/>
          </a:bodyPr>
          <a:lstStyle/>
          <a:p>
            <a:pPr algn="l">
              <a:spcAft>
                <a:spcPts val="900"/>
              </a:spcAft>
            </a:pPr>
            <a:r>
              <a:rPr sz="2400" b="1">
                <a:solidFill>
                  <a:srgbClr val="172C42"/>
                </a:solidFill>
              </a:rPr>
              <a:t>What the caller uses</a:t>
            </a:r>
          </a:p>
        </p:txBody>
      </p:sp>
      <p:sp>
        <p:nvSpPr>
          <p:cNvPr id="6" name="TextBox 5"/>
          <p:cNvSpPr txBox="1"/>
          <p:nvPr/>
        </p:nvSpPr>
        <p:spPr>
          <a:xfrm>
            <a:off x="594360" y="2852928"/>
            <a:ext cx="5074920" cy="502920"/>
          </a:xfrm>
          <a:prstGeom prst="rect">
            <a:avLst/>
          </a:prstGeom>
          <a:noFill/>
        </p:spPr>
        <p:txBody>
          <a:bodyPr wrap="square" lIns="0" tIns="0" rIns="0" bIns="0" anchor="t">
            <a:spAutoFit/>
          </a:bodyPr>
          <a:lstStyle/>
          <a:p>
            <a:pPr algn="l">
              <a:spcAft>
                <a:spcPts val="900"/>
              </a:spcAft>
            </a:pPr>
            <a:r>
              <a:rPr sz="3000" b="1">
                <a:solidFill>
                  <a:srgbClr val="172C42"/>
                </a:solidFill>
              </a:rPr>
              <a:t>Account</a:t>
            </a:r>
          </a:p>
        </p:txBody>
      </p:sp>
      <p:sp>
        <p:nvSpPr>
          <p:cNvPr id="7" name="TextBox 6"/>
          <p:cNvSpPr txBox="1"/>
          <p:nvPr/>
        </p:nvSpPr>
        <p:spPr>
          <a:xfrm>
            <a:off x="594360" y="3538728"/>
            <a:ext cx="5074920" cy="1463040"/>
          </a:xfrm>
          <a:prstGeom prst="rect">
            <a:avLst/>
          </a:prstGeom>
          <a:noFill/>
        </p:spPr>
        <p:txBody>
          <a:bodyPr wrap="square" lIns="0" tIns="0" rIns="0" bIns="0" anchor="t">
            <a:spAutoFit/>
          </a:bodyPr>
          <a:lstStyle/>
          <a:p>
            <a:pPr algn="l">
              <a:spcAft>
                <a:spcPts val="900"/>
              </a:spcAft>
            </a:pPr>
            <a:r>
              <a:rPr sz="2400" b="0">
                <a:solidFill>
                  <a:srgbClr val="172C42"/>
                </a:solidFill>
              </a:rPr>
              <a:t>deposit(amount)</a:t>
            </a:r>
          </a:p>
          <a:p>
            <a:pPr algn="l">
              <a:spcAft>
                <a:spcPts val="900"/>
              </a:spcAft>
            </a:pPr>
            <a:r>
              <a:rPr sz="2400" b="0">
                <a:solidFill>
                  <a:srgbClr val="172C42"/>
                </a:solidFill>
              </a:rPr>
              <a:t>withdraw(amount)</a:t>
            </a:r>
          </a:p>
          <a:p>
            <a:pPr algn="l">
              <a:spcAft>
                <a:spcPts val="900"/>
              </a:spcAft>
            </a:pPr>
            <a:r>
              <a:rPr sz="2400" b="0">
                <a:solidFill>
                  <a:srgbClr val="172C42"/>
                </a:solidFill>
              </a:rPr>
              <a:t>getBalance()</a:t>
            </a:r>
          </a:p>
        </p:txBody>
      </p:sp>
      <p:sp>
        <p:nvSpPr>
          <p:cNvPr id="8" name="TextBox 7"/>
          <p:cNvSpPr txBox="1"/>
          <p:nvPr/>
        </p:nvSpPr>
        <p:spPr>
          <a:xfrm>
            <a:off x="6419088" y="2240280"/>
            <a:ext cx="5166360" cy="411480"/>
          </a:xfrm>
          <a:prstGeom prst="rect">
            <a:avLst/>
          </a:prstGeom>
          <a:noFill/>
        </p:spPr>
        <p:txBody>
          <a:bodyPr wrap="square" lIns="0" tIns="0" rIns="0" bIns="0" anchor="t">
            <a:spAutoFit/>
          </a:bodyPr>
          <a:lstStyle/>
          <a:p>
            <a:pPr algn="l">
              <a:spcAft>
                <a:spcPts val="900"/>
              </a:spcAft>
            </a:pPr>
            <a:r>
              <a:rPr sz="2400" b="1">
                <a:solidFill>
                  <a:srgbClr val="172C42"/>
                </a:solidFill>
              </a:rPr>
              <a:t>What the caller can ignore</a:t>
            </a:r>
          </a:p>
        </p:txBody>
      </p:sp>
      <p:sp>
        <p:nvSpPr>
          <p:cNvPr id="9" name="TextBox 8"/>
          <p:cNvSpPr txBox="1"/>
          <p:nvPr/>
        </p:nvSpPr>
        <p:spPr>
          <a:xfrm>
            <a:off x="6419088" y="2953512"/>
            <a:ext cx="5074920" cy="2103120"/>
          </a:xfrm>
          <a:prstGeom prst="rect">
            <a:avLst/>
          </a:prstGeom>
          <a:noFill/>
        </p:spPr>
        <p:txBody>
          <a:bodyPr wrap="square" lIns="0" tIns="0" rIns="0" bIns="0" anchor="t">
            <a:spAutoFit/>
          </a:bodyPr>
          <a:lstStyle/>
          <a:p>
            <a:pPr algn="l">
              <a:spcAft>
                <a:spcPts val="900"/>
              </a:spcAft>
            </a:pPr>
            <a:r>
              <a:rPr sz="2200" b="0">
                <a:solidFill>
                  <a:srgbClr val="3C4A58"/>
                </a:solidFill>
              </a:rPr>
              <a:t>How the balance is stored</a:t>
            </a:r>
          </a:p>
          <a:p>
            <a:pPr algn="l">
              <a:spcAft>
                <a:spcPts val="900"/>
              </a:spcAft>
            </a:pPr>
            <a:r>
              <a:rPr sz="2200" b="0">
                <a:solidFill>
                  <a:srgbClr val="3C4A58"/>
                </a:solidFill>
              </a:rPr>
              <a:t>How transaction records are written</a:t>
            </a:r>
          </a:p>
          <a:p>
            <a:pPr algn="l">
              <a:spcAft>
                <a:spcPts val="900"/>
              </a:spcAft>
            </a:pPr>
            <a:r>
              <a:rPr sz="2200" b="0">
                <a:solidFill>
                  <a:srgbClr val="3C4A58"/>
                </a:solidFill>
              </a:rPr>
              <a:t>Which database holds the account</a:t>
            </a:r>
          </a:p>
        </p:txBody>
      </p:sp>
      <p:sp>
        <p:nvSpPr>
          <p:cNvPr id="10" name="TextBox 9"/>
          <p:cNvSpPr txBox="1"/>
          <p:nvPr/>
        </p:nvSpPr>
        <p:spPr>
          <a:xfrm>
            <a:off x="594360" y="5605272"/>
            <a:ext cx="10972800" cy="548640"/>
          </a:xfrm>
          <a:prstGeom prst="rect">
            <a:avLst/>
          </a:prstGeom>
          <a:noFill/>
        </p:spPr>
        <p:txBody>
          <a:bodyPr wrap="square" lIns="0" tIns="0" rIns="0" bIns="0" anchor="t">
            <a:spAutoFit/>
          </a:bodyPr>
          <a:lstStyle/>
          <a:p>
            <a:pPr algn="l">
              <a:spcAft>
                <a:spcPts val="900"/>
              </a:spcAft>
            </a:pPr>
            <a:r>
              <a:rPr sz="2400" b="1">
                <a:solidFill>
                  <a:srgbClr val="172C42"/>
                </a:solidFill>
              </a:rPr>
              <a:t>The page requests a withdrawal through a clear account interface.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10972800" cy="548640"/>
          </a:xfrm>
          <a:prstGeom prst="rect">
            <a:avLst/>
          </a:prstGeom>
          <a:noFill/>
        </p:spPr>
        <p:txBody>
          <a:bodyPr wrap="square" lIns="0" tIns="0" rIns="0" bIns="0" anchor="t">
            <a:spAutoFit/>
          </a:bodyPr>
          <a:lstStyle/>
          <a:p>
            <a:pPr algn="l">
              <a:spcAft>
                <a:spcPts val="900"/>
              </a:spcAft>
            </a:pPr>
            <a:r>
              <a:rPr sz="3200" b="1">
                <a:solidFill>
                  <a:srgbClr val="172C42"/>
                </a:solidFill>
              </a:rPr>
              <a:t>Abstraction: the coffee button</a:t>
            </a:r>
          </a:p>
        </p:txBody>
      </p:sp>
      <p:sp>
        <p:nvSpPr>
          <p:cNvPr id="3" name="TextBox 2"/>
          <p:cNvSpPr txBox="1"/>
          <p:nvPr/>
        </p:nvSpPr>
        <p:spPr>
          <a:xfrm>
            <a:off x="594360" y="1143000"/>
            <a:ext cx="10972800" cy="822960"/>
          </a:xfrm>
          <a:prstGeom prst="rect">
            <a:avLst/>
          </a:prstGeom>
          <a:noFill/>
        </p:spPr>
        <p:txBody>
          <a:bodyPr wrap="square" lIns="0" tIns="0" rIns="0" bIns="0" anchor="t">
            <a:spAutoFit/>
          </a:bodyPr>
          <a:lstStyle/>
          <a:p>
            <a:pPr algn="l">
              <a:spcAft>
                <a:spcPts val="900"/>
              </a:spcAft>
            </a:pPr>
            <a:r>
              <a:rPr sz="2200" b="0">
                <a:solidFill>
                  <a:srgbClr val="3C4A58"/>
                </a:solidFill>
              </a:rPr>
              <a:t>A simple interface lets you use something without knowing how it works.</a:t>
            </a:r>
          </a:p>
        </p:txBody>
      </p:sp>
      <p:sp>
        <p:nvSpPr>
          <p:cNvPr id="4" name="TextBox 3"/>
          <p:cNvSpPr txBox="1"/>
          <p:nvPr/>
        </p:nvSpPr>
        <p:spPr>
          <a:xfrm>
            <a:off x="594360" y="5916168"/>
            <a:ext cx="10972800" cy="438912"/>
          </a:xfrm>
          <a:prstGeom prst="rect">
            <a:avLst/>
          </a:prstGeom>
          <a:noFill/>
        </p:spPr>
        <p:txBody>
          <a:bodyPr wrap="square" lIns="0" tIns="12700" rIns="0" bIns="0">
            <a:spAutoFit/>
          </a:bodyPr>
          <a:lstStyle/>
          <a:p>
            <a:pPr>
              <a:spcAft>
                <a:spcPts val="600"/>
              </a:spcAft>
            </a:pPr>
            <a:r>
              <a:rPr sz="2300" b="1">
                <a:solidFill>
                  <a:srgbClr val="172C42"/>
                </a:solidFill>
              </a:rPr>
              <a:t>“I ordered coffee, not a mechanical engineering degree.”</a:t>
            </a:r>
          </a:p>
        </p:txBody>
      </p:sp>
      <p:sp>
        <p:nvSpPr>
          <p:cNvPr id="5" name="TextBox 4"/>
          <p:cNvSpPr txBox="1"/>
          <p:nvPr/>
        </p:nvSpPr>
        <p:spPr>
          <a:xfrm>
            <a:off x="594360" y="6437376"/>
            <a:ext cx="10972800" cy="228600"/>
          </a:xfrm>
          <a:prstGeom prst="rect">
            <a:avLst/>
          </a:prstGeom>
          <a:noFill/>
        </p:spPr>
        <p:txBody>
          <a:bodyPr wrap="square" lIns="0" tIns="12700" rIns="0" bIns="0">
            <a:spAutoFit/>
          </a:bodyPr>
          <a:lstStyle/>
          <a:p>
            <a:pPr>
              <a:spcAft>
                <a:spcPts val="600"/>
              </a:spcAft>
            </a:pPr>
            <a:r>
              <a:rPr sz="1400" b="0">
                <a:solidFill>
                  <a:srgbClr val="3C4A58"/>
                </a:solidFill>
              </a:rPr>
              <a:t>Illustrative real-world analogy</a:t>
            </a:r>
          </a:p>
        </p:txBody>
      </p:sp>
      <p:pic>
        <p:nvPicPr>
          <p:cNvPr id="6" name="Picture 5" descr="coffee.png"/>
          <p:cNvPicPr>
            <a:picLocks noChangeAspect="1"/>
          </p:cNvPicPr>
          <p:nvPr/>
        </p:nvPicPr>
        <p:blipFill>
          <a:blip r:embed="rId3"/>
          <a:stretch>
            <a:fillRect/>
          </a:stretch>
        </p:blipFill>
        <p:spPr>
          <a:xfrm>
            <a:off x="1168328" y="1856231"/>
            <a:ext cx="5755783" cy="3794760"/>
          </a:xfrm>
          <a:prstGeom prst="rect">
            <a:avLst/>
          </a:prstGeom>
        </p:spPr>
      </p:pic>
      <p:sp>
        <p:nvSpPr>
          <p:cNvPr id="7" name="TextBox 6"/>
          <p:cNvSpPr txBox="1"/>
          <p:nvPr/>
        </p:nvSpPr>
        <p:spPr>
          <a:xfrm>
            <a:off x="7909560" y="2148840"/>
            <a:ext cx="3703320" cy="365760"/>
          </a:xfrm>
          <a:prstGeom prst="rect">
            <a:avLst/>
          </a:prstGeom>
          <a:noFill/>
        </p:spPr>
        <p:txBody>
          <a:bodyPr wrap="square" lIns="0" tIns="12700" rIns="0" bIns="0">
            <a:spAutoFit/>
          </a:bodyPr>
          <a:lstStyle/>
          <a:p>
            <a:pPr>
              <a:spcAft>
                <a:spcPts val="600"/>
              </a:spcAft>
            </a:pPr>
            <a:r>
              <a:rPr sz="2000" b="1">
                <a:solidFill>
                  <a:srgbClr val="007D87"/>
                </a:solidFill>
              </a:rPr>
              <a:t>WHAT YOU USE</a:t>
            </a:r>
          </a:p>
        </p:txBody>
      </p:sp>
      <p:sp>
        <p:nvSpPr>
          <p:cNvPr id="8" name="TextBox 7"/>
          <p:cNvSpPr txBox="1"/>
          <p:nvPr/>
        </p:nvSpPr>
        <p:spPr>
          <a:xfrm>
            <a:off x="7909560" y="2651760"/>
            <a:ext cx="3703320" cy="594360"/>
          </a:xfrm>
          <a:prstGeom prst="rect">
            <a:avLst/>
          </a:prstGeom>
          <a:noFill/>
        </p:spPr>
        <p:txBody>
          <a:bodyPr wrap="square" lIns="0" tIns="12700" rIns="0" bIns="0">
            <a:spAutoFit/>
          </a:bodyPr>
          <a:lstStyle/>
          <a:p>
            <a:pPr>
              <a:spcAft>
                <a:spcPts val="600"/>
              </a:spcAft>
            </a:pPr>
            <a:r>
              <a:rPr sz="3000" b="1">
                <a:solidFill>
                  <a:srgbClr val="172C42"/>
                </a:solidFill>
              </a:rPr>
              <a:t>pressBrew()</a:t>
            </a:r>
          </a:p>
        </p:txBody>
      </p:sp>
      <p:cxnSp>
        <p:nvCxnSpPr>
          <p:cNvPr id="9" name="Connector 8"/>
          <p:cNvCxnSpPr/>
          <p:nvPr/>
        </p:nvCxnSpPr>
        <p:spPr>
          <a:xfrm>
            <a:off x="8046720" y="3337560"/>
            <a:ext cx="0" cy="429768"/>
          </a:xfrm>
          <a:prstGeom prst="line">
            <a:avLst/>
          </a:prstGeom>
          <a:ln w="25400">
            <a:solidFill>
              <a:srgbClr val="007D87"/>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909560" y="3913632"/>
            <a:ext cx="3703320" cy="365760"/>
          </a:xfrm>
          <a:prstGeom prst="rect">
            <a:avLst/>
          </a:prstGeom>
          <a:noFill/>
        </p:spPr>
        <p:txBody>
          <a:bodyPr wrap="square" lIns="0" tIns="12700" rIns="0" bIns="0">
            <a:spAutoFit/>
          </a:bodyPr>
          <a:lstStyle/>
          <a:p>
            <a:pPr>
              <a:spcAft>
                <a:spcPts val="600"/>
              </a:spcAft>
            </a:pPr>
            <a:r>
              <a:rPr sz="2000" b="1">
                <a:solidFill>
                  <a:srgbClr val="007D87"/>
                </a:solidFill>
              </a:rPr>
              <a:t>WHAT IT HIDES</a:t>
            </a:r>
          </a:p>
        </p:txBody>
      </p:sp>
      <p:sp>
        <p:nvSpPr>
          <p:cNvPr id="11" name="TextBox 10"/>
          <p:cNvSpPr txBox="1"/>
          <p:nvPr/>
        </p:nvSpPr>
        <p:spPr>
          <a:xfrm>
            <a:off x="7909560" y="4416552"/>
            <a:ext cx="3703320" cy="1005840"/>
          </a:xfrm>
          <a:prstGeom prst="rect">
            <a:avLst/>
          </a:prstGeom>
          <a:noFill/>
        </p:spPr>
        <p:txBody>
          <a:bodyPr wrap="square" lIns="0" tIns="12700" rIns="0" bIns="0">
            <a:spAutoFit/>
          </a:bodyPr>
          <a:lstStyle/>
          <a:p>
            <a:pPr>
              <a:spcAft>
                <a:spcPts val="600"/>
              </a:spcAft>
            </a:pPr>
            <a:r>
              <a:rPr sz="2500" b="0">
                <a:solidFill>
                  <a:srgbClr val="172C42"/>
                </a:solidFill>
              </a:rPr>
              <a:t>Heating, pumping</a:t>
            </a:r>
          </a:p>
          <a:p>
            <a:pPr>
              <a:spcAft>
                <a:spcPts val="600"/>
              </a:spcAft>
            </a:pPr>
            <a:r>
              <a:rPr sz="2500" b="0">
                <a:solidFill>
                  <a:srgbClr val="172C42"/>
                </a:solidFill>
              </a:rPr>
              <a:t>and brewing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10972800" cy="548640"/>
          </a:xfrm>
          <a:prstGeom prst="rect">
            <a:avLst/>
          </a:prstGeom>
          <a:noFill/>
        </p:spPr>
        <p:txBody>
          <a:bodyPr wrap="square" lIns="0" tIns="0" rIns="0" bIns="0" anchor="t">
            <a:spAutoFit/>
          </a:bodyPr>
          <a:lstStyle/>
          <a:p>
            <a:pPr algn="l">
              <a:spcAft>
                <a:spcPts val="900"/>
              </a:spcAft>
            </a:pPr>
            <a:r>
              <a:rPr sz="3200" b="1">
                <a:solidFill>
                  <a:srgbClr val="172C42"/>
                </a:solidFill>
              </a:rPr>
              <a:t>Encapsulation</a:t>
            </a:r>
          </a:p>
        </p:txBody>
      </p:sp>
      <p:sp>
        <p:nvSpPr>
          <p:cNvPr id="3" name="TextBox 2"/>
          <p:cNvSpPr txBox="1"/>
          <p:nvPr/>
        </p:nvSpPr>
        <p:spPr>
          <a:xfrm>
            <a:off x="594360" y="1143000"/>
            <a:ext cx="10972800" cy="822960"/>
          </a:xfrm>
          <a:prstGeom prst="rect">
            <a:avLst/>
          </a:prstGeom>
          <a:noFill/>
        </p:spPr>
        <p:txBody>
          <a:bodyPr wrap="square" lIns="0" tIns="0" rIns="0" bIns="0" anchor="t">
            <a:spAutoFit/>
          </a:bodyPr>
          <a:lstStyle/>
          <a:p>
            <a:pPr algn="l">
              <a:spcAft>
                <a:spcPts val="900"/>
              </a:spcAft>
            </a:pPr>
            <a:r>
              <a:rPr sz="2200" b="0">
                <a:solidFill>
                  <a:srgbClr val="3C4A58"/>
                </a:solidFill>
              </a:rPr>
              <a:t>Keep an object’s state under its control. Other code uses approved methods to read or change it.</a:t>
            </a:r>
          </a:p>
        </p:txBody>
      </p:sp>
      <p:sp>
        <p:nvSpPr>
          <p:cNvPr id="4" name="TextBox 3"/>
          <p:cNvSpPr txBox="1"/>
          <p:nvPr/>
        </p:nvSpPr>
        <p:spPr>
          <a:xfrm>
            <a:off x="594360" y="6437376"/>
            <a:ext cx="9144000" cy="228600"/>
          </a:xfrm>
          <a:prstGeom prst="rect">
            <a:avLst/>
          </a:prstGeom>
          <a:noFill/>
        </p:spPr>
        <p:txBody>
          <a:bodyPr wrap="square" lIns="0" tIns="0" rIns="0" bIns="0" anchor="t">
            <a:spAutoFit/>
          </a:bodyPr>
          <a:lstStyle/>
          <a:p>
            <a:pPr algn="l">
              <a:spcAft>
                <a:spcPts val="900"/>
              </a:spcAft>
            </a:pPr>
            <a:r>
              <a:rPr sz="1400" b="0">
                <a:solidFill>
                  <a:srgbClr val="3C4A58"/>
                </a:solidFill>
              </a:rPr>
              <a:t>Illustrative banking design</a:t>
            </a:r>
          </a:p>
        </p:txBody>
      </p:sp>
      <p:graphicFrame>
        <p:nvGraphicFramePr>
          <p:cNvPr id="5" name="Table 3"/>
          <p:cNvGraphicFramePr>
            <a:graphicFrameLocks noGrp="1"/>
          </p:cNvGraphicFramePr>
          <p:nvPr/>
        </p:nvGraphicFramePr>
        <p:xfrm>
          <a:off x="594360" y="2240280"/>
          <a:ext cx="11000232" cy="324612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5650992">
                  <a:extLst>
                    <a:ext uri="{9D8B030D-6E8A-4147-A177-3AD203B41FA5}">
                      <a16:colId xmlns:a16="http://schemas.microsoft.com/office/drawing/2014/main" val="20002"/>
                    </a:ext>
                  </a:extLst>
                </a:gridCol>
              </a:tblGrid>
              <a:tr h="502920">
                <a:tc>
                  <a:txBody>
                    <a:bodyPr/>
                    <a:lstStyle/>
                    <a:p>
                      <a:pPr algn="l">
                        <a:spcAft>
                          <a:spcPts val="500"/>
                        </a:spcAft>
                      </a:pPr>
                      <a:r>
                        <a:rPr sz="1700" b="1">
                          <a:solidFill>
                            <a:srgbClr val="FFFFFF"/>
                          </a:solidFill>
                        </a:rPr>
                        <a:t>Account member</a:t>
                      </a:r>
                    </a:p>
                  </a:txBody>
                  <a:tcPr marL="164592" marR="164592" marT="109728" marB="73152">
                    <a:lnL>
                      <a:noFill/>
                    </a:lnL>
                    <a:lnR>
                      <a:noFill/>
                    </a:lnR>
                    <a:lnT>
                      <a:noFill/>
                    </a:lnT>
                    <a:lnB>
                      <a:noFill/>
                    </a:lnB>
                    <a:solidFill>
                      <a:srgbClr val="172C42"/>
                    </a:solidFill>
                  </a:tcPr>
                </a:tc>
                <a:tc>
                  <a:txBody>
                    <a:bodyPr/>
                    <a:lstStyle/>
                    <a:p>
                      <a:pPr algn="l">
                        <a:spcAft>
                          <a:spcPts val="500"/>
                        </a:spcAft>
                      </a:pPr>
                      <a:r>
                        <a:rPr sz="1700" b="1">
                          <a:solidFill>
                            <a:srgbClr val="FFFFFF"/>
                          </a:solidFill>
                        </a:rPr>
                        <a:t>Access</a:t>
                      </a:r>
                    </a:p>
                  </a:txBody>
                  <a:tcPr marL="164592" marR="164592" marT="109728" marB="73152">
                    <a:lnL>
                      <a:noFill/>
                    </a:lnL>
                    <a:lnR>
                      <a:noFill/>
                    </a:lnR>
                    <a:lnT>
                      <a:noFill/>
                    </a:lnT>
                    <a:lnB>
                      <a:noFill/>
                    </a:lnB>
                    <a:solidFill>
                      <a:srgbClr val="172C42"/>
                    </a:solidFill>
                  </a:tcPr>
                </a:tc>
                <a:tc>
                  <a:txBody>
                    <a:bodyPr/>
                    <a:lstStyle/>
                    <a:p>
                      <a:pPr algn="l">
                        <a:spcAft>
                          <a:spcPts val="500"/>
                        </a:spcAft>
                      </a:pPr>
                      <a:r>
                        <a:rPr sz="1700" b="1">
                          <a:solidFill>
                            <a:srgbClr val="FFFFFF"/>
                          </a:solidFill>
                        </a:rPr>
                        <a:t>Rule in this example</a:t>
                      </a:r>
                    </a:p>
                  </a:txBody>
                  <a:tcPr marL="164592" marR="164592" marT="109728" marB="73152">
                    <a:lnL>
                      <a:noFill/>
                    </a:lnL>
                    <a:lnR>
                      <a:noFill/>
                    </a:lnR>
                    <a:lnT>
                      <a:noFill/>
                    </a:lnT>
                    <a:lnB>
                      <a:noFill/>
                    </a:lnB>
                    <a:solidFill>
                      <a:srgbClr val="172C42"/>
                    </a:solidFill>
                  </a:tcPr>
                </a:tc>
                <a:extLst>
                  <a:ext uri="{0D108BD9-81ED-4DB2-BD59-A6C34878D82A}">
                    <a16:rowId xmlns:a16="http://schemas.microsoft.com/office/drawing/2014/main" val="10000"/>
                  </a:ext>
                </a:extLst>
              </a:tr>
              <a:tr h="822960">
                <a:tc>
                  <a:txBody>
                    <a:bodyPr/>
                    <a:lstStyle/>
                    <a:p>
                      <a:pPr algn="l">
                        <a:spcAft>
                          <a:spcPts val="500"/>
                        </a:spcAft>
                      </a:pPr>
                      <a:r>
                        <a:rPr sz="1800" b="1">
                          <a:solidFill>
                            <a:srgbClr val="172C42"/>
                          </a:solidFill>
                        </a:rPr>
                        <a:t>balance</a:t>
                      </a:r>
                    </a:p>
                  </a:txBody>
                  <a:tcPr marL="164592" marR="164592" marT="109728" marB="73152">
                    <a:lnL>
                      <a:noFill/>
                    </a:lnL>
                    <a:lnR>
                      <a:noFill/>
                    </a:lnR>
                    <a:lnT>
                      <a:noFill/>
                    </a:lnT>
                    <a:lnB>
                      <a:noFill/>
                    </a:lnB>
                    <a:solidFill>
                      <a:srgbClr val="EEF2F5"/>
                    </a:solidFill>
                  </a:tcPr>
                </a:tc>
                <a:tc>
                  <a:txBody>
                    <a:bodyPr/>
                    <a:lstStyle/>
                    <a:p>
                      <a:pPr algn="l">
                        <a:spcAft>
                          <a:spcPts val="500"/>
                        </a:spcAft>
                      </a:pPr>
                      <a:r>
                        <a:rPr sz="1800" b="0">
                          <a:solidFill>
                            <a:srgbClr val="172C42"/>
                          </a:solidFill>
                        </a:rPr>
                        <a:t>Private state</a:t>
                      </a:r>
                    </a:p>
                  </a:txBody>
                  <a:tcPr marL="164592" marR="164592" marT="109728" marB="73152">
                    <a:lnL>
                      <a:noFill/>
                    </a:lnL>
                    <a:lnR>
                      <a:noFill/>
                    </a:lnR>
                    <a:lnT>
                      <a:noFill/>
                    </a:lnT>
                    <a:lnB>
                      <a:noFill/>
                    </a:lnB>
                    <a:solidFill>
                      <a:srgbClr val="EEF2F5"/>
                    </a:solidFill>
                  </a:tcPr>
                </a:tc>
                <a:tc>
                  <a:txBody>
                    <a:bodyPr/>
                    <a:lstStyle/>
                    <a:p>
                      <a:pPr algn="l">
                        <a:spcAft>
                          <a:spcPts val="500"/>
                        </a:spcAft>
                      </a:pPr>
                      <a:r>
                        <a:rPr sz="1800" b="0">
                          <a:solidFill>
                            <a:srgbClr val="172C42"/>
                          </a:solidFill>
                        </a:rPr>
                        <a:t>The page cannot assign a new balance directly.</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1"/>
                  </a:ext>
                </a:extLst>
              </a:tr>
              <a:tr h="960120">
                <a:tc>
                  <a:txBody>
                    <a:bodyPr/>
                    <a:lstStyle/>
                    <a:p>
                      <a:pPr algn="l">
                        <a:spcAft>
                          <a:spcPts val="500"/>
                        </a:spcAft>
                      </a:pPr>
                      <a:r>
                        <a:rPr sz="1800" b="1">
                          <a:solidFill>
                            <a:srgbClr val="172C42"/>
                          </a:solidFill>
                        </a:rPr>
                        <a:t>deposit(amount)</a:t>
                      </a:r>
                    </a:p>
                  </a:txBody>
                  <a:tcPr marL="164592" marR="164592" marT="109728" marB="73152">
                    <a:lnL>
                      <a:noFill/>
                    </a:lnL>
                    <a:lnR>
                      <a:noFill/>
                    </a:lnR>
                    <a:lnT>
                      <a:noFill/>
                    </a:lnT>
                    <a:lnB>
                      <a:noFill/>
                    </a:lnB>
                    <a:solidFill>
                      <a:srgbClr val="FFFFFF"/>
                    </a:solidFill>
                  </a:tcPr>
                </a:tc>
                <a:tc>
                  <a:txBody>
                    <a:bodyPr/>
                    <a:lstStyle/>
                    <a:p>
                      <a:pPr algn="l">
                        <a:spcAft>
                          <a:spcPts val="500"/>
                        </a:spcAft>
                      </a:pPr>
                      <a:r>
                        <a:rPr sz="1800" b="0">
                          <a:solidFill>
                            <a:srgbClr val="172C42"/>
                          </a:solidFill>
                        </a:rPr>
                        <a:t>Public method</a:t>
                      </a:r>
                    </a:p>
                  </a:txBody>
                  <a:tcPr marL="164592" marR="164592" marT="109728" marB="73152">
                    <a:lnL>
                      <a:noFill/>
                    </a:lnL>
                    <a:lnR>
                      <a:noFill/>
                    </a:lnR>
                    <a:lnT>
                      <a:noFill/>
                    </a:lnT>
                    <a:lnB>
                      <a:noFill/>
                    </a:lnB>
                    <a:solidFill>
                      <a:srgbClr val="FFFFFF"/>
                    </a:solidFill>
                  </a:tcPr>
                </a:tc>
                <a:tc>
                  <a:txBody>
                    <a:bodyPr/>
                    <a:lstStyle/>
                    <a:p>
                      <a:pPr algn="l">
                        <a:spcAft>
                          <a:spcPts val="500"/>
                        </a:spcAft>
                      </a:pPr>
                      <a:r>
                        <a:rPr sz="1800" b="0">
                          <a:solidFill>
                            <a:srgbClr val="172C42"/>
                          </a:solidFill>
                        </a:rPr>
                        <a:t>Accept a positive amount, then update the balance.</a:t>
                      </a:r>
                    </a:p>
                  </a:txBody>
                  <a:tcPr marL="164592" marR="164592" marT="109728" marB="73152">
                    <a:lnL>
                      <a:noFill/>
                    </a:lnL>
                    <a:lnR>
                      <a:noFill/>
                    </a:lnR>
                    <a:lnT>
                      <a:noFill/>
                    </a:lnT>
                    <a:lnB>
                      <a:noFill/>
                    </a:lnB>
                    <a:solidFill>
                      <a:srgbClr val="FFFFFF"/>
                    </a:solidFill>
                  </a:tcPr>
                </a:tc>
                <a:extLst>
                  <a:ext uri="{0D108BD9-81ED-4DB2-BD59-A6C34878D82A}">
                    <a16:rowId xmlns:a16="http://schemas.microsoft.com/office/drawing/2014/main" val="10002"/>
                  </a:ext>
                </a:extLst>
              </a:tr>
              <a:tr h="960120">
                <a:tc>
                  <a:txBody>
                    <a:bodyPr/>
                    <a:lstStyle/>
                    <a:p>
                      <a:pPr algn="l">
                        <a:spcAft>
                          <a:spcPts val="500"/>
                        </a:spcAft>
                      </a:pPr>
                      <a:r>
                        <a:rPr sz="1800" b="1">
                          <a:solidFill>
                            <a:srgbClr val="172C42"/>
                          </a:solidFill>
                        </a:rPr>
                        <a:t>withdraw(amount)</a:t>
                      </a:r>
                    </a:p>
                  </a:txBody>
                  <a:tcPr marL="164592" marR="164592" marT="109728" marB="73152">
                    <a:lnL>
                      <a:noFill/>
                    </a:lnL>
                    <a:lnR>
                      <a:noFill/>
                    </a:lnR>
                    <a:lnT>
                      <a:noFill/>
                    </a:lnT>
                    <a:lnB>
                      <a:noFill/>
                    </a:lnB>
                    <a:solidFill>
                      <a:srgbClr val="EEF2F5"/>
                    </a:solidFill>
                  </a:tcPr>
                </a:tc>
                <a:tc>
                  <a:txBody>
                    <a:bodyPr/>
                    <a:lstStyle/>
                    <a:p>
                      <a:pPr algn="l">
                        <a:spcAft>
                          <a:spcPts val="500"/>
                        </a:spcAft>
                      </a:pPr>
                      <a:r>
                        <a:rPr sz="1800" b="0">
                          <a:solidFill>
                            <a:srgbClr val="172C42"/>
                          </a:solidFill>
                        </a:rPr>
                        <a:t>Public method</a:t>
                      </a:r>
                    </a:p>
                  </a:txBody>
                  <a:tcPr marL="164592" marR="164592" marT="109728" marB="73152">
                    <a:lnL>
                      <a:noFill/>
                    </a:lnL>
                    <a:lnR>
                      <a:noFill/>
                    </a:lnR>
                    <a:lnT>
                      <a:noFill/>
                    </a:lnT>
                    <a:lnB>
                      <a:noFill/>
                    </a:lnB>
                    <a:solidFill>
                      <a:srgbClr val="EEF2F5"/>
                    </a:solidFill>
                  </a:tcPr>
                </a:tc>
                <a:tc>
                  <a:txBody>
                    <a:bodyPr/>
                    <a:lstStyle/>
                    <a:p>
                      <a:pPr algn="l">
                        <a:spcAft>
                          <a:spcPts val="500"/>
                        </a:spcAft>
                      </a:pPr>
                      <a:r>
                        <a:rPr sz="1800" b="0">
                          <a:solidFill>
                            <a:srgbClr val="172C42"/>
                          </a:solidFill>
                        </a:rPr>
                        <a:t>Check the amount and available funds before updating.</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594360" y="5852160"/>
            <a:ext cx="10972800" cy="457200"/>
          </a:xfrm>
          <a:prstGeom prst="rect">
            <a:avLst/>
          </a:prstGeom>
          <a:noFill/>
        </p:spPr>
        <p:txBody>
          <a:bodyPr wrap="square" lIns="0" tIns="0" rIns="0" bIns="0" anchor="t">
            <a:spAutoFit/>
          </a:bodyPr>
          <a:lstStyle/>
          <a:p>
            <a:pPr algn="l">
              <a:spcAft>
                <a:spcPts val="900"/>
              </a:spcAft>
            </a:pPr>
            <a:r>
              <a:rPr sz="2300" b="1">
                <a:solidFill>
                  <a:srgbClr val="172C42"/>
                </a:solidFill>
              </a:rPr>
              <a:t>The Account object protects its own rules whenever its state changes.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10972800" cy="548640"/>
          </a:xfrm>
          <a:prstGeom prst="rect">
            <a:avLst/>
          </a:prstGeom>
          <a:noFill/>
        </p:spPr>
        <p:txBody>
          <a:bodyPr wrap="square" lIns="0" tIns="0" rIns="0" bIns="0" anchor="t">
            <a:spAutoFit/>
          </a:bodyPr>
          <a:lstStyle/>
          <a:p>
            <a:pPr algn="l">
              <a:spcAft>
                <a:spcPts val="900"/>
              </a:spcAft>
            </a:pPr>
            <a:r>
              <a:rPr sz="3200" b="1">
                <a:solidFill>
                  <a:srgbClr val="172C42"/>
                </a:solidFill>
              </a:rPr>
              <a:t>Encapsulation: the snack machine</a:t>
            </a:r>
          </a:p>
        </p:txBody>
      </p:sp>
      <p:sp>
        <p:nvSpPr>
          <p:cNvPr id="3" name="TextBox 2"/>
          <p:cNvSpPr txBox="1"/>
          <p:nvPr/>
        </p:nvSpPr>
        <p:spPr>
          <a:xfrm>
            <a:off x="594360" y="1143000"/>
            <a:ext cx="10972800" cy="822960"/>
          </a:xfrm>
          <a:prstGeom prst="rect">
            <a:avLst/>
          </a:prstGeom>
          <a:noFill/>
        </p:spPr>
        <p:txBody>
          <a:bodyPr wrap="square" lIns="0" tIns="0" rIns="0" bIns="0" anchor="t">
            <a:spAutoFit/>
          </a:bodyPr>
          <a:lstStyle/>
          <a:p>
            <a:pPr algn="l">
              <a:spcAft>
                <a:spcPts val="900"/>
              </a:spcAft>
            </a:pPr>
            <a:r>
              <a:rPr sz="2200" b="0">
                <a:solidFill>
                  <a:srgbClr val="3C4A58"/>
                </a:solidFill>
              </a:rPr>
              <a:t>The machine protects its stock and controls how you can change it.</a:t>
            </a:r>
          </a:p>
        </p:txBody>
      </p:sp>
      <p:sp>
        <p:nvSpPr>
          <p:cNvPr id="4" name="TextBox 3"/>
          <p:cNvSpPr txBox="1"/>
          <p:nvPr/>
        </p:nvSpPr>
        <p:spPr>
          <a:xfrm>
            <a:off x="594360" y="5916168"/>
            <a:ext cx="10972800" cy="438912"/>
          </a:xfrm>
          <a:prstGeom prst="rect">
            <a:avLst/>
          </a:prstGeom>
          <a:noFill/>
        </p:spPr>
        <p:txBody>
          <a:bodyPr wrap="square" lIns="0" tIns="12700" rIns="0" bIns="0">
            <a:spAutoFit/>
          </a:bodyPr>
          <a:lstStyle/>
          <a:p>
            <a:pPr>
              <a:spcAft>
                <a:spcPts val="600"/>
              </a:spcAft>
            </a:pPr>
            <a:r>
              <a:rPr sz="2300" b="1">
                <a:solidFill>
                  <a:srgbClr val="172C42"/>
                </a:solidFill>
              </a:rPr>
              <a:t>“One button press. Sadly, not the whole snack shelf.”</a:t>
            </a:r>
          </a:p>
        </p:txBody>
      </p:sp>
      <p:sp>
        <p:nvSpPr>
          <p:cNvPr id="5" name="TextBox 4"/>
          <p:cNvSpPr txBox="1"/>
          <p:nvPr/>
        </p:nvSpPr>
        <p:spPr>
          <a:xfrm>
            <a:off x="594360" y="6437376"/>
            <a:ext cx="10972800" cy="228600"/>
          </a:xfrm>
          <a:prstGeom prst="rect">
            <a:avLst/>
          </a:prstGeom>
          <a:noFill/>
        </p:spPr>
        <p:txBody>
          <a:bodyPr wrap="square" lIns="0" tIns="12700" rIns="0" bIns="0">
            <a:spAutoFit/>
          </a:bodyPr>
          <a:lstStyle/>
          <a:p>
            <a:pPr>
              <a:spcAft>
                <a:spcPts val="600"/>
              </a:spcAft>
            </a:pPr>
            <a:r>
              <a:rPr sz="1400" b="0">
                <a:solidFill>
                  <a:srgbClr val="3C4A58"/>
                </a:solidFill>
              </a:rPr>
              <a:t>Illustrative real-world analogy</a:t>
            </a:r>
          </a:p>
        </p:txBody>
      </p:sp>
      <p:pic>
        <p:nvPicPr>
          <p:cNvPr id="6" name="Picture 5" descr="snacks.png"/>
          <p:cNvPicPr>
            <a:picLocks noChangeAspect="1"/>
          </p:cNvPicPr>
          <p:nvPr/>
        </p:nvPicPr>
        <p:blipFill>
          <a:blip r:embed="rId3"/>
          <a:stretch>
            <a:fillRect/>
          </a:stretch>
        </p:blipFill>
        <p:spPr>
          <a:xfrm>
            <a:off x="1334204" y="1847088"/>
            <a:ext cx="5424031" cy="3813048"/>
          </a:xfrm>
          <a:prstGeom prst="rect">
            <a:avLst/>
          </a:prstGeom>
        </p:spPr>
      </p:pic>
      <p:sp>
        <p:nvSpPr>
          <p:cNvPr id="7" name="TextBox 6"/>
          <p:cNvSpPr txBox="1"/>
          <p:nvPr/>
        </p:nvSpPr>
        <p:spPr>
          <a:xfrm>
            <a:off x="7909560" y="2075688"/>
            <a:ext cx="3703320" cy="365760"/>
          </a:xfrm>
          <a:prstGeom prst="rect">
            <a:avLst/>
          </a:prstGeom>
          <a:noFill/>
        </p:spPr>
        <p:txBody>
          <a:bodyPr wrap="square" lIns="0" tIns="12700" rIns="0" bIns="0">
            <a:spAutoFit/>
          </a:bodyPr>
          <a:lstStyle/>
          <a:p>
            <a:pPr>
              <a:spcAft>
                <a:spcPts val="600"/>
              </a:spcAft>
            </a:pPr>
            <a:r>
              <a:rPr sz="2000" b="1">
                <a:solidFill>
                  <a:srgbClr val="007D87"/>
                </a:solidFill>
              </a:rPr>
              <a:t>PUBLIC METHODS</a:t>
            </a:r>
          </a:p>
        </p:txBody>
      </p:sp>
      <p:sp>
        <p:nvSpPr>
          <p:cNvPr id="8" name="TextBox 7"/>
          <p:cNvSpPr txBox="1"/>
          <p:nvPr/>
        </p:nvSpPr>
        <p:spPr>
          <a:xfrm>
            <a:off x="7909560" y="2560320"/>
            <a:ext cx="3703320" cy="969264"/>
          </a:xfrm>
          <a:prstGeom prst="rect">
            <a:avLst/>
          </a:prstGeom>
          <a:noFill/>
        </p:spPr>
        <p:txBody>
          <a:bodyPr wrap="square" lIns="0" tIns="12700" rIns="0" bIns="0">
            <a:spAutoFit/>
          </a:bodyPr>
          <a:lstStyle/>
          <a:p>
            <a:pPr>
              <a:spcAft>
                <a:spcPts val="600"/>
              </a:spcAft>
            </a:pPr>
            <a:r>
              <a:rPr sz="2800" b="1">
                <a:solidFill>
                  <a:srgbClr val="172C42"/>
                </a:solidFill>
              </a:rPr>
              <a:t>insertCoin()</a:t>
            </a:r>
          </a:p>
          <a:p>
            <a:pPr>
              <a:spcAft>
                <a:spcPts val="600"/>
              </a:spcAft>
            </a:pPr>
            <a:r>
              <a:rPr sz="2800" b="1">
                <a:solidFill>
                  <a:srgbClr val="172C42"/>
                </a:solidFill>
              </a:rPr>
              <a:t>selectSnack()</a:t>
            </a:r>
          </a:p>
        </p:txBody>
      </p:sp>
      <p:cxnSp>
        <p:nvCxnSpPr>
          <p:cNvPr id="9" name="Connector 8"/>
          <p:cNvCxnSpPr/>
          <p:nvPr/>
        </p:nvCxnSpPr>
        <p:spPr>
          <a:xfrm>
            <a:off x="8046720" y="3602736"/>
            <a:ext cx="0" cy="374903"/>
          </a:xfrm>
          <a:prstGeom prst="line">
            <a:avLst/>
          </a:prstGeom>
          <a:ln w="25400">
            <a:solidFill>
              <a:srgbClr val="007D87"/>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909560" y="4096512"/>
            <a:ext cx="3703320" cy="365760"/>
          </a:xfrm>
          <a:prstGeom prst="rect">
            <a:avLst/>
          </a:prstGeom>
          <a:noFill/>
        </p:spPr>
        <p:txBody>
          <a:bodyPr wrap="square" lIns="0" tIns="12700" rIns="0" bIns="0">
            <a:spAutoFit/>
          </a:bodyPr>
          <a:lstStyle/>
          <a:p>
            <a:pPr>
              <a:spcAft>
                <a:spcPts val="600"/>
              </a:spcAft>
            </a:pPr>
            <a:r>
              <a:rPr sz="2000" b="1">
                <a:solidFill>
                  <a:srgbClr val="007D87"/>
                </a:solidFill>
              </a:rPr>
              <a:t>PRIVATE STATE</a:t>
            </a:r>
          </a:p>
        </p:txBody>
      </p:sp>
      <p:sp>
        <p:nvSpPr>
          <p:cNvPr id="11" name="TextBox 10"/>
          <p:cNvSpPr txBox="1"/>
          <p:nvPr/>
        </p:nvSpPr>
        <p:spPr>
          <a:xfrm>
            <a:off x="7909560" y="4553712"/>
            <a:ext cx="3703320" cy="941832"/>
          </a:xfrm>
          <a:prstGeom prst="rect">
            <a:avLst/>
          </a:prstGeom>
          <a:noFill/>
        </p:spPr>
        <p:txBody>
          <a:bodyPr wrap="square" lIns="0" tIns="12700" rIns="0" bIns="0">
            <a:spAutoFit/>
          </a:bodyPr>
          <a:lstStyle/>
          <a:p>
            <a:pPr>
              <a:spcAft>
                <a:spcPts val="600"/>
              </a:spcAft>
            </a:pPr>
            <a:r>
              <a:rPr sz="2400" b="0">
                <a:solidFill>
                  <a:srgbClr val="172C42"/>
                </a:solidFill>
              </a:rPr>
              <a:t>Stock and credit</a:t>
            </a:r>
          </a:p>
          <a:p>
            <a:pPr>
              <a:spcAft>
                <a:spcPts val="600"/>
              </a:spcAft>
            </a:pPr>
            <a:r>
              <a:rPr sz="2400" b="0">
                <a:solidFill>
                  <a:srgbClr val="172C42"/>
                </a:solidFill>
              </a:rPr>
              <a:t>change through rules.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10972800" cy="548640"/>
          </a:xfrm>
          <a:prstGeom prst="rect">
            <a:avLst/>
          </a:prstGeom>
          <a:noFill/>
        </p:spPr>
        <p:txBody>
          <a:bodyPr wrap="square" lIns="0" tIns="0" rIns="0" bIns="0" anchor="t">
            <a:spAutoFit/>
          </a:bodyPr>
          <a:lstStyle/>
          <a:p>
            <a:pPr algn="l">
              <a:spcAft>
                <a:spcPts val="900"/>
              </a:spcAft>
            </a:pPr>
            <a:r>
              <a:rPr sz="3200" b="1">
                <a:solidFill>
                  <a:srgbClr val="172C42"/>
                </a:solidFill>
              </a:rPr>
              <a:t>Inheritance</a:t>
            </a:r>
          </a:p>
        </p:txBody>
      </p:sp>
      <p:sp>
        <p:nvSpPr>
          <p:cNvPr id="3" name="TextBox 2"/>
          <p:cNvSpPr txBox="1"/>
          <p:nvPr/>
        </p:nvSpPr>
        <p:spPr>
          <a:xfrm>
            <a:off x="594360" y="1143000"/>
            <a:ext cx="10972800" cy="822960"/>
          </a:xfrm>
          <a:prstGeom prst="rect">
            <a:avLst/>
          </a:prstGeom>
          <a:noFill/>
        </p:spPr>
        <p:txBody>
          <a:bodyPr wrap="square" lIns="0" tIns="0" rIns="0" bIns="0" anchor="t">
            <a:spAutoFit/>
          </a:bodyPr>
          <a:lstStyle/>
          <a:p>
            <a:pPr algn="l">
              <a:spcAft>
                <a:spcPts val="900"/>
              </a:spcAft>
            </a:pPr>
            <a:r>
              <a:rPr sz="2200" b="0">
                <a:solidFill>
                  <a:srgbClr val="3C4A58"/>
                </a:solidFill>
              </a:rPr>
              <a:t>Create a specialized class from an existing class, reusing shared state and behavior.</a:t>
            </a:r>
          </a:p>
        </p:txBody>
      </p:sp>
      <p:sp>
        <p:nvSpPr>
          <p:cNvPr id="4" name="TextBox 3"/>
          <p:cNvSpPr txBox="1"/>
          <p:nvPr/>
        </p:nvSpPr>
        <p:spPr>
          <a:xfrm>
            <a:off x="594360" y="6437376"/>
            <a:ext cx="9144000" cy="228600"/>
          </a:xfrm>
          <a:prstGeom prst="rect">
            <a:avLst/>
          </a:prstGeom>
          <a:noFill/>
        </p:spPr>
        <p:txBody>
          <a:bodyPr wrap="square" lIns="0" tIns="0" rIns="0" bIns="0" anchor="t">
            <a:spAutoFit/>
          </a:bodyPr>
          <a:lstStyle/>
          <a:p>
            <a:pPr algn="l">
              <a:spcAft>
                <a:spcPts val="900"/>
              </a:spcAft>
            </a:pPr>
            <a:r>
              <a:rPr sz="1400" b="0">
                <a:solidFill>
                  <a:srgbClr val="3C4A58"/>
                </a:solidFill>
              </a:rPr>
              <a:t>Illustrative banking design</a:t>
            </a:r>
          </a:p>
        </p:txBody>
      </p:sp>
      <p:sp>
        <p:nvSpPr>
          <p:cNvPr id="5" name="TextBox 4"/>
          <p:cNvSpPr txBox="1"/>
          <p:nvPr/>
        </p:nvSpPr>
        <p:spPr>
          <a:xfrm>
            <a:off x="594360" y="2194560"/>
            <a:ext cx="10972800" cy="457200"/>
          </a:xfrm>
          <a:prstGeom prst="rect">
            <a:avLst/>
          </a:prstGeom>
          <a:noFill/>
        </p:spPr>
        <p:txBody>
          <a:bodyPr wrap="square" lIns="0" tIns="0" rIns="0" bIns="0" anchor="t">
            <a:spAutoFit/>
          </a:bodyPr>
          <a:lstStyle/>
          <a:p>
            <a:pPr algn="l">
              <a:spcAft>
                <a:spcPts val="900"/>
              </a:spcAft>
            </a:pPr>
            <a:r>
              <a:rPr sz="2800" b="1">
                <a:solidFill>
                  <a:srgbClr val="172C42"/>
                </a:solidFill>
              </a:rPr>
              <a:t>BankAccount</a:t>
            </a:r>
          </a:p>
        </p:txBody>
      </p:sp>
      <p:sp>
        <p:nvSpPr>
          <p:cNvPr id="6" name="TextBox 5"/>
          <p:cNvSpPr txBox="1"/>
          <p:nvPr/>
        </p:nvSpPr>
        <p:spPr>
          <a:xfrm>
            <a:off x="594360" y="2788920"/>
            <a:ext cx="10881360" cy="731520"/>
          </a:xfrm>
          <a:prstGeom prst="rect">
            <a:avLst/>
          </a:prstGeom>
          <a:noFill/>
        </p:spPr>
        <p:txBody>
          <a:bodyPr wrap="square" lIns="0" tIns="0" rIns="0" bIns="0" anchor="t">
            <a:spAutoFit/>
          </a:bodyPr>
          <a:lstStyle/>
          <a:p>
            <a:pPr algn="l">
              <a:spcAft>
                <a:spcPts val="900"/>
              </a:spcAft>
            </a:pPr>
            <a:r>
              <a:rPr sz="2200" b="0">
                <a:solidFill>
                  <a:srgbClr val="3C4A58"/>
                </a:solidFill>
              </a:rPr>
              <a:t>Shared account number, balance, deposit and withdrawal behavior</a:t>
            </a:r>
          </a:p>
        </p:txBody>
      </p:sp>
      <p:sp>
        <p:nvSpPr>
          <p:cNvPr id="7" name="TextBox 6"/>
          <p:cNvSpPr txBox="1"/>
          <p:nvPr/>
        </p:nvSpPr>
        <p:spPr>
          <a:xfrm>
            <a:off x="594360" y="3931920"/>
            <a:ext cx="5029200" cy="457200"/>
          </a:xfrm>
          <a:prstGeom prst="rect">
            <a:avLst/>
          </a:prstGeom>
          <a:noFill/>
        </p:spPr>
        <p:txBody>
          <a:bodyPr wrap="square" lIns="0" tIns="0" rIns="0" bIns="0" anchor="t">
            <a:spAutoFit/>
          </a:bodyPr>
          <a:lstStyle/>
          <a:p>
            <a:pPr algn="l">
              <a:spcAft>
                <a:spcPts val="900"/>
              </a:spcAft>
            </a:pPr>
            <a:r>
              <a:rPr sz="2500" b="1">
                <a:solidFill>
                  <a:srgbClr val="172C42"/>
                </a:solidFill>
              </a:rPr>
              <a:t>SavingsAccount</a:t>
            </a:r>
          </a:p>
        </p:txBody>
      </p:sp>
      <p:sp>
        <p:nvSpPr>
          <p:cNvPr id="8" name="TextBox 7"/>
          <p:cNvSpPr txBox="1"/>
          <p:nvPr/>
        </p:nvSpPr>
        <p:spPr>
          <a:xfrm>
            <a:off x="594360" y="4572000"/>
            <a:ext cx="5029200" cy="914400"/>
          </a:xfrm>
          <a:prstGeom prst="rect">
            <a:avLst/>
          </a:prstGeom>
          <a:noFill/>
        </p:spPr>
        <p:txBody>
          <a:bodyPr wrap="square" lIns="0" tIns="0" rIns="0" bIns="0" anchor="t">
            <a:spAutoFit/>
          </a:bodyPr>
          <a:lstStyle/>
          <a:p>
            <a:pPr algn="l">
              <a:spcAft>
                <a:spcPts val="900"/>
              </a:spcAft>
            </a:pPr>
            <a:r>
              <a:rPr sz="2200" b="0">
                <a:solidFill>
                  <a:srgbClr val="3C4A58"/>
                </a:solidFill>
              </a:rPr>
              <a:t>A BankAccount that adds interest-related behavior.</a:t>
            </a:r>
          </a:p>
        </p:txBody>
      </p:sp>
      <p:sp>
        <p:nvSpPr>
          <p:cNvPr id="9" name="TextBox 8"/>
          <p:cNvSpPr txBox="1"/>
          <p:nvPr/>
        </p:nvSpPr>
        <p:spPr>
          <a:xfrm>
            <a:off x="6419088" y="3931920"/>
            <a:ext cx="5166360" cy="457200"/>
          </a:xfrm>
          <a:prstGeom prst="rect">
            <a:avLst/>
          </a:prstGeom>
          <a:noFill/>
        </p:spPr>
        <p:txBody>
          <a:bodyPr wrap="square" lIns="0" tIns="0" rIns="0" bIns="0" anchor="t">
            <a:spAutoFit/>
          </a:bodyPr>
          <a:lstStyle/>
          <a:p>
            <a:pPr algn="l">
              <a:spcAft>
                <a:spcPts val="900"/>
              </a:spcAft>
            </a:pPr>
            <a:r>
              <a:rPr sz="2500" b="1">
                <a:solidFill>
                  <a:srgbClr val="172C42"/>
                </a:solidFill>
              </a:rPr>
              <a:t>CurrentAccount</a:t>
            </a:r>
          </a:p>
        </p:txBody>
      </p:sp>
      <p:sp>
        <p:nvSpPr>
          <p:cNvPr id="10" name="TextBox 9"/>
          <p:cNvSpPr txBox="1"/>
          <p:nvPr/>
        </p:nvSpPr>
        <p:spPr>
          <a:xfrm>
            <a:off x="6419088" y="4572000"/>
            <a:ext cx="5166360" cy="914400"/>
          </a:xfrm>
          <a:prstGeom prst="rect">
            <a:avLst/>
          </a:prstGeom>
          <a:noFill/>
        </p:spPr>
        <p:txBody>
          <a:bodyPr wrap="square" lIns="0" tIns="0" rIns="0" bIns="0" anchor="t">
            <a:spAutoFit/>
          </a:bodyPr>
          <a:lstStyle/>
          <a:p>
            <a:pPr algn="l">
              <a:spcAft>
                <a:spcPts val="900"/>
              </a:spcAft>
            </a:pPr>
            <a:r>
              <a:rPr sz="2200" b="0">
                <a:solidFill>
                  <a:srgbClr val="3C4A58"/>
                </a:solidFill>
              </a:rPr>
              <a:t>A BankAccount that adds an agreed overdraft limit.</a:t>
            </a:r>
          </a:p>
        </p:txBody>
      </p:sp>
      <p:sp>
        <p:nvSpPr>
          <p:cNvPr id="11" name="TextBox 10"/>
          <p:cNvSpPr txBox="1"/>
          <p:nvPr/>
        </p:nvSpPr>
        <p:spPr>
          <a:xfrm>
            <a:off x="594360" y="5797296"/>
            <a:ext cx="10972800" cy="502920"/>
          </a:xfrm>
          <a:prstGeom prst="rect">
            <a:avLst/>
          </a:prstGeom>
          <a:noFill/>
        </p:spPr>
        <p:txBody>
          <a:bodyPr wrap="square" lIns="0" tIns="0" rIns="0" bIns="0" anchor="t">
            <a:spAutoFit/>
          </a:bodyPr>
          <a:lstStyle/>
          <a:p>
            <a:pPr algn="l">
              <a:spcAft>
                <a:spcPts val="900"/>
              </a:spcAft>
            </a:pPr>
            <a:r>
              <a:rPr sz="2200" b="1">
                <a:solidFill>
                  <a:srgbClr val="172C42"/>
                </a:solidFill>
              </a:rPr>
              <a:t>Use inheritance when each specialized type truly is a kind of the base type.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10972800" cy="548640"/>
          </a:xfrm>
          <a:prstGeom prst="rect">
            <a:avLst/>
          </a:prstGeom>
          <a:noFill/>
        </p:spPr>
        <p:txBody>
          <a:bodyPr wrap="square" lIns="0" tIns="0" rIns="0" bIns="0" anchor="t">
            <a:spAutoFit/>
          </a:bodyPr>
          <a:lstStyle/>
          <a:p>
            <a:pPr algn="l">
              <a:spcAft>
                <a:spcPts val="900"/>
              </a:spcAft>
            </a:pPr>
            <a:r>
              <a:rPr sz="3200" b="1">
                <a:solidFill>
                  <a:srgbClr val="172C42"/>
                </a:solidFill>
              </a:rPr>
              <a:t>Inheritance: the bicycle family</a:t>
            </a:r>
          </a:p>
        </p:txBody>
      </p:sp>
      <p:sp>
        <p:nvSpPr>
          <p:cNvPr id="3" name="TextBox 2"/>
          <p:cNvSpPr txBox="1"/>
          <p:nvPr/>
        </p:nvSpPr>
        <p:spPr>
          <a:xfrm>
            <a:off x="594360" y="1143000"/>
            <a:ext cx="10972800" cy="822960"/>
          </a:xfrm>
          <a:prstGeom prst="rect">
            <a:avLst/>
          </a:prstGeom>
          <a:noFill/>
        </p:spPr>
        <p:txBody>
          <a:bodyPr wrap="square" lIns="0" tIns="0" rIns="0" bIns="0" anchor="t">
            <a:spAutoFit/>
          </a:bodyPr>
          <a:lstStyle/>
          <a:p>
            <a:pPr algn="l">
              <a:spcAft>
                <a:spcPts val="900"/>
              </a:spcAft>
            </a:pPr>
            <a:r>
              <a:rPr sz="2200" b="0">
                <a:solidFill>
                  <a:srgbClr val="3C4A58"/>
                </a:solidFill>
              </a:rPr>
              <a:t>Specialized bicycle classes reuse shared features and add their own.</a:t>
            </a:r>
          </a:p>
        </p:txBody>
      </p:sp>
      <p:sp>
        <p:nvSpPr>
          <p:cNvPr id="4" name="TextBox 3"/>
          <p:cNvSpPr txBox="1"/>
          <p:nvPr/>
        </p:nvSpPr>
        <p:spPr>
          <a:xfrm>
            <a:off x="594360" y="5916168"/>
            <a:ext cx="10972800" cy="438912"/>
          </a:xfrm>
          <a:prstGeom prst="rect">
            <a:avLst/>
          </a:prstGeom>
          <a:noFill/>
        </p:spPr>
        <p:txBody>
          <a:bodyPr wrap="square" lIns="0" tIns="12700" rIns="0" bIns="0">
            <a:spAutoFit/>
          </a:bodyPr>
          <a:lstStyle/>
          <a:p>
            <a:pPr>
              <a:spcAft>
                <a:spcPts val="600"/>
              </a:spcAft>
            </a:pPr>
            <a:r>
              <a:rPr sz="2300" b="1">
                <a:solidFill>
                  <a:srgbClr val="172C42"/>
                </a:solidFill>
              </a:rPr>
              <a:t>“Same family. One cousin brought a battery.”</a:t>
            </a:r>
          </a:p>
        </p:txBody>
      </p:sp>
      <p:sp>
        <p:nvSpPr>
          <p:cNvPr id="5" name="TextBox 4"/>
          <p:cNvSpPr txBox="1"/>
          <p:nvPr/>
        </p:nvSpPr>
        <p:spPr>
          <a:xfrm>
            <a:off x="594360" y="6437376"/>
            <a:ext cx="10972800" cy="228600"/>
          </a:xfrm>
          <a:prstGeom prst="rect">
            <a:avLst/>
          </a:prstGeom>
          <a:noFill/>
        </p:spPr>
        <p:txBody>
          <a:bodyPr wrap="square" lIns="0" tIns="12700" rIns="0" bIns="0">
            <a:spAutoFit/>
          </a:bodyPr>
          <a:lstStyle/>
          <a:p>
            <a:pPr>
              <a:spcAft>
                <a:spcPts val="600"/>
              </a:spcAft>
            </a:pPr>
            <a:r>
              <a:rPr sz="1400" b="0">
                <a:solidFill>
                  <a:srgbClr val="3C4A58"/>
                </a:solidFill>
              </a:rPr>
              <a:t>Illustrative real-world analogy</a:t>
            </a:r>
          </a:p>
        </p:txBody>
      </p:sp>
      <p:sp>
        <p:nvSpPr>
          <p:cNvPr id="6" name="TextBox 5"/>
          <p:cNvSpPr txBox="1"/>
          <p:nvPr/>
        </p:nvSpPr>
        <p:spPr>
          <a:xfrm>
            <a:off x="4727448" y="1874519"/>
            <a:ext cx="2743200" cy="384048"/>
          </a:xfrm>
          <a:prstGeom prst="rect">
            <a:avLst/>
          </a:prstGeom>
          <a:noFill/>
        </p:spPr>
        <p:txBody>
          <a:bodyPr wrap="square" lIns="0" tIns="12700" rIns="0" bIns="0">
            <a:spAutoFit/>
          </a:bodyPr>
          <a:lstStyle/>
          <a:p>
            <a:pPr algn="ctr">
              <a:spcAft>
                <a:spcPts val="600"/>
              </a:spcAft>
            </a:pPr>
            <a:r>
              <a:rPr sz="2500" b="1">
                <a:solidFill>
                  <a:srgbClr val="172C42"/>
                </a:solidFill>
              </a:rPr>
              <a:t>Bicycle</a:t>
            </a:r>
          </a:p>
        </p:txBody>
      </p:sp>
      <p:pic>
        <p:nvPicPr>
          <p:cNvPr id="7" name="Picture 6" descr="bike-base.png"/>
          <p:cNvPicPr>
            <a:picLocks noChangeAspect="1"/>
          </p:cNvPicPr>
          <p:nvPr/>
        </p:nvPicPr>
        <p:blipFill>
          <a:blip r:embed="rId3"/>
          <a:stretch>
            <a:fillRect/>
          </a:stretch>
        </p:blipFill>
        <p:spPr>
          <a:xfrm>
            <a:off x="5417820" y="2322576"/>
            <a:ext cx="1325880" cy="1234440"/>
          </a:xfrm>
          <a:prstGeom prst="rect">
            <a:avLst/>
          </a:prstGeom>
        </p:spPr>
      </p:pic>
      <p:sp>
        <p:nvSpPr>
          <p:cNvPr id="8" name="TextBox 7"/>
          <p:cNvSpPr txBox="1"/>
          <p:nvPr/>
        </p:nvSpPr>
        <p:spPr>
          <a:xfrm>
            <a:off x="594360" y="2441448"/>
            <a:ext cx="3566160" cy="822960"/>
          </a:xfrm>
          <a:prstGeom prst="rect">
            <a:avLst/>
          </a:prstGeom>
          <a:noFill/>
        </p:spPr>
        <p:txBody>
          <a:bodyPr wrap="square" lIns="0" tIns="12700" rIns="0" bIns="0">
            <a:spAutoFit/>
          </a:bodyPr>
          <a:lstStyle/>
          <a:p>
            <a:pPr>
              <a:spcAft>
                <a:spcPts val="600"/>
              </a:spcAft>
            </a:pPr>
            <a:r>
              <a:rPr sz="2400" b="0">
                <a:solidFill>
                  <a:srgbClr val="172C42"/>
                </a:solidFill>
              </a:rPr>
              <a:t>Wheels, pedals and ride()</a:t>
            </a:r>
          </a:p>
        </p:txBody>
      </p:sp>
      <p:cxnSp>
        <p:nvCxnSpPr>
          <p:cNvPr id="9" name="Connector 8"/>
          <p:cNvCxnSpPr/>
          <p:nvPr/>
        </p:nvCxnSpPr>
        <p:spPr>
          <a:xfrm>
            <a:off x="6080760" y="3584448"/>
            <a:ext cx="0" cy="182880"/>
          </a:xfrm>
          <a:prstGeom prst="line">
            <a:avLst/>
          </a:prstGeom>
          <a:ln w="25400">
            <a:solidFill>
              <a:srgbClr val="007D8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834640" y="3767328"/>
            <a:ext cx="6446520" cy="0"/>
          </a:xfrm>
          <a:prstGeom prst="line">
            <a:avLst/>
          </a:prstGeom>
          <a:ln w="25400">
            <a:solidFill>
              <a:srgbClr val="007D8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834640" y="3767328"/>
            <a:ext cx="0" cy="228600"/>
          </a:xfrm>
          <a:prstGeom prst="line">
            <a:avLst/>
          </a:prstGeom>
          <a:ln w="25400">
            <a:solidFill>
              <a:srgbClr val="007D8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281160" y="3767328"/>
            <a:ext cx="0" cy="228600"/>
          </a:xfrm>
          <a:prstGeom prst="line">
            <a:avLst/>
          </a:prstGeom>
          <a:ln w="25400">
            <a:solidFill>
              <a:srgbClr val="007D8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325880" y="4005072"/>
            <a:ext cx="3017520" cy="365760"/>
          </a:xfrm>
          <a:prstGeom prst="rect">
            <a:avLst/>
          </a:prstGeom>
          <a:noFill/>
        </p:spPr>
        <p:txBody>
          <a:bodyPr wrap="square" lIns="0" tIns="12700" rIns="0" bIns="0">
            <a:spAutoFit/>
          </a:bodyPr>
          <a:lstStyle/>
          <a:p>
            <a:pPr algn="ctr">
              <a:spcAft>
                <a:spcPts val="600"/>
              </a:spcAft>
            </a:pPr>
            <a:r>
              <a:rPr sz="2400" b="1">
                <a:solidFill>
                  <a:srgbClr val="172C42"/>
                </a:solidFill>
              </a:rPr>
              <a:t>RoadBike</a:t>
            </a:r>
          </a:p>
        </p:txBody>
      </p:sp>
      <p:sp>
        <p:nvSpPr>
          <p:cNvPr id="14" name="TextBox 13"/>
          <p:cNvSpPr txBox="1"/>
          <p:nvPr/>
        </p:nvSpPr>
        <p:spPr>
          <a:xfrm>
            <a:off x="7772400" y="4005072"/>
            <a:ext cx="3017520" cy="365760"/>
          </a:xfrm>
          <a:prstGeom prst="rect">
            <a:avLst/>
          </a:prstGeom>
          <a:noFill/>
        </p:spPr>
        <p:txBody>
          <a:bodyPr wrap="square" lIns="0" tIns="12700" rIns="0" bIns="0">
            <a:spAutoFit/>
          </a:bodyPr>
          <a:lstStyle/>
          <a:p>
            <a:pPr algn="ctr">
              <a:spcAft>
                <a:spcPts val="600"/>
              </a:spcAft>
            </a:pPr>
            <a:r>
              <a:rPr sz="2400" b="1">
                <a:solidFill>
                  <a:srgbClr val="172C42"/>
                </a:solidFill>
              </a:rPr>
              <a:t>ElectricBike</a:t>
            </a:r>
          </a:p>
        </p:txBody>
      </p:sp>
      <p:pic>
        <p:nvPicPr>
          <p:cNvPr id="15" name="Picture 14" descr="bike-road.png"/>
          <p:cNvPicPr>
            <a:picLocks noChangeAspect="1"/>
          </p:cNvPicPr>
          <p:nvPr/>
        </p:nvPicPr>
        <p:blipFill>
          <a:blip r:embed="rId4"/>
          <a:stretch>
            <a:fillRect/>
          </a:stretch>
        </p:blipFill>
        <p:spPr>
          <a:xfrm>
            <a:off x="2302440" y="4480560"/>
            <a:ext cx="1064399" cy="941832"/>
          </a:xfrm>
          <a:prstGeom prst="rect">
            <a:avLst/>
          </a:prstGeom>
        </p:spPr>
      </p:pic>
      <p:pic>
        <p:nvPicPr>
          <p:cNvPr id="16" name="Picture 15" descr="bike-electric.png"/>
          <p:cNvPicPr>
            <a:picLocks noChangeAspect="1"/>
          </p:cNvPicPr>
          <p:nvPr/>
        </p:nvPicPr>
        <p:blipFill>
          <a:blip r:embed="rId5"/>
          <a:stretch>
            <a:fillRect/>
          </a:stretch>
        </p:blipFill>
        <p:spPr>
          <a:xfrm>
            <a:off x="8778202" y="4480560"/>
            <a:ext cx="1005915" cy="941832"/>
          </a:xfrm>
          <a:prstGeom prst="rect">
            <a:avLst/>
          </a:prstGeom>
        </p:spPr>
      </p:pic>
      <p:sp>
        <p:nvSpPr>
          <p:cNvPr id="17" name="TextBox 16"/>
          <p:cNvSpPr txBox="1"/>
          <p:nvPr/>
        </p:nvSpPr>
        <p:spPr>
          <a:xfrm>
            <a:off x="594360" y="5468112"/>
            <a:ext cx="4480560" cy="365760"/>
          </a:xfrm>
          <a:prstGeom prst="rect">
            <a:avLst/>
          </a:prstGeom>
          <a:noFill/>
        </p:spPr>
        <p:txBody>
          <a:bodyPr wrap="square" lIns="0" tIns="12700" rIns="0" bIns="0">
            <a:spAutoFit/>
          </a:bodyPr>
          <a:lstStyle/>
          <a:p>
            <a:pPr algn="ctr">
              <a:spcAft>
                <a:spcPts val="600"/>
              </a:spcAft>
            </a:pPr>
            <a:r>
              <a:rPr sz="2000" b="0">
                <a:solidFill>
                  <a:srgbClr val="172C42"/>
                </a:solidFill>
              </a:rPr>
              <a:t>Adds racing features</a:t>
            </a:r>
          </a:p>
        </p:txBody>
      </p:sp>
      <p:sp>
        <p:nvSpPr>
          <p:cNvPr id="18" name="TextBox 17"/>
          <p:cNvSpPr txBox="1"/>
          <p:nvPr/>
        </p:nvSpPr>
        <p:spPr>
          <a:xfrm>
            <a:off x="7086600" y="5468112"/>
            <a:ext cx="4480560" cy="365760"/>
          </a:xfrm>
          <a:prstGeom prst="rect">
            <a:avLst/>
          </a:prstGeom>
          <a:noFill/>
        </p:spPr>
        <p:txBody>
          <a:bodyPr wrap="square" lIns="0" tIns="12700" rIns="0" bIns="0">
            <a:spAutoFit/>
          </a:bodyPr>
          <a:lstStyle/>
          <a:p>
            <a:pPr algn="ctr">
              <a:spcAft>
                <a:spcPts val="600"/>
              </a:spcAft>
            </a:pPr>
            <a:r>
              <a:rPr sz="2000" b="0">
                <a:solidFill>
                  <a:srgbClr val="172C42"/>
                </a:solidFill>
              </a:rPr>
              <a:t>Adds motor assistance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10972800" cy="548640"/>
          </a:xfrm>
          <a:prstGeom prst="rect">
            <a:avLst/>
          </a:prstGeom>
          <a:noFill/>
        </p:spPr>
        <p:txBody>
          <a:bodyPr wrap="square" lIns="0" tIns="0" rIns="0" bIns="0" anchor="t">
            <a:spAutoFit/>
          </a:bodyPr>
          <a:lstStyle/>
          <a:p>
            <a:pPr algn="l">
              <a:spcAft>
                <a:spcPts val="900"/>
              </a:spcAft>
            </a:pPr>
            <a:r>
              <a:rPr sz="3200" b="1">
                <a:solidFill>
                  <a:srgbClr val="172C42"/>
                </a:solidFill>
              </a:rPr>
              <a:t>Polymorphism</a:t>
            </a:r>
          </a:p>
        </p:txBody>
      </p:sp>
      <p:sp>
        <p:nvSpPr>
          <p:cNvPr id="3" name="TextBox 2"/>
          <p:cNvSpPr txBox="1"/>
          <p:nvPr/>
        </p:nvSpPr>
        <p:spPr>
          <a:xfrm>
            <a:off x="594360" y="1143000"/>
            <a:ext cx="10972800" cy="822960"/>
          </a:xfrm>
          <a:prstGeom prst="rect">
            <a:avLst/>
          </a:prstGeom>
          <a:noFill/>
        </p:spPr>
        <p:txBody>
          <a:bodyPr wrap="square" lIns="0" tIns="0" rIns="0" bIns="0" anchor="t">
            <a:spAutoFit/>
          </a:bodyPr>
          <a:lstStyle/>
          <a:p>
            <a:pPr algn="l">
              <a:spcAft>
                <a:spcPts val="900"/>
              </a:spcAft>
            </a:pPr>
            <a:r>
              <a:rPr sz="2200" b="0">
                <a:solidFill>
                  <a:srgbClr val="3C4A58"/>
                </a:solidFill>
              </a:rPr>
              <a:t>Use the same operation with different object types. Each type supplies the behavior that fits its rules.</a:t>
            </a:r>
          </a:p>
        </p:txBody>
      </p:sp>
      <p:sp>
        <p:nvSpPr>
          <p:cNvPr id="4" name="TextBox 3"/>
          <p:cNvSpPr txBox="1"/>
          <p:nvPr/>
        </p:nvSpPr>
        <p:spPr>
          <a:xfrm>
            <a:off x="594360" y="6437376"/>
            <a:ext cx="9144000" cy="228600"/>
          </a:xfrm>
          <a:prstGeom prst="rect">
            <a:avLst/>
          </a:prstGeom>
          <a:noFill/>
        </p:spPr>
        <p:txBody>
          <a:bodyPr wrap="square" lIns="0" tIns="0" rIns="0" bIns="0" anchor="t">
            <a:spAutoFit/>
          </a:bodyPr>
          <a:lstStyle/>
          <a:p>
            <a:pPr algn="l">
              <a:spcAft>
                <a:spcPts val="900"/>
              </a:spcAft>
            </a:pPr>
            <a:r>
              <a:rPr sz="1400" b="0">
                <a:solidFill>
                  <a:srgbClr val="3C4A58"/>
                </a:solidFill>
              </a:rPr>
              <a:t>Illustrative banking design</a:t>
            </a:r>
          </a:p>
        </p:txBody>
      </p:sp>
      <p:graphicFrame>
        <p:nvGraphicFramePr>
          <p:cNvPr id="5" name="Table 3"/>
          <p:cNvGraphicFramePr>
            <a:graphicFrameLocks noGrp="1"/>
          </p:cNvGraphicFramePr>
          <p:nvPr/>
        </p:nvGraphicFramePr>
        <p:xfrm>
          <a:off x="594360" y="2377440"/>
          <a:ext cx="11000232" cy="269748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965192">
                  <a:extLst>
                    <a:ext uri="{9D8B030D-6E8A-4147-A177-3AD203B41FA5}">
                      <a16:colId xmlns:a16="http://schemas.microsoft.com/office/drawing/2014/main" val="20002"/>
                    </a:ext>
                  </a:extLst>
                </a:gridCol>
              </a:tblGrid>
              <a:tr h="502920">
                <a:tc>
                  <a:txBody>
                    <a:bodyPr/>
                    <a:lstStyle/>
                    <a:p>
                      <a:pPr algn="l">
                        <a:spcAft>
                          <a:spcPts val="500"/>
                        </a:spcAft>
                      </a:pPr>
                      <a:r>
                        <a:rPr sz="1700" b="1">
                          <a:solidFill>
                            <a:srgbClr val="FFFFFF"/>
                          </a:solidFill>
                        </a:rPr>
                        <a:t>Same call</a:t>
                      </a:r>
                    </a:p>
                  </a:txBody>
                  <a:tcPr marL="164592" marR="164592" marT="109728" marB="73152">
                    <a:lnL>
                      <a:noFill/>
                    </a:lnL>
                    <a:lnR>
                      <a:noFill/>
                    </a:lnR>
                    <a:lnT>
                      <a:noFill/>
                    </a:lnT>
                    <a:lnB>
                      <a:noFill/>
                    </a:lnB>
                    <a:solidFill>
                      <a:srgbClr val="172C42"/>
                    </a:solidFill>
                  </a:tcPr>
                </a:tc>
                <a:tc>
                  <a:txBody>
                    <a:bodyPr/>
                    <a:lstStyle/>
                    <a:p>
                      <a:pPr algn="l">
                        <a:spcAft>
                          <a:spcPts val="500"/>
                        </a:spcAft>
                      </a:pPr>
                      <a:r>
                        <a:rPr sz="1700" b="1">
                          <a:solidFill>
                            <a:srgbClr val="FFFFFF"/>
                          </a:solidFill>
                        </a:rPr>
                        <a:t>Account type</a:t>
                      </a:r>
                    </a:p>
                  </a:txBody>
                  <a:tcPr marL="164592" marR="164592" marT="109728" marB="73152">
                    <a:lnL>
                      <a:noFill/>
                    </a:lnL>
                    <a:lnR>
                      <a:noFill/>
                    </a:lnR>
                    <a:lnT>
                      <a:noFill/>
                    </a:lnT>
                    <a:lnB>
                      <a:noFill/>
                    </a:lnB>
                    <a:solidFill>
                      <a:srgbClr val="172C42"/>
                    </a:solidFill>
                  </a:tcPr>
                </a:tc>
                <a:tc>
                  <a:txBody>
                    <a:bodyPr/>
                    <a:lstStyle/>
                    <a:p>
                      <a:pPr algn="l">
                        <a:spcAft>
                          <a:spcPts val="500"/>
                        </a:spcAft>
                      </a:pPr>
                      <a:r>
                        <a:rPr sz="1700" b="1">
                          <a:solidFill>
                            <a:srgbClr val="FFFFFF"/>
                          </a:solidFill>
                        </a:rPr>
                        <a:t>Type-specific behavior</a:t>
                      </a:r>
                    </a:p>
                  </a:txBody>
                  <a:tcPr marL="164592" marR="164592" marT="109728" marB="73152">
                    <a:lnL>
                      <a:noFill/>
                    </a:lnL>
                    <a:lnR>
                      <a:noFill/>
                    </a:lnR>
                    <a:lnT>
                      <a:noFill/>
                    </a:lnT>
                    <a:lnB>
                      <a:noFill/>
                    </a:lnB>
                    <a:solidFill>
                      <a:srgbClr val="172C42"/>
                    </a:solidFill>
                  </a:tcPr>
                </a:tc>
                <a:extLst>
                  <a:ext uri="{0D108BD9-81ED-4DB2-BD59-A6C34878D82A}">
                    <a16:rowId xmlns:a16="http://schemas.microsoft.com/office/drawing/2014/main" val="10000"/>
                  </a:ext>
                </a:extLst>
              </a:tr>
              <a:tr h="1097280">
                <a:tc>
                  <a:txBody>
                    <a:bodyPr/>
                    <a:lstStyle/>
                    <a:p>
                      <a:pPr algn="l">
                        <a:spcAft>
                          <a:spcPts val="500"/>
                        </a:spcAft>
                      </a:pPr>
                      <a:r>
                        <a:rPr sz="1800" b="1">
                          <a:solidFill>
                            <a:srgbClr val="172C42"/>
                          </a:solidFill>
                        </a:rPr>
                        <a:t>account.withdraw(amount)</a:t>
                      </a:r>
                    </a:p>
                  </a:txBody>
                  <a:tcPr marL="164592" marR="164592" marT="109728" marB="73152">
                    <a:lnL>
                      <a:noFill/>
                    </a:lnL>
                    <a:lnR>
                      <a:noFill/>
                    </a:lnR>
                    <a:lnT>
                      <a:noFill/>
                    </a:lnT>
                    <a:lnB>
                      <a:noFill/>
                    </a:lnB>
                    <a:solidFill>
                      <a:srgbClr val="EEF2F5"/>
                    </a:solidFill>
                  </a:tcPr>
                </a:tc>
                <a:tc>
                  <a:txBody>
                    <a:bodyPr/>
                    <a:lstStyle/>
                    <a:p>
                      <a:pPr algn="l">
                        <a:spcAft>
                          <a:spcPts val="500"/>
                        </a:spcAft>
                      </a:pPr>
                      <a:r>
                        <a:rPr sz="1800" b="0">
                          <a:solidFill>
                            <a:srgbClr val="172C42"/>
                          </a:solidFill>
                        </a:rPr>
                        <a:t>SavingsAccount</a:t>
                      </a:r>
                    </a:p>
                  </a:txBody>
                  <a:tcPr marL="164592" marR="164592" marT="109728" marB="73152">
                    <a:lnL>
                      <a:noFill/>
                    </a:lnL>
                    <a:lnR>
                      <a:noFill/>
                    </a:lnR>
                    <a:lnT>
                      <a:noFill/>
                    </a:lnT>
                    <a:lnB>
                      <a:noFill/>
                    </a:lnB>
                    <a:solidFill>
                      <a:srgbClr val="EEF2F5"/>
                    </a:solidFill>
                  </a:tcPr>
                </a:tc>
                <a:tc>
                  <a:txBody>
                    <a:bodyPr/>
                    <a:lstStyle/>
                    <a:p>
                      <a:pPr algn="l">
                        <a:spcAft>
                          <a:spcPts val="500"/>
                        </a:spcAft>
                      </a:pPr>
                      <a:r>
                        <a:rPr sz="1800" b="0">
                          <a:solidFill>
                            <a:srgbClr val="172C42"/>
                          </a:solidFill>
                        </a:rPr>
                        <a:t>Allows withdrawal only when sufficient funds remain.</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1"/>
                  </a:ext>
                </a:extLst>
              </a:tr>
              <a:tr h="1097280">
                <a:tc>
                  <a:txBody>
                    <a:bodyPr/>
                    <a:lstStyle/>
                    <a:p>
                      <a:pPr algn="l">
                        <a:spcAft>
                          <a:spcPts val="500"/>
                        </a:spcAft>
                      </a:pPr>
                      <a:r>
                        <a:rPr sz="1800" b="1">
                          <a:solidFill>
                            <a:srgbClr val="172C42"/>
                          </a:solidFill>
                        </a:rPr>
                        <a:t>account.withdraw(amount)</a:t>
                      </a:r>
                    </a:p>
                  </a:txBody>
                  <a:tcPr marL="164592" marR="164592" marT="109728" marB="73152">
                    <a:lnL>
                      <a:noFill/>
                    </a:lnL>
                    <a:lnR>
                      <a:noFill/>
                    </a:lnR>
                    <a:lnT>
                      <a:noFill/>
                    </a:lnT>
                    <a:lnB>
                      <a:noFill/>
                    </a:lnB>
                    <a:solidFill>
                      <a:srgbClr val="FFFFFF"/>
                    </a:solidFill>
                  </a:tcPr>
                </a:tc>
                <a:tc>
                  <a:txBody>
                    <a:bodyPr/>
                    <a:lstStyle/>
                    <a:p>
                      <a:pPr algn="l">
                        <a:spcAft>
                          <a:spcPts val="500"/>
                        </a:spcAft>
                      </a:pPr>
                      <a:r>
                        <a:rPr sz="1800" b="0">
                          <a:solidFill>
                            <a:srgbClr val="172C42"/>
                          </a:solidFill>
                        </a:rPr>
                        <a:t>CurrentAccount</a:t>
                      </a:r>
                    </a:p>
                  </a:txBody>
                  <a:tcPr marL="164592" marR="164592" marT="109728" marB="73152">
                    <a:lnL>
                      <a:noFill/>
                    </a:lnL>
                    <a:lnR>
                      <a:noFill/>
                    </a:lnR>
                    <a:lnT>
                      <a:noFill/>
                    </a:lnT>
                    <a:lnB>
                      <a:noFill/>
                    </a:lnB>
                    <a:solidFill>
                      <a:srgbClr val="FFFFFF"/>
                    </a:solidFill>
                  </a:tcPr>
                </a:tc>
                <a:tc>
                  <a:txBody>
                    <a:bodyPr/>
                    <a:lstStyle/>
                    <a:p>
                      <a:pPr algn="l">
                        <a:spcAft>
                          <a:spcPts val="500"/>
                        </a:spcAft>
                      </a:pPr>
                      <a:r>
                        <a:rPr sz="1800" b="0">
                          <a:solidFill>
                            <a:srgbClr val="172C42"/>
                          </a:solidFill>
                        </a:rPr>
                        <a:t>May allow withdrawal within its agreed overdraft limit.</a:t>
                      </a:r>
                    </a:p>
                  </a:txBody>
                  <a:tcPr marL="164592" marR="164592" marT="109728" marB="73152">
                    <a:lnL>
                      <a:noFill/>
                    </a:lnL>
                    <a:lnR>
                      <a:noFill/>
                    </a:lnR>
                    <a:lnT>
                      <a:noFill/>
                    </a:lnT>
                    <a:lnB>
                      <a:noFill/>
                    </a:lnB>
                    <a:solidFill>
                      <a:srgbClr val="FFFFFF"/>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594360" y="5504688"/>
            <a:ext cx="10972800" cy="777240"/>
          </a:xfrm>
          <a:prstGeom prst="rect">
            <a:avLst/>
          </a:prstGeom>
          <a:noFill/>
        </p:spPr>
        <p:txBody>
          <a:bodyPr wrap="square" lIns="0" tIns="0" rIns="0" bIns="0" anchor="t">
            <a:spAutoFit/>
          </a:bodyPr>
          <a:lstStyle/>
          <a:p>
            <a:pPr algn="l">
              <a:spcAft>
                <a:spcPts val="900"/>
              </a:spcAft>
            </a:pPr>
            <a:r>
              <a:rPr sz="2400" b="1">
                <a:solidFill>
                  <a:srgbClr val="172C42"/>
                </a:solidFill>
              </a:rPr>
              <a:t>The caller makes one request. The account type determines the behavior.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10972800" cy="548640"/>
          </a:xfrm>
          <a:prstGeom prst="rect">
            <a:avLst/>
          </a:prstGeom>
          <a:noFill/>
        </p:spPr>
        <p:txBody>
          <a:bodyPr wrap="square" lIns="0" tIns="0" rIns="0" bIns="0" anchor="t">
            <a:spAutoFit/>
          </a:bodyPr>
          <a:lstStyle/>
          <a:p>
            <a:pPr algn="l">
              <a:spcAft>
                <a:spcPts val="900"/>
              </a:spcAft>
            </a:pPr>
            <a:r>
              <a:rPr sz="3200" b="1">
                <a:solidFill>
                  <a:srgbClr val="172C42"/>
                </a:solidFill>
              </a:rPr>
              <a:t>Polymorphism: the animal choir</a:t>
            </a:r>
          </a:p>
        </p:txBody>
      </p:sp>
      <p:sp>
        <p:nvSpPr>
          <p:cNvPr id="3" name="TextBox 2"/>
          <p:cNvSpPr txBox="1"/>
          <p:nvPr/>
        </p:nvSpPr>
        <p:spPr>
          <a:xfrm>
            <a:off x="594360" y="1143000"/>
            <a:ext cx="10972800" cy="822960"/>
          </a:xfrm>
          <a:prstGeom prst="rect">
            <a:avLst/>
          </a:prstGeom>
          <a:noFill/>
        </p:spPr>
        <p:txBody>
          <a:bodyPr wrap="square" lIns="0" tIns="0" rIns="0" bIns="0" anchor="t">
            <a:spAutoFit/>
          </a:bodyPr>
          <a:lstStyle/>
          <a:p>
            <a:pPr algn="l">
              <a:spcAft>
                <a:spcPts val="900"/>
              </a:spcAft>
            </a:pPr>
            <a:r>
              <a:rPr sz="2200" b="0">
                <a:solidFill>
                  <a:srgbClr val="3C4A58"/>
                </a:solidFill>
              </a:rPr>
              <a:t>The same method call produces behavior specific to each object type.</a:t>
            </a:r>
          </a:p>
        </p:txBody>
      </p:sp>
      <p:sp>
        <p:nvSpPr>
          <p:cNvPr id="4" name="TextBox 3"/>
          <p:cNvSpPr txBox="1"/>
          <p:nvPr/>
        </p:nvSpPr>
        <p:spPr>
          <a:xfrm>
            <a:off x="594360" y="5916168"/>
            <a:ext cx="10972800" cy="438912"/>
          </a:xfrm>
          <a:prstGeom prst="rect">
            <a:avLst/>
          </a:prstGeom>
          <a:noFill/>
        </p:spPr>
        <p:txBody>
          <a:bodyPr wrap="square" lIns="0" tIns="12700" rIns="0" bIns="0">
            <a:spAutoFit/>
          </a:bodyPr>
          <a:lstStyle/>
          <a:p>
            <a:pPr>
              <a:spcAft>
                <a:spcPts val="600"/>
              </a:spcAft>
            </a:pPr>
            <a:r>
              <a:rPr sz="2300" b="1">
                <a:solidFill>
                  <a:srgbClr val="172C42"/>
                </a:solidFill>
              </a:rPr>
              <a:t>“Same instruction. Very different auditions.”</a:t>
            </a:r>
          </a:p>
        </p:txBody>
      </p:sp>
      <p:sp>
        <p:nvSpPr>
          <p:cNvPr id="5" name="TextBox 4"/>
          <p:cNvSpPr txBox="1"/>
          <p:nvPr/>
        </p:nvSpPr>
        <p:spPr>
          <a:xfrm>
            <a:off x="594360" y="6437376"/>
            <a:ext cx="10972800" cy="228600"/>
          </a:xfrm>
          <a:prstGeom prst="rect">
            <a:avLst/>
          </a:prstGeom>
          <a:noFill/>
        </p:spPr>
        <p:txBody>
          <a:bodyPr wrap="square" lIns="0" tIns="12700" rIns="0" bIns="0">
            <a:spAutoFit/>
          </a:bodyPr>
          <a:lstStyle/>
          <a:p>
            <a:pPr>
              <a:spcAft>
                <a:spcPts val="600"/>
              </a:spcAft>
            </a:pPr>
            <a:r>
              <a:rPr sz="1400" b="0">
                <a:solidFill>
                  <a:srgbClr val="3C4A58"/>
                </a:solidFill>
              </a:rPr>
              <a:t>Illustrative real-world analogy</a:t>
            </a:r>
          </a:p>
        </p:txBody>
      </p:sp>
      <p:sp>
        <p:nvSpPr>
          <p:cNvPr id="6" name="TextBox 5"/>
          <p:cNvSpPr txBox="1"/>
          <p:nvPr/>
        </p:nvSpPr>
        <p:spPr>
          <a:xfrm>
            <a:off x="4041648" y="1920240"/>
            <a:ext cx="4114800" cy="502920"/>
          </a:xfrm>
          <a:prstGeom prst="rect">
            <a:avLst/>
          </a:prstGeom>
          <a:noFill/>
        </p:spPr>
        <p:txBody>
          <a:bodyPr wrap="square" lIns="0" tIns="12700" rIns="0" bIns="0">
            <a:spAutoFit/>
          </a:bodyPr>
          <a:lstStyle/>
          <a:p>
            <a:pPr algn="ctr">
              <a:spcAft>
                <a:spcPts val="600"/>
              </a:spcAft>
            </a:pPr>
            <a:r>
              <a:rPr sz="3000" b="1">
                <a:solidFill>
                  <a:srgbClr val="172C42"/>
                </a:solidFill>
              </a:rPr>
              <a:t>animal.speak()</a:t>
            </a:r>
          </a:p>
        </p:txBody>
      </p:sp>
      <p:cxnSp>
        <p:nvCxnSpPr>
          <p:cNvPr id="7" name="Connector 6"/>
          <p:cNvCxnSpPr/>
          <p:nvPr/>
        </p:nvCxnSpPr>
        <p:spPr>
          <a:xfrm>
            <a:off x="6089904" y="2542032"/>
            <a:ext cx="0" cy="201168"/>
          </a:xfrm>
          <a:prstGeom prst="line">
            <a:avLst/>
          </a:prstGeom>
          <a:ln w="25400">
            <a:solidFill>
              <a:srgbClr val="007D87"/>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526280" y="2743200"/>
            <a:ext cx="3108960" cy="0"/>
          </a:xfrm>
          <a:prstGeom prst="line">
            <a:avLst/>
          </a:prstGeom>
          <a:ln w="25400">
            <a:solidFill>
              <a:srgbClr val="007D87"/>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526280" y="2743200"/>
            <a:ext cx="0" cy="182880"/>
          </a:xfrm>
          <a:prstGeom prst="line">
            <a:avLst/>
          </a:prstGeom>
          <a:ln w="25400">
            <a:solidFill>
              <a:srgbClr val="007D8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89904" y="2743200"/>
            <a:ext cx="0" cy="182880"/>
          </a:xfrm>
          <a:prstGeom prst="line">
            <a:avLst/>
          </a:prstGeom>
          <a:ln w="25400">
            <a:solidFill>
              <a:srgbClr val="007D8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35240" y="2743200"/>
            <a:ext cx="0" cy="182880"/>
          </a:xfrm>
          <a:prstGeom prst="line">
            <a:avLst/>
          </a:prstGeom>
          <a:ln w="25400">
            <a:solidFill>
              <a:srgbClr val="007D87"/>
            </a:solidFill>
          </a:ln>
        </p:spPr>
        <p:style>
          <a:lnRef idx="2">
            <a:schemeClr val="accent1"/>
          </a:lnRef>
          <a:fillRef idx="0">
            <a:schemeClr val="accent1"/>
          </a:fillRef>
          <a:effectRef idx="1">
            <a:schemeClr val="accent1"/>
          </a:effectRef>
          <a:fontRef idx="minor">
            <a:schemeClr val="tx1"/>
          </a:fontRef>
        </p:style>
      </p:cxnSp>
      <p:pic>
        <p:nvPicPr>
          <p:cNvPr id="12" name="Picture 11" descr="image-99c34cd3e6c82a6c6e5351d4a210324a.jpg"/>
          <p:cNvPicPr>
            <a:picLocks noChangeAspect="1"/>
          </p:cNvPicPr>
          <p:nvPr/>
        </p:nvPicPr>
        <p:blipFill>
          <a:blip r:embed="rId3"/>
          <a:stretch>
            <a:fillRect/>
          </a:stretch>
        </p:blipFill>
        <p:spPr>
          <a:xfrm>
            <a:off x="4110995" y="3337559"/>
            <a:ext cx="3985249" cy="2212848"/>
          </a:xfrm>
          <a:prstGeom prst="rect">
            <a:avLst/>
          </a:prstGeom>
        </p:spPr>
      </p:pic>
      <p:sp>
        <p:nvSpPr>
          <p:cNvPr id="13" name="TextBox 12"/>
          <p:cNvSpPr txBox="1"/>
          <p:nvPr/>
        </p:nvSpPr>
        <p:spPr>
          <a:xfrm>
            <a:off x="3749040" y="2944368"/>
            <a:ext cx="1554480" cy="347472"/>
          </a:xfrm>
          <a:prstGeom prst="rect">
            <a:avLst/>
          </a:prstGeom>
          <a:noFill/>
        </p:spPr>
        <p:txBody>
          <a:bodyPr wrap="square" lIns="0" tIns="12700" rIns="0" bIns="0">
            <a:spAutoFit/>
          </a:bodyPr>
          <a:lstStyle/>
          <a:p>
            <a:pPr algn="ctr">
              <a:spcAft>
                <a:spcPts val="600"/>
              </a:spcAft>
            </a:pPr>
            <a:r>
              <a:rPr sz="2200" b="1">
                <a:solidFill>
                  <a:srgbClr val="172C42"/>
                </a:solidFill>
              </a:rPr>
              <a:t>Dog</a:t>
            </a:r>
          </a:p>
        </p:txBody>
      </p:sp>
      <p:sp>
        <p:nvSpPr>
          <p:cNvPr id="14" name="TextBox 13"/>
          <p:cNvSpPr txBox="1"/>
          <p:nvPr/>
        </p:nvSpPr>
        <p:spPr>
          <a:xfrm>
            <a:off x="3749040" y="5550408"/>
            <a:ext cx="1554480" cy="347472"/>
          </a:xfrm>
          <a:prstGeom prst="rect">
            <a:avLst/>
          </a:prstGeom>
          <a:noFill/>
        </p:spPr>
        <p:txBody>
          <a:bodyPr wrap="square" lIns="0" tIns="12700" rIns="0" bIns="0">
            <a:spAutoFit/>
          </a:bodyPr>
          <a:lstStyle/>
          <a:p>
            <a:pPr algn="ctr">
              <a:spcAft>
                <a:spcPts val="600"/>
              </a:spcAft>
            </a:pPr>
            <a:r>
              <a:rPr sz="2300" b="1">
                <a:solidFill>
                  <a:srgbClr val="007D87"/>
                </a:solidFill>
              </a:rPr>
              <a:t>“Woof!”</a:t>
            </a:r>
          </a:p>
        </p:txBody>
      </p:sp>
      <p:sp>
        <p:nvSpPr>
          <p:cNvPr id="15" name="TextBox 14"/>
          <p:cNvSpPr txBox="1"/>
          <p:nvPr/>
        </p:nvSpPr>
        <p:spPr>
          <a:xfrm>
            <a:off x="5312664" y="2944368"/>
            <a:ext cx="1554480" cy="347472"/>
          </a:xfrm>
          <a:prstGeom prst="rect">
            <a:avLst/>
          </a:prstGeom>
          <a:noFill/>
        </p:spPr>
        <p:txBody>
          <a:bodyPr wrap="square" lIns="0" tIns="12700" rIns="0" bIns="0">
            <a:spAutoFit/>
          </a:bodyPr>
          <a:lstStyle/>
          <a:p>
            <a:pPr algn="ctr">
              <a:spcAft>
                <a:spcPts val="600"/>
              </a:spcAft>
            </a:pPr>
            <a:r>
              <a:rPr sz="2200" b="1">
                <a:solidFill>
                  <a:srgbClr val="172C42"/>
                </a:solidFill>
              </a:rPr>
              <a:t>Cat</a:t>
            </a:r>
          </a:p>
        </p:txBody>
      </p:sp>
      <p:sp>
        <p:nvSpPr>
          <p:cNvPr id="16" name="TextBox 15"/>
          <p:cNvSpPr txBox="1"/>
          <p:nvPr/>
        </p:nvSpPr>
        <p:spPr>
          <a:xfrm>
            <a:off x="5312664" y="5550408"/>
            <a:ext cx="1554480" cy="347472"/>
          </a:xfrm>
          <a:prstGeom prst="rect">
            <a:avLst/>
          </a:prstGeom>
          <a:noFill/>
        </p:spPr>
        <p:txBody>
          <a:bodyPr wrap="square" lIns="0" tIns="12700" rIns="0" bIns="0">
            <a:spAutoFit/>
          </a:bodyPr>
          <a:lstStyle/>
          <a:p>
            <a:pPr algn="ctr">
              <a:spcAft>
                <a:spcPts val="600"/>
              </a:spcAft>
            </a:pPr>
            <a:r>
              <a:rPr sz="2300" b="1">
                <a:solidFill>
                  <a:srgbClr val="007D87"/>
                </a:solidFill>
              </a:rPr>
              <a:t>“Meow.”</a:t>
            </a:r>
          </a:p>
        </p:txBody>
      </p:sp>
      <p:sp>
        <p:nvSpPr>
          <p:cNvPr id="17" name="TextBox 16"/>
          <p:cNvSpPr txBox="1"/>
          <p:nvPr/>
        </p:nvSpPr>
        <p:spPr>
          <a:xfrm>
            <a:off x="6858000" y="2944368"/>
            <a:ext cx="1554480" cy="347472"/>
          </a:xfrm>
          <a:prstGeom prst="rect">
            <a:avLst/>
          </a:prstGeom>
          <a:noFill/>
        </p:spPr>
        <p:txBody>
          <a:bodyPr wrap="square" lIns="0" tIns="12700" rIns="0" bIns="0">
            <a:spAutoFit/>
          </a:bodyPr>
          <a:lstStyle/>
          <a:p>
            <a:pPr algn="ctr">
              <a:spcAft>
                <a:spcPts val="600"/>
              </a:spcAft>
            </a:pPr>
            <a:r>
              <a:rPr sz="2200" b="1">
                <a:solidFill>
                  <a:srgbClr val="172C42"/>
                </a:solidFill>
              </a:rPr>
              <a:t>Duck</a:t>
            </a:r>
          </a:p>
        </p:txBody>
      </p:sp>
      <p:sp>
        <p:nvSpPr>
          <p:cNvPr id="18" name="TextBox 17"/>
          <p:cNvSpPr txBox="1"/>
          <p:nvPr/>
        </p:nvSpPr>
        <p:spPr>
          <a:xfrm>
            <a:off x="6858000" y="5550408"/>
            <a:ext cx="1554480" cy="347472"/>
          </a:xfrm>
          <a:prstGeom prst="rect">
            <a:avLst/>
          </a:prstGeom>
          <a:noFill/>
        </p:spPr>
        <p:txBody>
          <a:bodyPr wrap="square" lIns="0" tIns="12700" rIns="0" bIns="0">
            <a:spAutoFit/>
          </a:bodyPr>
          <a:lstStyle/>
          <a:p>
            <a:pPr algn="ctr">
              <a:spcAft>
                <a:spcPts val="600"/>
              </a:spcAft>
            </a:pPr>
            <a:r>
              <a:rPr sz="2300" b="1">
                <a:solidFill>
                  <a:srgbClr val="007D87"/>
                </a:solidFill>
              </a:rPr>
              <a:t>“QUACK!”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dirty="0">
                <a:solidFill>
                  <a:srgbClr val="172C42"/>
                </a:solidFill>
              </a:rPr>
              <a:t>OOSE: Object-oriented Software Engineering</a:t>
            </a:r>
            <a:endParaRPr lang="en-US" dirty="0"/>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685800"/>
          </a:xfrm>
        </p:spPr>
        <p:txBody>
          <a:bodyPr wrap="square" lIns="0" tIns="0" rIns="0" bIns="0"/>
          <a:lstStyle/>
          <a:p>
            <a:pPr algn="l">
              <a:spcAft>
                <a:spcPts val="600"/>
              </a:spcAft>
            </a:pPr>
            <a:r>
              <a:rPr lang="en-US" sz="2200" b="0" dirty="0">
                <a:solidFill>
                  <a:srgbClr val="3C4A58"/>
                </a:solidFill>
              </a:rPr>
              <a:t>You describe the bank as objects, then decide how those objects work together.</a:t>
            </a:r>
            <a:endParaRPr lang="en-US" dirty="0"/>
          </a:p>
        </p:txBody>
      </p:sp>
      <p:graphicFrame>
        <p:nvGraphicFramePr>
          <p:cNvPr id="4" name="Table 3"/>
          <p:cNvGraphicFramePr>
            <a:graphicFrameLocks noGrp="1"/>
          </p:cNvGraphicFramePr>
          <p:nvPr/>
        </p:nvGraphicFramePr>
        <p:xfrm>
          <a:off x="594360" y="2057400"/>
          <a:ext cx="11000232" cy="416052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3703320">
                  <a:extLst>
                    <a:ext uri="{9D8B030D-6E8A-4147-A177-3AD203B41FA5}">
                      <a16:colId xmlns:a16="http://schemas.microsoft.com/office/drawing/2014/main" val="20001"/>
                    </a:ext>
                  </a:extLst>
                </a:gridCol>
                <a:gridCol w="5833872">
                  <a:extLst>
                    <a:ext uri="{9D8B030D-6E8A-4147-A177-3AD203B41FA5}">
                      <a16:colId xmlns:a16="http://schemas.microsoft.com/office/drawing/2014/main" val="20002"/>
                    </a:ext>
                  </a:extLst>
                </a:gridCol>
              </a:tblGrid>
              <a:tr h="502920">
                <a:tc>
                  <a:txBody>
                    <a:bodyPr/>
                    <a:lstStyle/>
                    <a:p>
                      <a:pPr algn="l">
                        <a:spcAft>
                          <a:spcPts val="400"/>
                        </a:spcAft>
                      </a:pPr>
                      <a:r>
                        <a:rPr sz="1700" b="1">
                          <a:solidFill>
                            <a:srgbClr val="FFFFFF"/>
                          </a:solidFill>
                        </a:rPr>
                        <a:t>Step</a:t>
                      </a:r>
                    </a:p>
                  </a:txBody>
                  <a:tcPr marL="164592" marR="164592" marT="109728" marB="73152">
                    <a:lnL>
                      <a:noFill/>
                    </a:lnL>
                    <a:lnR>
                      <a:noFill/>
                    </a:lnR>
                    <a:lnT>
                      <a:noFill/>
                    </a:lnT>
                    <a:lnB>
                      <a:noFill/>
                    </a:lnB>
                    <a:solidFill>
                      <a:srgbClr val="172C42"/>
                    </a:solidFill>
                  </a:tcPr>
                </a:tc>
                <a:tc>
                  <a:txBody>
                    <a:bodyPr/>
                    <a:lstStyle/>
                    <a:p>
                      <a:pPr algn="l">
                        <a:spcAft>
                          <a:spcPts val="400"/>
                        </a:spcAft>
                      </a:pPr>
                      <a:r>
                        <a:rPr sz="1700" b="1">
                          <a:solidFill>
                            <a:srgbClr val="FFFFFF"/>
                          </a:solidFill>
                        </a:rPr>
                        <a:t>Question it answers</a:t>
                      </a:r>
                    </a:p>
                  </a:txBody>
                  <a:tcPr marL="164592" marR="164592" marT="109728" marB="73152">
                    <a:lnL>
                      <a:noFill/>
                    </a:lnL>
                    <a:lnR>
                      <a:noFill/>
                    </a:lnR>
                    <a:lnT>
                      <a:noFill/>
                    </a:lnT>
                    <a:lnB>
                      <a:noFill/>
                    </a:lnB>
                    <a:solidFill>
                      <a:srgbClr val="172C42"/>
                    </a:solidFill>
                  </a:tcPr>
                </a:tc>
                <a:tc>
                  <a:txBody>
                    <a:bodyPr/>
                    <a:lstStyle/>
                    <a:p>
                      <a:pPr algn="l">
                        <a:spcAft>
                          <a:spcPts val="400"/>
                        </a:spcAft>
                      </a:pPr>
                      <a:r>
                        <a:rPr sz="1700" b="1">
                          <a:solidFill>
                            <a:srgbClr val="FFFFFF"/>
                          </a:solidFill>
                        </a:rPr>
                        <a:t>In Northline Bank</a:t>
                      </a:r>
                    </a:p>
                  </a:txBody>
                  <a:tcPr marL="164592" marR="164592" marT="109728" marB="73152">
                    <a:lnL>
                      <a:noFill/>
                    </a:lnL>
                    <a:lnR>
                      <a:noFill/>
                    </a:lnR>
                    <a:lnT>
                      <a:noFill/>
                    </a:lnT>
                    <a:lnB>
                      <a:noFill/>
                    </a:lnB>
                    <a:solidFill>
                      <a:srgbClr val="172C42"/>
                    </a:solidFill>
                  </a:tcPr>
                </a:tc>
                <a:extLst>
                  <a:ext uri="{0D108BD9-81ED-4DB2-BD59-A6C34878D82A}">
                    <a16:rowId xmlns:a16="http://schemas.microsoft.com/office/drawing/2014/main" val="10000"/>
                  </a:ext>
                </a:extLst>
              </a:tr>
              <a:tr h="1188720">
                <a:tc>
                  <a:txBody>
                    <a:bodyPr/>
                    <a:lstStyle/>
                    <a:p>
                      <a:pPr algn="l">
                        <a:spcAft>
                          <a:spcPts val="400"/>
                        </a:spcAft>
                      </a:pPr>
                      <a:r>
                        <a:rPr sz="1800" b="1">
                          <a:solidFill>
                            <a:srgbClr val="172C42"/>
                          </a:solidFill>
                        </a:rPr>
                        <a:t>Analysis</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Who uses the bank, and what must they be able to do?</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Customer, ATM, teller, and manager.</a:t>
                      </a:r>
                    </a:p>
                    <a:p>
                      <a:pPr algn="l">
                        <a:spcAft>
                          <a:spcPts val="400"/>
                        </a:spcAft>
                      </a:pPr>
                      <a:r>
                        <a:rPr sz="1800" b="0">
                          <a:solidFill>
                            <a:srgbClr val="172C42"/>
                          </a:solidFill>
                        </a:rPr>
                        <a:t>Jobs such as deposit, transfer, and close account.</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1"/>
                  </a:ext>
                </a:extLst>
              </a:tr>
              <a:tr h="1371600">
                <a:tc>
                  <a:txBody>
                    <a:bodyPr/>
                    <a:lstStyle/>
                    <a:p>
                      <a:pPr algn="l">
                        <a:spcAft>
                          <a:spcPts val="400"/>
                        </a:spcAft>
                      </a:pPr>
                      <a:r>
                        <a:rPr sz="1800" b="1">
                          <a:solidFill>
                            <a:srgbClr val="172C42"/>
                          </a:solidFill>
                        </a:rPr>
                        <a:t>Design</a:t>
                      </a:r>
                    </a:p>
                  </a:txBody>
                  <a:tcPr marL="164592" marR="164592" marT="109728" marB="73152">
                    <a:lnL>
                      <a:noFill/>
                    </a:lnL>
                    <a:lnR>
                      <a:noFill/>
                    </a:lnR>
                    <a:lnT>
                      <a:noFill/>
                    </a:lnT>
                    <a:lnB>
                      <a:noFill/>
                    </a:lnB>
                    <a:solidFill>
                      <a:srgbClr val="FFFFFF"/>
                    </a:solidFill>
                  </a:tcPr>
                </a:tc>
                <a:tc>
                  <a:txBody>
                    <a:bodyPr/>
                    <a:lstStyle/>
                    <a:p>
                      <a:pPr algn="l">
                        <a:spcAft>
                          <a:spcPts val="400"/>
                        </a:spcAft>
                      </a:pPr>
                      <a:r>
                        <a:rPr sz="1800" b="0">
                          <a:solidFill>
                            <a:srgbClr val="172C42"/>
                          </a:solidFill>
                        </a:rPr>
                        <a:t>Which objects hold the data, and which objects do the work?</a:t>
                      </a:r>
                    </a:p>
                  </a:txBody>
                  <a:tcPr marL="164592" marR="164592" marT="109728" marB="73152">
                    <a:lnL>
                      <a:noFill/>
                    </a:lnL>
                    <a:lnR>
                      <a:noFill/>
                    </a:lnR>
                    <a:lnT>
                      <a:noFill/>
                    </a:lnT>
                    <a:lnB>
                      <a:noFill/>
                    </a:lnB>
                    <a:solidFill>
                      <a:srgbClr val="FFFFFF"/>
                    </a:solidFill>
                  </a:tcPr>
                </a:tc>
                <a:tc>
                  <a:txBody>
                    <a:bodyPr/>
                    <a:lstStyle/>
                    <a:p>
                      <a:pPr algn="l">
                        <a:spcAft>
                          <a:spcPts val="400"/>
                        </a:spcAft>
                      </a:pPr>
                      <a:r>
                        <a:rPr sz="1800" b="0">
                          <a:solidFill>
                            <a:srgbClr val="172C42"/>
                          </a:solidFill>
                        </a:rPr>
                        <a:t>An account holds the balance. The clerk checks the balance and moves the money. The page only shows the result.</a:t>
                      </a:r>
                    </a:p>
                  </a:txBody>
                  <a:tcPr marL="164592" marR="164592" marT="109728" marB="73152">
                    <a:lnL>
                      <a:noFill/>
                    </a:lnL>
                    <a:lnR>
                      <a:noFill/>
                    </a:lnR>
                    <a:lnT>
                      <a:noFill/>
                    </a:lnT>
                    <a:lnB>
                      <a:noFill/>
                    </a:lnB>
                    <a:solidFill>
                      <a:srgbClr val="FFFFFF"/>
                    </a:solidFill>
                  </a:tcPr>
                </a:tc>
                <a:extLst>
                  <a:ext uri="{0D108BD9-81ED-4DB2-BD59-A6C34878D82A}">
                    <a16:rowId xmlns:a16="http://schemas.microsoft.com/office/drawing/2014/main" val="10002"/>
                  </a:ext>
                </a:extLst>
              </a:tr>
              <a:tr h="1097280">
                <a:tc>
                  <a:txBody>
                    <a:bodyPr/>
                    <a:lstStyle/>
                    <a:p>
                      <a:pPr algn="l">
                        <a:spcAft>
                          <a:spcPts val="400"/>
                        </a:spcAft>
                      </a:pPr>
                      <a:r>
                        <a:rPr sz="1800" b="1">
                          <a:solidFill>
                            <a:srgbClr val="172C42"/>
                          </a:solidFill>
                        </a:rPr>
                        <a:t>Object</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A thing with facts and actions</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Account: account number, balance, open or closed.</a:t>
                      </a:r>
                    </a:p>
                    <a:p>
                      <a:pPr algn="l">
                        <a:spcAft>
                          <a:spcPts val="400"/>
                        </a:spcAft>
                      </a:pPr>
                      <a:r>
                        <a:rPr sz="1800" b="0">
                          <a:solidFill>
                            <a:srgbClr val="172C42"/>
                          </a:solidFill>
                        </a:rPr>
                        <a:t>Actions: deposit, withdraw.</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75069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10972800" cy="548640"/>
          </a:xfrm>
          <a:prstGeom prst="rect">
            <a:avLst/>
          </a:prstGeom>
          <a:noFill/>
        </p:spPr>
        <p:txBody>
          <a:bodyPr wrap="square" lIns="0" tIns="0" rIns="0" bIns="0" anchor="t">
            <a:spAutoFit/>
          </a:bodyPr>
          <a:lstStyle/>
          <a:p>
            <a:pPr algn="l">
              <a:spcAft>
                <a:spcPts val="900"/>
              </a:spcAft>
            </a:pPr>
            <a:r>
              <a:rPr sz="3200" b="1">
                <a:solidFill>
                  <a:srgbClr val="172C42"/>
                </a:solidFill>
              </a:rPr>
              <a:t>OOSE: the bank’s object team</a:t>
            </a:r>
          </a:p>
        </p:txBody>
      </p:sp>
      <p:sp>
        <p:nvSpPr>
          <p:cNvPr id="3" name="TextBox 2"/>
          <p:cNvSpPr txBox="1"/>
          <p:nvPr/>
        </p:nvSpPr>
        <p:spPr>
          <a:xfrm>
            <a:off x="594360" y="1143000"/>
            <a:ext cx="10972800" cy="822960"/>
          </a:xfrm>
          <a:prstGeom prst="rect">
            <a:avLst/>
          </a:prstGeom>
          <a:noFill/>
        </p:spPr>
        <p:txBody>
          <a:bodyPr wrap="square" lIns="0" tIns="0" rIns="0" bIns="0" anchor="t">
            <a:spAutoFit/>
          </a:bodyPr>
          <a:lstStyle/>
          <a:p>
            <a:pPr algn="l">
              <a:spcAft>
                <a:spcPts val="900"/>
              </a:spcAft>
            </a:pPr>
            <a:r>
              <a:rPr sz="2200" b="0">
                <a:solidFill>
                  <a:srgbClr val="3C4A58"/>
                </a:solidFill>
              </a:rPr>
              <a:t>Object-oriented Software Engineering gives collaborating objects clear responsibilities.</a:t>
            </a:r>
          </a:p>
        </p:txBody>
      </p:sp>
      <p:sp>
        <p:nvSpPr>
          <p:cNvPr id="4" name="TextBox 3"/>
          <p:cNvSpPr txBox="1"/>
          <p:nvPr/>
        </p:nvSpPr>
        <p:spPr>
          <a:xfrm>
            <a:off x="594360" y="6437376"/>
            <a:ext cx="10972800" cy="228600"/>
          </a:xfrm>
          <a:prstGeom prst="rect">
            <a:avLst/>
          </a:prstGeom>
          <a:noFill/>
        </p:spPr>
        <p:txBody>
          <a:bodyPr wrap="square" lIns="0" tIns="12700" rIns="0" bIns="0">
            <a:spAutoFit/>
          </a:bodyPr>
          <a:lstStyle/>
          <a:p>
            <a:pPr>
              <a:spcAft>
                <a:spcPts val="600"/>
              </a:spcAft>
            </a:pPr>
            <a:r>
              <a:rPr sz="1400" b="0">
                <a:solidFill>
                  <a:srgbClr val="3C4A58"/>
                </a:solidFill>
              </a:rPr>
              <a:t>Illustrative bank model, based on the preceding OOSE slide</a:t>
            </a:r>
          </a:p>
        </p:txBody>
      </p:sp>
      <p:pic>
        <p:nvPicPr>
          <p:cNvPr id="5" name="Picture 4" descr="image-03ed812d11fbea36f726638e36a99fbe.jpg"/>
          <p:cNvPicPr>
            <a:picLocks noChangeAspect="1"/>
          </p:cNvPicPr>
          <p:nvPr/>
        </p:nvPicPr>
        <p:blipFill>
          <a:blip r:embed="rId3"/>
          <a:stretch>
            <a:fillRect/>
          </a:stretch>
        </p:blipFill>
        <p:spPr>
          <a:xfrm>
            <a:off x="1225295" y="1920240"/>
            <a:ext cx="5596128" cy="3730752"/>
          </a:xfrm>
          <a:prstGeom prst="rect">
            <a:avLst/>
          </a:prstGeom>
        </p:spPr>
      </p:pic>
      <p:sp>
        <p:nvSpPr>
          <p:cNvPr id="6" name="TextBox 5"/>
          <p:cNvSpPr txBox="1"/>
          <p:nvPr/>
        </p:nvSpPr>
        <p:spPr>
          <a:xfrm>
            <a:off x="7818120" y="1965960"/>
            <a:ext cx="3749039" cy="320040"/>
          </a:xfrm>
          <a:prstGeom prst="rect">
            <a:avLst/>
          </a:prstGeom>
          <a:noFill/>
        </p:spPr>
        <p:txBody>
          <a:bodyPr wrap="square" lIns="0" tIns="12700" rIns="0" bIns="0">
            <a:spAutoFit/>
          </a:bodyPr>
          <a:lstStyle/>
          <a:p>
            <a:pPr>
              <a:spcAft>
                <a:spcPts val="600"/>
              </a:spcAft>
            </a:pPr>
            <a:r>
              <a:rPr sz="1900" b="1">
                <a:solidFill>
                  <a:srgbClr val="007D87"/>
                </a:solidFill>
              </a:rPr>
              <a:t>ANALYSIS</a:t>
            </a:r>
          </a:p>
        </p:txBody>
      </p:sp>
      <p:sp>
        <p:nvSpPr>
          <p:cNvPr id="7" name="TextBox 6"/>
          <p:cNvSpPr txBox="1"/>
          <p:nvPr/>
        </p:nvSpPr>
        <p:spPr>
          <a:xfrm>
            <a:off x="7818120" y="2350008"/>
            <a:ext cx="3749039" cy="914400"/>
          </a:xfrm>
          <a:prstGeom prst="rect">
            <a:avLst/>
          </a:prstGeom>
          <a:noFill/>
        </p:spPr>
        <p:txBody>
          <a:bodyPr wrap="square" lIns="0" tIns="12700" rIns="0" bIns="0">
            <a:spAutoFit/>
          </a:bodyPr>
          <a:lstStyle/>
          <a:p>
            <a:pPr>
              <a:spcAft>
                <a:spcPts val="600"/>
              </a:spcAft>
            </a:pPr>
            <a:r>
              <a:rPr sz="2300" b="0">
                <a:solidFill>
                  <a:srgbClr val="172C42"/>
                </a:solidFill>
              </a:rPr>
              <a:t>Customer needs:</a:t>
            </a:r>
          </a:p>
          <a:p>
            <a:pPr>
              <a:spcAft>
                <a:spcPts val="600"/>
              </a:spcAft>
            </a:pPr>
            <a:r>
              <a:rPr sz="2300" b="0">
                <a:solidFill>
                  <a:srgbClr val="172C42"/>
                </a:solidFill>
              </a:rPr>
              <a:t>deposit and withdrawal.</a:t>
            </a:r>
          </a:p>
        </p:txBody>
      </p:sp>
      <p:sp>
        <p:nvSpPr>
          <p:cNvPr id="8" name="TextBox 7"/>
          <p:cNvSpPr txBox="1"/>
          <p:nvPr/>
        </p:nvSpPr>
        <p:spPr>
          <a:xfrm>
            <a:off x="7818120" y="3410712"/>
            <a:ext cx="3749039" cy="320040"/>
          </a:xfrm>
          <a:prstGeom prst="rect">
            <a:avLst/>
          </a:prstGeom>
          <a:noFill/>
        </p:spPr>
        <p:txBody>
          <a:bodyPr wrap="square" lIns="0" tIns="12700" rIns="0" bIns="0">
            <a:spAutoFit/>
          </a:bodyPr>
          <a:lstStyle/>
          <a:p>
            <a:pPr>
              <a:spcAft>
                <a:spcPts val="600"/>
              </a:spcAft>
            </a:pPr>
            <a:r>
              <a:rPr sz="1900" b="1">
                <a:solidFill>
                  <a:srgbClr val="007D87"/>
                </a:solidFill>
              </a:rPr>
              <a:t>DESIGN</a:t>
            </a:r>
          </a:p>
        </p:txBody>
      </p:sp>
      <p:sp>
        <p:nvSpPr>
          <p:cNvPr id="9" name="TextBox 8"/>
          <p:cNvSpPr txBox="1"/>
          <p:nvPr/>
        </p:nvSpPr>
        <p:spPr>
          <a:xfrm>
            <a:off x="7818120" y="3803904"/>
            <a:ext cx="3749039" cy="1508760"/>
          </a:xfrm>
          <a:prstGeom prst="rect">
            <a:avLst/>
          </a:prstGeom>
          <a:noFill/>
        </p:spPr>
        <p:txBody>
          <a:bodyPr wrap="square" lIns="0" tIns="12700" rIns="0" bIns="0">
            <a:spAutoFit/>
          </a:bodyPr>
          <a:lstStyle/>
          <a:p>
            <a:pPr>
              <a:spcAft>
                <a:spcPts val="600"/>
              </a:spcAft>
            </a:pPr>
            <a:r>
              <a:rPr sz="2200" b="0">
                <a:solidFill>
                  <a:srgbClr val="172C42"/>
                </a:solidFill>
              </a:rPr>
              <a:t>Account holds the balance.</a:t>
            </a:r>
          </a:p>
          <a:p>
            <a:pPr>
              <a:spcAft>
                <a:spcPts val="600"/>
              </a:spcAft>
            </a:pPr>
            <a:r>
              <a:rPr sz="2200" b="0">
                <a:solidFill>
                  <a:srgbClr val="172C42"/>
                </a:solidFill>
              </a:rPr>
              <a:t>Clerk checks and moves money.</a:t>
            </a:r>
          </a:p>
          <a:p>
            <a:pPr>
              <a:spcAft>
                <a:spcPts val="600"/>
              </a:spcAft>
            </a:pPr>
            <a:r>
              <a:rPr sz="2200" b="0">
                <a:solidFill>
                  <a:srgbClr val="172C42"/>
                </a:solidFill>
              </a:rPr>
              <a:t>Page shows the result.</a:t>
            </a:r>
          </a:p>
        </p:txBody>
      </p:sp>
      <p:sp>
        <p:nvSpPr>
          <p:cNvPr id="10" name="TextBox 9"/>
          <p:cNvSpPr txBox="1"/>
          <p:nvPr/>
        </p:nvSpPr>
        <p:spPr>
          <a:xfrm>
            <a:off x="594360" y="5907024"/>
            <a:ext cx="10972800" cy="457200"/>
          </a:xfrm>
          <a:prstGeom prst="rect">
            <a:avLst/>
          </a:prstGeom>
          <a:noFill/>
        </p:spPr>
        <p:txBody>
          <a:bodyPr wrap="square" lIns="0" tIns="12700" rIns="0" bIns="0">
            <a:spAutoFit/>
          </a:bodyPr>
          <a:lstStyle/>
          <a:p>
            <a:pPr>
              <a:spcAft>
                <a:spcPts val="600"/>
              </a:spcAft>
            </a:pPr>
            <a:r>
              <a:rPr sz="2300" b="1">
                <a:solidFill>
                  <a:srgbClr val="172C42"/>
                </a:solidFill>
              </a:rPr>
              <a:t>“The account keeps the money. The page takes all the credit.”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10972800" cy="548640"/>
          </a:xfrm>
          <a:prstGeom prst="rect">
            <a:avLst/>
          </a:prstGeom>
          <a:noFill/>
        </p:spPr>
        <p:txBody>
          <a:bodyPr wrap="square" lIns="0" tIns="0" rIns="0" bIns="0" anchor="t">
            <a:spAutoFit/>
          </a:bodyPr>
          <a:lstStyle/>
          <a:p>
            <a:pPr algn="l">
              <a:spcAft>
                <a:spcPts val="800"/>
              </a:spcAft>
            </a:pPr>
            <a:r>
              <a:rPr sz="3200" b="1" dirty="0">
                <a:solidFill>
                  <a:srgbClr val="172C42"/>
                </a:solidFill>
              </a:rPr>
              <a:t>Reverse engineering familiar apps</a:t>
            </a:r>
          </a:p>
        </p:txBody>
      </p:sp>
      <p:sp>
        <p:nvSpPr>
          <p:cNvPr id="3" name="TextBox 2"/>
          <p:cNvSpPr txBox="1"/>
          <p:nvPr/>
        </p:nvSpPr>
        <p:spPr>
          <a:xfrm>
            <a:off x="594360" y="1143000"/>
            <a:ext cx="10972800" cy="868680"/>
          </a:xfrm>
          <a:prstGeom prst="rect">
            <a:avLst/>
          </a:prstGeom>
          <a:noFill/>
        </p:spPr>
        <p:txBody>
          <a:bodyPr wrap="square" lIns="0" tIns="0" rIns="0" bIns="0" anchor="t">
            <a:spAutoFit/>
          </a:bodyPr>
          <a:lstStyle/>
          <a:p>
            <a:pPr algn="l">
              <a:spcAft>
                <a:spcPts val="800"/>
              </a:spcAft>
            </a:pPr>
            <a:r>
              <a:rPr sz="2200" b="0" dirty="0">
                <a:solidFill>
                  <a:srgbClr val="3C4A58"/>
                </a:solidFill>
              </a:rPr>
              <a:t>Start with what the user can do. A class describes a type of thing. An object is one specific instance.</a:t>
            </a:r>
          </a:p>
        </p:txBody>
      </p:sp>
      <p:sp>
        <p:nvSpPr>
          <p:cNvPr id="4" name="TextBox 3"/>
          <p:cNvSpPr txBox="1"/>
          <p:nvPr/>
        </p:nvSpPr>
        <p:spPr>
          <a:xfrm>
            <a:off x="594360" y="6437376"/>
            <a:ext cx="10972800" cy="228600"/>
          </a:xfrm>
          <a:prstGeom prst="rect">
            <a:avLst/>
          </a:prstGeom>
          <a:noFill/>
        </p:spPr>
        <p:txBody>
          <a:bodyPr wrap="square" lIns="0" tIns="0" rIns="0" bIns="0" anchor="t">
            <a:spAutoFit/>
          </a:bodyPr>
          <a:lstStyle/>
          <a:p>
            <a:pPr algn="l">
              <a:spcAft>
                <a:spcPts val="800"/>
              </a:spcAft>
            </a:pPr>
            <a:r>
              <a:rPr sz="1400" b="0">
                <a:solidFill>
                  <a:srgbClr val="3C4A58"/>
                </a:solidFill>
              </a:rPr>
              <a:t>Illustrative models and sample objects, not the apps’ internal code</a:t>
            </a:r>
          </a:p>
        </p:txBody>
      </p:sp>
      <p:graphicFrame>
        <p:nvGraphicFramePr>
          <p:cNvPr id="6" name="Table 3"/>
          <p:cNvGraphicFramePr>
            <a:graphicFrameLocks noGrp="1"/>
          </p:cNvGraphicFramePr>
          <p:nvPr>
            <p:extLst>
              <p:ext uri="{D42A27DB-BD31-4B8C-83A1-F6EECF244321}">
                <p14:modId xmlns:p14="http://schemas.microsoft.com/office/powerpoint/2010/main" val="298256318"/>
              </p:ext>
            </p:extLst>
          </p:nvPr>
        </p:nvGraphicFramePr>
        <p:xfrm>
          <a:off x="594360" y="2148840"/>
          <a:ext cx="11156916" cy="4128391"/>
        </p:xfrm>
        <a:graphic>
          <a:graphicData uri="http://schemas.openxmlformats.org/drawingml/2006/table">
            <a:tbl>
              <a:tblPr firstRow="1" bandRow="1">
                <a:tableStyleId>{5C22544A-7EE6-4342-B048-85BDC9FD1C3A}</a:tableStyleId>
              </a:tblPr>
              <a:tblGrid>
                <a:gridCol w="11156916">
                  <a:extLst>
                    <a:ext uri="{9D8B030D-6E8A-4147-A177-3AD203B41FA5}">
                      <a16:colId xmlns:a16="http://schemas.microsoft.com/office/drawing/2014/main" val="20000"/>
                    </a:ext>
                  </a:extLst>
                </a:gridCol>
              </a:tblGrid>
              <a:tr h="547136">
                <a:tc>
                  <a:txBody>
                    <a:bodyPr/>
                    <a:lstStyle/>
                    <a:p>
                      <a:pPr algn="ctr">
                        <a:spcAft>
                          <a:spcPts val="0"/>
                        </a:spcAft>
                      </a:pPr>
                      <a:r>
                        <a:rPr sz="1700" b="1" dirty="0">
                          <a:solidFill>
                            <a:srgbClr val="FFFFFF"/>
                          </a:solidFill>
                        </a:rPr>
                        <a:t>App</a:t>
                      </a:r>
                    </a:p>
                  </a:txBody>
                  <a:tcPr marL="164592" marR="164592" marT="54864" marB="36576">
                    <a:lnL>
                      <a:noFill/>
                    </a:lnL>
                    <a:lnR>
                      <a:noFill/>
                    </a:lnR>
                    <a:lnT>
                      <a:noFill/>
                    </a:lnT>
                    <a:lnB>
                      <a:noFill/>
                    </a:lnB>
                    <a:solidFill>
                      <a:srgbClr val="172C42"/>
                    </a:solidFill>
                  </a:tcPr>
                </a:tc>
                <a:extLst>
                  <a:ext uri="{0D108BD9-81ED-4DB2-BD59-A6C34878D82A}">
                    <a16:rowId xmlns:a16="http://schemas.microsoft.com/office/drawing/2014/main" val="10000"/>
                  </a:ext>
                </a:extLst>
              </a:tr>
              <a:tr h="716251">
                <a:tc>
                  <a:txBody>
                    <a:bodyPr/>
                    <a:lstStyle/>
                    <a:p>
                      <a:pPr algn="ctr">
                        <a:spcAft>
                          <a:spcPts val="0"/>
                        </a:spcAft>
                      </a:pPr>
                      <a:r>
                        <a:rPr sz="1800" b="1">
                          <a:solidFill>
                            <a:srgbClr val="172C42"/>
                          </a:solidFill>
                        </a:rPr>
                        <a:t>Swiggy</a:t>
                      </a:r>
                    </a:p>
                  </a:txBody>
                  <a:tcPr marL="164592" marR="164592" marT="54864" marB="36576">
                    <a:lnL>
                      <a:noFill/>
                    </a:lnL>
                    <a:lnR>
                      <a:noFill/>
                    </a:lnR>
                    <a:lnT>
                      <a:noFill/>
                    </a:lnT>
                    <a:lnB>
                      <a:noFill/>
                    </a:lnB>
                    <a:solidFill>
                      <a:srgbClr val="EEF2F5"/>
                    </a:solidFill>
                  </a:tcPr>
                </a:tc>
                <a:extLst>
                  <a:ext uri="{0D108BD9-81ED-4DB2-BD59-A6C34878D82A}">
                    <a16:rowId xmlns:a16="http://schemas.microsoft.com/office/drawing/2014/main" val="10001"/>
                  </a:ext>
                </a:extLst>
              </a:tr>
              <a:tr h="716251">
                <a:tc>
                  <a:txBody>
                    <a:bodyPr/>
                    <a:lstStyle/>
                    <a:p>
                      <a:pPr algn="ctr">
                        <a:spcAft>
                          <a:spcPts val="0"/>
                        </a:spcAft>
                      </a:pPr>
                      <a:r>
                        <a:rPr sz="1800" b="1" dirty="0">
                          <a:solidFill>
                            <a:srgbClr val="172C42"/>
                          </a:solidFill>
                        </a:rPr>
                        <a:t>Uber</a:t>
                      </a:r>
                    </a:p>
                  </a:txBody>
                  <a:tcPr marL="164592" marR="164592" marT="54864" marB="36576">
                    <a:lnL>
                      <a:noFill/>
                    </a:lnL>
                    <a:lnR>
                      <a:noFill/>
                    </a:lnR>
                    <a:lnT>
                      <a:noFill/>
                    </a:lnT>
                    <a:lnB>
                      <a:noFill/>
                    </a:lnB>
                    <a:solidFill>
                      <a:srgbClr val="FFFFFF"/>
                    </a:solidFill>
                  </a:tcPr>
                </a:tc>
                <a:extLst>
                  <a:ext uri="{0D108BD9-81ED-4DB2-BD59-A6C34878D82A}">
                    <a16:rowId xmlns:a16="http://schemas.microsoft.com/office/drawing/2014/main" val="10002"/>
                  </a:ext>
                </a:extLst>
              </a:tr>
              <a:tr h="716251">
                <a:tc>
                  <a:txBody>
                    <a:bodyPr/>
                    <a:lstStyle/>
                    <a:p>
                      <a:pPr algn="ctr">
                        <a:spcAft>
                          <a:spcPts val="0"/>
                        </a:spcAft>
                      </a:pPr>
                      <a:r>
                        <a:rPr sz="1800" b="1">
                          <a:solidFill>
                            <a:srgbClr val="172C42"/>
                          </a:solidFill>
                        </a:rPr>
                        <a:t>Spotify</a:t>
                      </a:r>
                    </a:p>
                  </a:txBody>
                  <a:tcPr marL="164592" marR="164592" marT="54864" marB="36576">
                    <a:lnL>
                      <a:noFill/>
                    </a:lnL>
                    <a:lnR>
                      <a:noFill/>
                    </a:lnR>
                    <a:lnT>
                      <a:noFill/>
                    </a:lnT>
                    <a:lnB>
                      <a:noFill/>
                    </a:lnB>
                    <a:solidFill>
                      <a:srgbClr val="EEF2F5"/>
                    </a:solidFill>
                  </a:tcPr>
                </a:tc>
                <a:extLst>
                  <a:ext uri="{0D108BD9-81ED-4DB2-BD59-A6C34878D82A}">
                    <a16:rowId xmlns:a16="http://schemas.microsoft.com/office/drawing/2014/main" val="10003"/>
                  </a:ext>
                </a:extLst>
              </a:tr>
              <a:tr h="716251">
                <a:tc>
                  <a:txBody>
                    <a:bodyPr/>
                    <a:lstStyle/>
                    <a:p>
                      <a:pPr algn="ctr">
                        <a:spcAft>
                          <a:spcPts val="0"/>
                        </a:spcAft>
                      </a:pPr>
                      <a:r>
                        <a:rPr sz="1800" b="1">
                          <a:solidFill>
                            <a:srgbClr val="172C42"/>
                          </a:solidFill>
                        </a:rPr>
                        <a:t>Amazon</a:t>
                      </a:r>
                    </a:p>
                  </a:txBody>
                  <a:tcPr marL="164592" marR="164592" marT="54864" marB="36576">
                    <a:lnL>
                      <a:noFill/>
                    </a:lnL>
                    <a:lnR>
                      <a:noFill/>
                    </a:lnR>
                    <a:lnT>
                      <a:noFill/>
                    </a:lnT>
                    <a:lnB>
                      <a:noFill/>
                    </a:lnB>
                    <a:solidFill>
                      <a:srgbClr val="FFFFFF"/>
                    </a:solidFill>
                  </a:tcPr>
                </a:tc>
                <a:extLst>
                  <a:ext uri="{0D108BD9-81ED-4DB2-BD59-A6C34878D82A}">
                    <a16:rowId xmlns:a16="http://schemas.microsoft.com/office/drawing/2014/main" val="3173520224"/>
                  </a:ext>
                </a:extLst>
              </a:tr>
              <a:tr h="716251">
                <a:tc>
                  <a:txBody>
                    <a:bodyPr/>
                    <a:lstStyle/>
                    <a:p>
                      <a:pPr algn="ctr">
                        <a:spcAft>
                          <a:spcPts val="0"/>
                        </a:spcAft>
                      </a:pPr>
                      <a:r>
                        <a:rPr sz="1800" b="1" dirty="0">
                          <a:solidFill>
                            <a:srgbClr val="172C42"/>
                          </a:solidFill>
                        </a:rPr>
                        <a:t>Netflix</a:t>
                      </a:r>
                    </a:p>
                  </a:txBody>
                  <a:tcPr marL="164592" marR="164592" marT="54864" marB="36576">
                    <a:lnL>
                      <a:noFill/>
                    </a:lnL>
                    <a:lnR>
                      <a:noFill/>
                    </a:lnR>
                    <a:lnT>
                      <a:noFill/>
                    </a:lnT>
                    <a:lnB>
                      <a:noFill/>
                    </a:lnB>
                    <a:solidFill>
                      <a:srgbClr val="EEF2F5"/>
                    </a:solidFill>
                  </a:tcPr>
                </a:tc>
                <a:extLst>
                  <a:ext uri="{0D108BD9-81ED-4DB2-BD59-A6C34878D82A}">
                    <a16:rowId xmlns:a16="http://schemas.microsoft.com/office/drawing/2014/main" val="117434833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F2BCF-CE47-3422-5E48-109E6F0A438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EABDB0B-06F2-4899-0812-CFD239451F12}"/>
              </a:ext>
            </a:extLst>
          </p:cNvPr>
          <p:cNvSpPr txBox="1"/>
          <p:nvPr/>
        </p:nvSpPr>
        <p:spPr>
          <a:xfrm>
            <a:off x="594360" y="411480"/>
            <a:ext cx="10972800" cy="548640"/>
          </a:xfrm>
          <a:prstGeom prst="rect">
            <a:avLst/>
          </a:prstGeom>
          <a:noFill/>
        </p:spPr>
        <p:txBody>
          <a:bodyPr wrap="square" lIns="0" tIns="0" rIns="0" bIns="0" anchor="t">
            <a:spAutoFit/>
          </a:bodyPr>
          <a:lstStyle/>
          <a:p>
            <a:pPr algn="l">
              <a:spcAft>
                <a:spcPts val="800"/>
              </a:spcAft>
            </a:pPr>
            <a:r>
              <a:rPr sz="3200" b="1" dirty="0">
                <a:solidFill>
                  <a:srgbClr val="172C42"/>
                </a:solidFill>
              </a:rPr>
              <a:t>Reverse engineering familiar apps</a:t>
            </a:r>
          </a:p>
        </p:txBody>
      </p:sp>
      <p:sp>
        <p:nvSpPr>
          <p:cNvPr id="3" name="TextBox 2">
            <a:extLst>
              <a:ext uri="{FF2B5EF4-FFF2-40B4-BE49-F238E27FC236}">
                <a16:creationId xmlns:a16="http://schemas.microsoft.com/office/drawing/2014/main" id="{144F037C-0713-3743-CF9E-F7CDB640BE46}"/>
              </a:ext>
            </a:extLst>
          </p:cNvPr>
          <p:cNvSpPr txBox="1"/>
          <p:nvPr/>
        </p:nvSpPr>
        <p:spPr>
          <a:xfrm>
            <a:off x="594360" y="1143000"/>
            <a:ext cx="10972800" cy="868680"/>
          </a:xfrm>
          <a:prstGeom prst="rect">
            <a:avLst/>
          </a:prstGeom>
          <a:noFill/>
        </p:spPr>
        <p:txBody>
          <a:bodyPr wrap="square" lIns="0" tIns="0" rIns="0" bIns="0" anchor="t">
            <a:spAutoFit/>
          </a:bodyPr>
          <a:lstStyle/>
          <a:p>
            <a:pPr algn="l">
              <a:spcAft>
                <a:spcPts val="800"/>
              </a:spcAft>
            </a:pPr>
            <a:r>
              <a:rPr sz="2200" b="0" dirty="0">
                <a:solidFill>
                  <a:srgbClr val="3C4A58"/>
                </a:solidFill>
              </a:rPr>
              <a:t>Start with what the user can do. A class describes a type of thing. An object is one specific instance.</a:t>
            </a:r>
          </a:p>
        </p:txBody>
      </p:sp>
      <p:sp>
        <p:nvSpPr>
          <p:cNvPr id="4" name="TextBox 3">
            <a:extLst>
              <a:ext uri="{FF2B5EF4-FFF2-40B4-BE49-F238E27FC236}">
                <a16:creationId xmlns:a16="http://schemas.microsoft.com/office/drawing/2014/main" id="{AA3A4F7B-36F1-4B18-4AFB-AF6934ACE141}"/>
              </a:ext>
            </a:extLst>
          </p:cNvPr>
          <p:cNvSpPr txBox="1"/>
          <p:nvPr/>
        </p:nvSpPr>
        <p:spPr>
          <a:xfrm>
            <a:off x="594360" y="6437376"/>
            <a:ext cx="10972800" cy="228600"/>
          </a:xfrm>
          <a:prstGeom prst="rect">
            <a:avLst/>
          </a:prstGeom>
          <a:noFill/>
        </p:spPr>
        <p:txBody>
          <a:bodyPr wrap="square" lIns="0" tIns="0" rIns="0" bIns="0" anchor="t">
            <a:spAutoFit/>
          </a:bodyPr>
          <a:lstStyle/>
          <a:p>
            <a:pPr algn="l">
              <a:spcAft>
                <a:spcPts val="800"/>
              </a:spcAft>
            </a:pPr>
            <a:r>
              <a:rPr sz="1400" b="0">
                <a:solidFill>
                  <a:srgbClr val="3C4A58"/>
                </a:solidFill>
              </a:rPr>
              <a:t>Illustrative models and sample objects, not the apps’ internal code</a:t>
            </a:r>
          </a:p>
        </p:txBody>
      </p:sp>
      <p:graphicFrame>
        <p:nvGraphicFramePr>
          <p:cNvPr id="6" name="Table 3">
            <a:extLst>
              <a:ext uri="{FF2B5EF4-FFF2-40B4-BE49-F238E27FC236}">
                <a16:creationId xmlns:a16="http://schemas.microsoft.com/office/drawing/2014/main" id="{60890091-CAC7-C812-C20B-1EBC2A00566F}"/>
              </a:ext>
            </a:extLst>
          </p:cNvPr>
          <p:cNvGraphicFramePr>
            <a:graphicFrameLocks noGrp="1"/>
          </p:cNvGraphicFramePr>
          <p:nvPr/>
        </p:nvGraphicFramePr>
        <p:xfrm>
          <a:off x="594360" y="2148840"/>
          <a:ext cx="11000232" cy="3794760"/>
        </p:xfrm>
        <a:graphic>
          <a:graphicData uri="http://schemas.openxmlformats.org/drawingml/2006/table">
            <a:tbl>
              <a:tblPr firstRow="1" bandRow="1">
                <a:tableStyleId>{5C22544A-7EE6-4342-B048-85BDC9FD1C3A}</a:tableStyleId>
              </a:tblPr>
              <a:tblGrid>
                <a:gridCol w="150876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5376672">
                  <a:extLst>
                    <a:ext uri="{9D8B030D-6E8A-4147-A177-3AD203B41FA5}">
                      <a16:colId xmlns:a16="http://schemas.microsoft.com/office/drawing/2014/main" val="20002"/>
                    </a:ext>
                  </a:extLst>
                </a:gridCol>
              </a:tblGrid>
              <a:tr h="502920">
                <a:tc>
                  <a:txBody>
                    <a:bodyPr/>
                    <a:lstStyle/>
                    <a:p>
                      <a:pPr algn="l">
                        <a:spcAft>
                          <a:spcPts val="0"/>
                        </a:spcAft>
                      </a:pPr>
                      <a:r>
                        <a:rPr sz="1700" b="1" dirty="0">
                          <a:solidFill>
                            <a:srgbClr val="FFFFFF"/>
                          </a:solidFill>
                        </a:rPr>
                        <a:t>App</a:t>
                      </a:r>
                    </a:p>
                  </a:txBody>
                  <a:tcPr marL="164592" marR="164592" marT="54864" marB="36576">
                    <a:lnL>
                      <a:noFill/>
                    </a:lnL>
                    <a:lnR>
                      <a:noFill/>
                    </a:lnR>
                    <a:lnT>
                      <a:noFill/>
                    </a:lnT>
                    <a:lnB>
                      <a:noFill/>
                    </a:lnB>
                    <a:solidFill>
                      <a:srgbClr val="172C42"/>
                    </a:solidFill>
                  </a:tcPr>
                </a:tc>
                <a:tc>
                  <a:txBody>
                    <a:bodyPr/>
                    <a:lstStyle/>
                    <a:p>
                      <a:pPr algn="l">
                        <a:spcAft>
                          <a:spcPts val="0"/>
                        </a:spcAft>
                      </a:pPr>
                      <a:r>
                        <a:rPr sz="1700" b="1">
                          <a:solidFill>
                            <a:srgbClr val="FFFFFF"/>
                          </a:solidFill>
                        </a:rPr>
                        <a:t>Candidate classes</a:t>
                      </a:r>
                    </a:p>
                  </a:txBody>
                  <a:tcPr marL="164592" marR="164592" marT="54864" marB="36576">
                    <a:lnL>
                      <a:noFill/>
                    </a:lnL>
                    <a:lnR>
                      <a:noFill/>
                    </a:lnR>
                    <a:lnT>
                      <a:noFill/>
                    </a:lnT>
                    <a:lnB>
                      <a:noFill/>
                    </a:lnB>
                    <a:solidFill>
                      <a:srgbClr val="172C42"/>
                    </a:solidFill>
                  </a:tcPr>
                </a:tc>
                <a:tc>
                  <a:txBody>
                    <a:bodyPr/>
                    <a:lstStyle/>
                    <a:p>
                      <a:pPr algn="l">
                        <a:spcAft>
                          <a:spcPts val="0"/>
                        </a:spcAft>
                      </a:pPr>
                      <a:r>
                        <a:rPr sz="1700" b="1">
                          <a:solidFill>
                            <a:srgbClr val="FFFFFF"/>
                          </a:solidFill>
                        </a:rPr>
                        <a:t>Example object and its class</a:t>
                      </a:r>
                    </a:p>
                  </a:txBody>
                  <a:tcPr marL="164592" marR="164592" marT="54864" marB="36576">
                    <a:lnL>
                      <a:noFill/>
                    </a:lnL>
                    <a:lnR>
                      <a:noFill/>
                    </a:lnR>
                    <a:lnT>
                      <a:noFill/>
                    </a:lnT>
                    <a:lnB>
                      <a:noFill/>
                    </a:lnB>
                    <a:solidFill>
                      <a:srgbClr val="172C42"/>
                    </a:solidFill>
                  </a:tcPr>
                </a:tc>
                <a:extLst>
                  <a:ext uri="{0D108BD9-81ED-4DB2-BD59-A6C34878D82A}">
                    <a16:rowId xmlns:a16="http://schemas.microsoft.com/office/drawing/2014/main" val="10000"/>
                  </a:ext>
                </a:extLst>
              </a:tr>
              <a:tr h="658368">
                <a:tc>
                  <a:txBody>
                    <a:bodyPr/>
                    <a:lstStyle/>
                    <a:p>
                      <a:pPr algn="l">
                        <a:spcAft>
                          <a:spcPts val="0"/>
                        </a:spcAft>
                      </a:pPr>
                      <a:r>
                        <a:rPr sz="1800" b="1">
                          <a:solidFill>
                            <a:srgbClr val="172C42"/>
                          </a:solidFill>
                        </a:rPr>
                        <a:t>Swiggy</a:t>
                      </a:r>
                    </a:p>
                  </a:txBody>
                  <a:tcPr marL="164592" marR="164592" marT="54864" marB="36576">
                    <a:lnL>
                      <a:noFill/>
                    </a:lnL>
                    <a:lnR>
                      <a:noFill/>
                    </a:lnR>
                    <a:lnT>
                      <a:noFill/>
                    </a:lnT>
                    <a:lnB>
                      <a:noFill/>
                    </a:lnB>
                    <a:solidFill>
                      <a:srgbClr val="EEF2F5"/>
                    </a:solidFill>
                  </a:tcPr>
                </a:tc>
                <a:tc>
                  <a:txBody>
                    <a:bodyPr/>
                    <a:lstStyle/>
                    <a:p>
                      <a:pPr algn="l">
                        <a:spcAft>
                          <a:spcPts val="0"/>
                        </a:spcAft>
                      </a:pPr>
                      <a:r>
                        <a:rPr sz="1800" b="0">
                          <a:solidFill>
                            <a:srgbClr val="172C42"/>
                          </a:solidFill>
                        </a:rPr>
                        <a:t>Restaurant, MenuItem, Order</a:t>
                      </a:r>
                    </a:p>
                  </a:txBody>
                  <a:tcPr marL="164592" marR="164592" marT="54864" marB="36576">
                    <a:lnL>
                      <a:noFill/>
                    </a:lnL>
                    <a:lnR>
                      <a:noFill/>
                    </a:lnR>
                    <a:lnT>
                      <a:noFill/>
                    </a:lnT>
                    <a:lnB>
                      <a:noFill/>
                    </a:lnB>
                    <a:solidFill>
                      <a:srgbClr val="EEF2F5"/>
                    </a:solidFill>
                  </a:tcPr>
                </a:tc>
                <a:tc>
                  <a:txBody>
                    <a:bodyPr/>
                    <a:lstStyle/>
                    <a:p>
                      <a:pPr algn="l">
                        <a:spcAft>
                          <a:spcPts val="0"/>
                        </a:spcAft>
                      </a:pPr>
                      <a:r>
                        <a:rPr sz="1800" b="0">
                          <a:solidFill>
                            <a:srgbClr val="172C42"/>
                          </a:solidFill>
                        </a:rPr>
                        <a:t>order101: Order</a:t>
                      </a:r>
                    </a:p>
                    <a:p>
                      <a:pPr algn="l">
                        <a:spcAft>
                          <a:spcPts val="0"/>
                        </a:spcAft>
                      </a:pPr>
                      <a:r>
                        <a:rPr sz="1800" b="0">
                          <a:solidFill>
                            <a:srgbClr val="172C42"/>
                          </a:solidFill>
                        </a:rPr>
                        <a:t>status = “placed”</a:t>
                      </a:r>
                    </a:p>
                  </a:txBody>
                  <a:tcPr marL="164592" marR="164592" marT="54864" marB="36576">
                    <a:lnL>
                      <a:noFill/>
                    </a:lnL>
                    <a:lnR>
                      <a:noFill/>
                    </a:lnR>
                    <a:lnT>
                      <a:noFill/>
                    </a:lnT>
                    <a:lnB>
                      <a:noFill/>
                    </a:lnB>
                    <a:solidFill>
                      <a:srgbClr val="EEF2F5"/>
                    </a:solidFill>
                  </a:tcPr>
                </a:tc>
                <a:extLst>
                  <a:ext uri="{0D108BD9-81ED-4DB2-BD59-A6C34878D82A}">
                    <a16:rowId xmlns:a16="http://schemas.microsoft.com/office/drawing/2014/main" val="10001"/>
                  </a:ext>
                </a:extLst>
              </a:tr>
              <a:tr h="658368">
                <a:tc>
                  <a:txBody>
                    <a:bodyPr/>
                    <a:lstStyle/>
                    <a:p>
                      <a:pPr algn="l">
                        <a:spcAft>
                          <a:spcPts val="0"/>
                        </a:spcAft>
                      </a:pPr>
                      <a:r>
                        <a:rPr sz="1800" b="1">
                          <a:solidFill>
                            <a:srgbClr val="172C42"/>
                          </a:solidFill>
                        </a:rPr>
                        <a:t>Uber</a:t>
                      </a:r>
                    </a:p>
                  </a:txBody>
                  <a:tcPr marL="164592" marR="164592" marT="54864" marB="36576">
                    <a:lnL>
                      <a:noFill/>
                    </a:lnL>
                    <a:lnR>
                      <a:noFill/>
                    </a:lnR>
                    <a:lnT>
                      <a:noFill/>
                    </a:lnT>
                    <a:lnB>
                      <a:noFill/>
                    </a:lnB>
                    <a:solidFill>
                      <a:srgbClr val="FFFFFF"/>
                    </a:solidFill>
                  </a:tcPr>
                </a:tc>
                <a:tc>
                  <a:txBody>
                    <a:bodyPr/>
                    <a:lstStyle/>
                    <a:p>
                      <a:pPr algn="l">
                        <a:spcAft>
                          <a:spcPts val="0"/>
                        </a:spcAft>
                      </a:pPr>
                      <a:r>
                        <a:rPr sz="1800" b="0">
                          <a:solidFill>
                            <a:srgbClr val="172C42"/>
                          </a:solidFill>
                        </a:rPr>
                        <a:t>Rider, Driver, Trip</a:t>
                      </a:r>
                    </a:p>
                  </a:txBody>
                  <a:tcPr marL="164592" marR="164592" marT="54864" marB="36576">
                    <a:lnL>
                      <a:noFill/>
                    </a:lnL>
                    <a:lnR>
                      <a:noFill/>
                    </a:lnR>
                    <a:lnT>
                      <a:noFill/>
                    </a:lnT>
                    <a:lnB>
                      <a:noFill/>
                    </a:lnB>
                    <a:solidFill>
                      <a:srgbClr val="FFFFFF"/>
                    </a:solidFill>
                  </a:tcPr>
                </a:tc>
                <a:tc>
                  <a:txBody>
                    <a:bodyPr/>
                    <a:lstStyle/>
                    <a:p>
                      <a:pPr algn="l">
                        <a:spcAft>
                          <a:spcPts val="0"/>
                        </a:spcAft>
                      </a:pPr>
                      <a:r>
                        <a:rPr sz="1800" b="0">
                          <a:solidFill>
                            <a:srgbClr val="172C42"/>
                          </a:solidFill>
                        </a:rPr>
                        <a:t>trip204: Trip</a:t>
                      </a:r>
                    </a:p>
                    <a:p>
                      <a:pPr algn="l">
                        <a:spcAft>
                          <a:spcPts val="0"/>
                        </a:spcAft>
                      </a:pPr>
                      <a:r>
                        <a:rPr sz="1800" b="0">
                          <a:solidFill>
                            <a:srgbClr val="172C42"/>
                          </a:solidFill>
                        </a:rPr>
                        <a:t>pickup = “Indiranagar”</a:t>
                      </a:r>
                    </a:p>
                  </a:txBody>
                  <a:tcPr marL="164592" marR="164592" marT="54864" marB="36576">
                    <a:lnL>
                      <a:noFill/>
                    </a:lnL>
                    <a:lnR>
                      <a:noFill/>
                    </a:lnR>
                    <a:lnT>
                      <a:noFill/>
                    </a:lnT>
                    <a:lnB>
                      <a:noFill/>
                    </a:lnB>
                    <a:solidFill>
                      <a:srgbClr val="FFFFFF"/>
                    </a:solidFill>
                  </a:tcPr>
                </a:tc>
                <a:extLst>
                  <a:ext uri="{0D108BD9-81ED-4DB2-BD59-A6C34878D82A}">
                    <a16:rowId xmlns:a16="http://schemas.microsoft.com/office/drawing/2014/main" val="10002"/>
                  </a:ext>
                </a:extLst>
              </a:tr>
              <a:tr h="658368">
                <a:tc>
                  <a:txBody>
                    <a:bodyPr/>
                    <a:lstStyle/>
                    <a:p>
                      <a:pPr algn="l">
                        <a:spcAft>
                          <a:spcPts val="0"/>
                        </a:spcAft>
                      </a:pPr>
                      <a:r>
                        <a:rPr sz="1800" b="1">
                          <a:solidFill>
                            <a:srgbClr val="172C42"/>
                          </a:solidFill>
                        </a:rPr>
                        <a:t>Spotify</a:t>
                      </a:r>
                    </a:p>
                  </a:txBody>
                  <a:tcPr marL="164592" marR="164592" marT="54864" marB="36576">
                    <a:lnL>
                      <a:noFill/>
                    </a:lnL>
                    <a:lnR>
                      <a:noFill/>
                    </a:lnR>
                    <a:lnT>
                      <a:noFill/>
                    </a:lnT>
                    <a:lnB>
                      <a:noFill/>
                    </a:lnB>
                    <a:solidFill>
                      <a:srgbClr val="EEF2F5"/>
                    </a:solidFill>
                  </a:tcPr>
                </a:tc>
                <a:tc>
                  <a:txBody>
                    <a:bodyPr/>
                    <a:lstStyle/>
                    <a:p>
                      <a:pPr algn="l">
                        <a:spcAft>
                          <a:spcPts val="0"/>
                        </a:spcAft>
                      </a:pPr>
                      <a:r>
                        <a:rPr sz="1800" b="0">
                          <a:solidFill>
                            <a:srgbClr val="172C42"/>
                          </a:solidFill>
                        </a:rPr>
                        <a:t>Listener, Track, Playlist</a:t>
                      </a:r>
                    </a:p>
                  </a:txBody>
                  <a:tcPr marL="164592" marR="164592" marT="54864" marB="36576">
                    <a:lnL>
                      <a:noFill/>
                    </a:lnL>
                    <a:lnR>
                      <a:noFill/>
                    </a:lnR>
                    <a:lnT>
                      <a:noFill/>
                    </a:lnT>
                    <a:lnB>
                      <a:noFill/>
                    </a:lnB>
                    <a:solidFill>
                      <a:srgbClr val="EEF2F5"/>
                    </a:solidFill>
                  </a:tcPr>
                </a:tc>
                <a:tc>
                  <a:txBody>
                    <a:bodyPr/>
                    <a:lstStyle/>
                    <a:p>
                      <a:pPr algn="l">
                        <a:spcAft>
                          <a:spcPts val="0"/>
                        </a:spcAft>
                      </a:pPr>
                      <a:r>
                        <a:rPr sz="1800" b="0">
                          <a:solidFill>
                            <a:srgbClr val="172C42"/>
                          </a:solidFill>
                        </a:rPr>
                        <a:t>focusMix: Playlist</a:t>
                      </a:r>
                    </a:p>
                    <a:p>
                      <a:pPr algn="l">
                        <a:spcAft>
                          <a:spcPts val="0"/>
                        </a:spcAft>
                      </a:pPr>
                      <a:r>
                        <a:rPr sz="1800" b="0">
                          <a:solidFill>
                            <a:srgbClr val="172C42"/>
                          </a:solidFill>
                        </a:rPr>
                        <a:t>name = “Focus Mix”</a:t>
                      </a:r>
                    </a:p>
                  </a:txBody>
                  <a:tcPr marL="164592" marR="164592" marT="54864" marB="36576">
                    <a:lnL>
                      <a:noFill/>
                    </a:lnL>
                    <a:lnR>
                      <a:noFill/>
                    </a:lnR>
                    <a:lnT>
                      <a:noFill/>
                    </a:lnT>
                    <a:lnB>
                      <a:noFill/>
                    </a:lnB>
                    <a:solidFill>
                      <a:srgbClr val="EEF2F5"/>
                    </a:solidFill>
                  </a:tcPr>
                </a:tc>
                <a:extLst>
                  <a:ext uri="{0D108BD9-81ED-4DB2-BD59-A6C34878D82A}">
                    <a16:rowId xmlns:a16="http://schemas.microsoft.com/office/drawing/2014/main" val="10003"/>
                  </a:ext>
                </a:extLst>
              </a:tr>
              <a:tr h="658368">
                <a:tc>
                  <a:txBody>
                    <a:bodyPr/>
                    <a:lstStyle/>
                    <a:p>
                      <a:pPr algn="l">
                        <a:spcAft>
                          <a:spcPts val="0"/>
                        </a:spcAft>
                      </a:pPr>
                      <a:r>
                        <a:rPr sz="1800" b="1">
                          <a:solidFill>
                            <a:srgbClr val="172C42"/>
                          </a:solidFill>
                        </a:rPr>
                        <a:t>Amazon</a:t>
                      </a:r>
                    </a:p>
                  </a:txBody>
                  <a:tcPr marL="164592" marR="164592" marT="54864" marB="36576">
                    <a:lnL>
                      <a:noFill/>
                    </a:lnL>
                    <a:lnR>
                      <a:noFill/>
                    </a:lnR>
                    <a:lnT>
                      <a:noFill/>
                    </a:lnT>
                    <a:lnB>
                      <a:noFill/>
                    </a:lnB>
                    <a:solidFill>
                      <a:srgbClr val="FFFFFF"/>
                    </a:solidFill>
                  </a:tcPr>
                </a:tc>
                <a:tc>
                  <a:txBody>
                    <a:bodyPr/>
                    <a:lstStyle/>
                    <a:p>
                      <a:pPr algn="l">
                        <a:spcAft>
                          <a:spcPts val="0"/>
                        </a:spcAft>
                      </a:pPr>
                      <a:r>
                        <a:rPr sz="1800" b="0">
                          <a:solidFill>
                            <a:srgbClr val="172C42"/>
                          </a:solidFill>
                        </a:rPr>
                        <a:t>Product, Cart, Order</a:t>
                      </a:r>
                    </a:p>
                  </a:txBody>
                  <a:tcPr marL="164592" marR="164592" marT="54864" marB="36576">
                    <a:lnL>
                      <a:noFill/>
                    </a:lnL>
                    <a:lnR>
                      <a:noFill/>
                    </a:lnR>
                    <a:lnT>
                      <a:noFill/>
                    </a:lnT>
                    <a:lnB>
                      <a:noFill/>
                    </a:lnB>
                    <a:solidFill>
                      <a:srgbClr val="FFFFFF"/>
                    </a:solidFill>
                  </a:tcPr>
                </a:tc>
                <a:tc>
                  <a:txBody>
                    <a:bodyPr/>
                    <a:lstStyle/>
                    <a:p>
                      <a:pPr algn="l">
                        <a:spcAft>
                          <a:spcPts val="0"/>
                        </a:spcAft>
                      </a:pPr>
                      <a:r>
                        <a:rPr sz="1800" b="0">
                          <a:solidFill>
                            <a:srgbClr val="172C42"/>
                          </a:solidFill>
                        </a:rPr>
                        <a:t>cart17: Cart</a:t>
                      </a:r>
                    </a:p>
                    <a:p>
                      <a:pPr algn="l">
                        <a:spcAft>
                          <a:spcPts val="0"/>
                        </a:spcAft>
                      </a:pPr>
                      <a:r>
                        <a:rPr sz="1800" b="0">
                          <a:solidFill>
                            <a:srgbClr val="172C42"/>
                          </a:solidFill>
                        </a:rPr>
                        <a:t>ownerId = “user17”</a:t>
                      </a:r>
                    </a:p>
                  </a:txBody>
                  <a:tcPr marL="164592" marR="164592" marT="54864" marB="36576">
                    <a:lnL>
                      <a:noFill/>
                    </a:lnL>
                    <a:lnR>
                      <a:noFill/>
                    </a:lnR>
                    <a:lnT>
                      <a:noFill/>
                    </a:lnT>
                    <a:lnB>
                      <a:noFill/>
                    </a:lnB>
                    <a:solidFill>
                      <a:srgbClr val="FFFFFF"/>
                    </a:solidFill>
                  </a:tcPr>
                </a:tc>
                <a:extLst>
                  <a:ext uri="{0D108BD9-81ED-4DB2-BD59-A6C34878D82A}">
                    <a16:rowId xmlns:a16="http://schemas.microsoft.com/office/drawing/2014/main" val="3173520224"/>
                  </a:ext>
                </a:extLst>
              </a:tr>
              <a:tr h="658368">
                <a:tc>
                  <a:txBody>
                    <a:bodyPr/>
                    <a:lstStyle/>
                    <a:p>
                      <a:pPr algn="l">
                        <a:spcAft>
                          <a:spcPts val="0"/>
                        </a:spcAft>
                      </a:pPr>
                      <a:r>
                        <a:rPr sz="1800" b="1">
                          <a:solidFill>
                            <a:srgbClr val="172C42"/>
                          </a:solidFill>
                        </a:rPr>
                        <a:t>Netflix</a:t>
                      </a:r>
                    </a:p>
                  </a:txBody>
                  <a:tcPr marL="164592" marR="164592" marT="54864" marB="36576">
                    <a:lnL>
                      <a:noFill/>
                    </a:lnL>
                    <a:lnR>
                      <a:noFill/>
                    </a:lnR>
                    <a:lnT>
                      <a:noFill/>
                    </a:lnT>
                    <a:lnB>
                      <a:noFill/>
                    </a:lnB>
                    <a:solidFill>
                      <a:srgbClr val="EEF2F5"/>
                    </a:solidFill>
                  </a:tcPr>
                </a:tc>
                <a:tc>
                  <a:txBody>
                    <a:bodyPr/>
                    <a:lstStyle/>
                    <a:p>
                      <a:pPr algn="l">
                        <a:spcAft>
                          <a:spcPts val="0"/>
                        </a:spcAft>
                      </a:pPr>
                      <a:r>
                        <a:rPr sz="1800" b="0">
                          <a:solidFill>
                            <a:srgbClr val="172C42"/>
                          </a:solidFill>
                        </a:rPr>
                        <a:t>Profile, Title, ViewingRecord</a:t>
                      </a:r>
                    </a:p>
                  </a:txBody>
                  <a:tcPr marL="164592" marR="164592" marT="54864" marB="36576">
                    <a:lnL>
                      <a:noFill/>
                    </a:lnL>
                    <a:lnR>
                      <a:noFill/>
                    </a:lnR>
                    <a:lnT>
                      <a:noFill/>
                    </a:lnT>
                    <a:lnB>
                      <a:noFill/>
                    </a:lnB>
                    <a:solidFill>
                      <a:srgbClr val="EEF2F5"/>
                    </a:solidFill>
                  </a:tcPr>
                </a:tc>
                <a:tc>
                  <a:txBody>
                    <a:bodyPr/>
                    <a:lstStyle/>
                    <a:p>
                      <a:pPr algn="l">
                        <a:spcAft>
                          <a:spcPts val="0"/>
                        </a:spcAft>
                      </a:pPr>
                      <a:r>
                        <a:rPr sz="1800" b="0" dirty="0">
                          <a:solidFill>
                            <a:srgbClr val="172C42"/>
                          </a:solidFill>
                        </a:rPr>
                        <a:t>profile1: Profile</a:t>
                      </a:r>
                    </a:p>
                    <a:p>
                      <a:pPr algn="l">
                        <a:spcAft>
                          <a:spcPts val="0"/>
                        </a:spcAft>
                      </a:pPr>
                      <a:r>
                        <a:rPr sz="1800" b="0" dirty="0">
                          <a:solidFill>
                            <a:srgbClr val="172C42"/>
                          </a:solidFill>
                        </a:rPr>
                        <a:t>name = “Maya”</a:t>
                      </a:r>
                    </a:p>
                  </a:txBody>
                  <a:tcPr marL="164592" marR="164592" marT="54864" marB="36576">
                    <a:lnL>
                      <a:noFill/>
                    </a:lnL>
                    <a:lnR>
                      <a:noFill/>
                    </a:lnR>
                    <a:lnT>
                      <a:noFill/>
                    </a:lnT>
                    <a:lnB>
                      <a:noFill/>
                    </a:lnB>
                    <a:solidFill>
                      <a:srgbClr val="EEF2F5"/>
                    </a:solidFill>
                  </a:tcPr>
                </a:tc>
                <a:extLst>
                  <a:ext uri="{0D108BD9-81ED-4DB2-BD59-A6C34878D82A}">
                    <a16:rowId xmlns:a16="http://schemas.microsoft.com/office/drawing/2014/main" val="1174348334"/>
                  </a:ext>
                </a:extLst>
              </a:tr>
            </a:tbl>
          </a:graphicData>
        </a:graphic>
      </p:graphicFrame>
    </p:spTree>
    <p:extLst>
      <p:ext uri="{BB962C8B-B14F-4D97-AF65-F5344CB8AC3E}">
        <p14:creationId xmlns:p14="http://schemas.microsoft.com/office/powerpoint/2010/main" val="1503432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10972800" cy="548640"/>
          </a:xfrm>
          <a:prstGeom prst="rect">
            <a:avLst/>
          </a:prstGeom>
          <a:noFill/>
        </p:spPr>
        <p:txBody>
          <a:bodyPr wrap="square" lIns="0" tIns="0" rIns="0" bIns="0" anchor="t">
            <a:spAutoFit/>
          </a:bodyPr>
          <a:lstStyle/>
          <a:p>
            <a:pPr algn="l">
              <a:spcAft>
                <a:spcPts val="800"/>
              </a:spcAft>
            </a:pPr>
            <a:r>
              <a:rPr sz="3200" b="1">
                <a:solidFill>
                  <a:srgbClr val="172C42"/>
                </a:solidFill>
              </a:rPr>
              <a:t>Swiggy and Uber: classes in a user journey</a:t>
            </a:r>
          </a:p>
        </p:txBody>
      </p:sp>
      <p:sp>
        <p:nvSpPr>
          <p:cNvPr id="3" name="TextBox 2"/>
          <p:cNvSpPr txBox="1"/>
          <p:nvPr/>
        </p:nvSpPr>
        <p:spPr>
          <a:xfrm>
            <a:off x="594360" y="1143000"/>
            <a:ext cx="10972800" cy="868680"/>
          </a:xfrm>
          <a:prstGeom prst="rect">
            <a:avLst/>
          </a:prstGeom>
          <a:noFill/>
        </p:spPr>
        <p:txBody>
          <a:bodyPr wrap="square" lIns="0" tIns="0" rIns="0" bIns="0" anchor="t">
            <a:spAutoFit/>
          </a:bodyPr>
          <a:lstStyle/>
          <a:p>
            <a:pPr algn="l">
              <a:spcAft>
                <a:spcPts val="800"/>
              </a:spcAft>
            </a:pPr>
            <a:r>
              <a:rPr sz="2200" b="0">
                <a:solidFill>
                  <a:srgbClr val="3C4A58"/>
                </a:solidFill>
              </a:rPr>
              <a:t>Choose the objects that hold state, then decide which actions belong to each object.</a:t>
            </a:r>
          </a:p>
        </p:txBody>
      </p:sp>
      <p:sp>
        <p:nvSpPr>
          <p:cNvPr id="4" name="TextBox 3"/>
          <p:cNvSpPr txBox="1"/>
          <p:nvPr/>
        </p:nvSpPr>
        <p:spPr>
          <a:xfrm>
            <a:off x="594360" y="6437376"/>
            <a:ext cx="10972800" cy="228600"/>
          </a:xfrm>
          <a:prstGeom prst="rect">
            <a:avLst/>
          </a:prstGeom>
          <a:noFill/>
        </p:spPr>
        <p:txBody>
          <a:bodyPr wrap="square" lIns="0" tIns="0" rIns="0" bIns="0" anchor="t">
            <a:spAutoFit/>
          </a:bodyPr>
          <a:lstStyle/>
          <a:p>
            <a:pPr algn="l">
              <a:spcAft>
                <a:spcPts val="800"/>
              </a:spcAft>
            </a:pPr>
            <a:r>
              <a:rPr sz="1400" b="0">
                <a:solidFill>
                  <a:srgbClr val="3C4A58"/>
                </a:solidFill>
              </a:rPr>
              <a:t>Illustrative models and sample objects, not the apps’ internal code</a:t>
            </a:r>
          </a:p>
        </p:txBody>
      </p:sp>
      <p:sp>
        <p:nvSpPr>
          <p:cNvPr id="5" name="TextBox 4"/>
          <p:cNvSpPr txBox="1"/>
          <p:nvPr/>
        </p:nvSpPr>
        <p:spPr>
          <a:xfrm>
            <a:off x="594360" y="2148840"/>
            <a:ext cx="5074920" cy="411480"/>
          </a:xfrm>
          <a:prstGeom prst="rect">
            <a:avLst/>
          </a:prstGeom>
          <a:noFill/>
        </p:spPr>
        <p:txBody>
          <a:bodyPr wrap="square" lIns="0" tIns="0" rIns="0" bIns="0" anchor="t">
            <a:spAutoFit/>
          </a:bodyPr>
          <a:lstStyle/>
          <a:p>
            <a:pPr algn="l">
              <a:spcAft>
                <a:spcPts val="800"/>
              </a:spcAft>
            </a:pPr>
            <a:r>
              <a:rPr sz="2600" b="1">
                <a:solidFill>
                  <a:srgbClr val="172C42"/>
                </a:solidFill>
              </a:rPr>
              <a:t>Swiggy</a:t>
            </a:r>
          </a:p>
        </p:txBody>
      </p:sp>
      <p:sp>
        <p:nvSpPr>
          <p:cNvPr id="6" name="TextBox 5"/>
          <p:cNvSpPr txBox="1"/>
          <p:nvPr/>
        </p:nvSpPr>
        <p:spPr>
          <a:xfrm>
            <a:off x="594360" y="2670048"/>
            <a:ext cx="5074920" cy="640080"/>
          </a:xfrm>
          <a:prstGeom prst="rect">
            <a:avLst/>
          </a:prstGeom>
          <a:noFill/>
        </p:spPr>
        <p:txBody>
          <a:bodyPr wrap="square" lIns="0" tIns="0" rIns="0" bIns="0" anchor="t">
            <a:spAutoFit/>
          </a:bodyPr>
          <a:lstStyle/>
          <a:p>
            <a:pPr algn="l">
              <a:spcAft>
                <a:spcPts val="800"/>
              </a:spcAft>
            </a:pPr>
            <a:r>
              <a:rPr sz="2000" b="0">
                <a:solidFill>
                  <a:srgbClr val="3C4A58"/>
                </a:solidFill>
              </a:rPr>
              <a:t>A customer places a food order.</a:t>
            </a:r>
          </a:p>
        </p:txBody>
      </p:sp>
      <p:sp>
        <p:nvSpPr>
          <p:cNvPr id="7" name="TextBox 6"/>
          <p:cNvSpPr txBox="1"/>
          <p:nvPr/>
        </p:nvSpPr>
        <p:spPr>
          <a:xfrm>
            <a:off x="594360" y="3447288"/>
            <a:ext cx="5074920" cy="502920"/>
          </a:xfrm>
          <a:prstGeom prst="rect">
            <a:avLst/>
          </a:prstGeom>
          <a:noFill/>
        </p:spPr>
        <p:txBody>
          <a:bodyPr wrap="square" lIns="0" tIns="0" rIns="0" bIns="0" anchor="t">
            <a:spAutoFit/>
          </a:bodyPr>
          <a:lstStyle/>
          <a:p>
            <a:pPr algn="l">
              <a:spcAft>
                <a:spcPts val="800"/>
              </a:spcAft>
            </a:pPr>
            <a:r>
              <a:rPr sz="2200" b="1">
                <a:solidFill>
                  <a:srgbClr val="172C42"/>
                </a:solidFill>
              </a:rPr>
              <a:t>Order  /  order101: Order</a:t>
            </a:r>
          </a:p>
        </p:txBody>
      </p:sp>
      <p:sp>
        <p:nvSpPr>
          <p:cNvPr id="8" name="TextBox 7"/>
          <p:cNvSpPr txBox="1"/>
          <p:nvPr/>
        </p:nvSpPr>
        <p:spPr>
          <a:xfrm>
            <a:off x="594360" y="4114800"/>
            <a:ext cx="5074920" cy="1005840"/>
          </a:xfrm>
          <a:prstGeom prst="rect">
            <a:avLst/>
          </a:prstGeom>
          <a:noFill/>
        </p:spPr>
        <p:txBody>
          <a:bodyPr wrap="square" lIns="0" tIns="0" rIns="0" bIns="0" anchor="t">
            <a:spAutoFit/>
          </a:bodyPr>
          <a:lstStyle/>
          <a:p>
            <a:pPr algn="l">
              <a:spcAft>
                <a:spcPts val="800"/>
              </a:spcAft>
            </a:pPr>
            <a:r>
              <a:rPr sz="2000" b="0">
                <a:solidFill>
                  <a:srgbClr val="3C4A58"/>
                </a:solidFill>
              </a:rPr>
              <a:t>Facts: orderId, items, status</a:t>
            </a:r>
          </a:p>
          <a:p>
            <a:pPr algn="l">
              <a:spcAft>
                <a:spcPts val="800"/>
              </a:spcAft>
            </a:pPr>
            <a:r>
              <a:rPr sz="2000" b="0">
                <a:solidFill>
                  <a:srgbClr val="3C4A58"/>
                </a:solidFill>
              </a:rPr>
              <a:t>Actions: calculateTotal(), place()</a:t>
            </a:r>
          </a:p>
        </p:txBody>
      </p:sp>
      <p:sp>
        <p:nvSpPr>
          <p:cNvPr id="9" name="TextBox 8"/>
          <p:cNvSpPr txBox="1"/>
          <p:nvPr/>
        </p:nvSpPr>
        <p:spPr>
          <a:xfrm>
            <a:off x="594360" y="5349240"/>
            <a:ext cx="5074920" cy="868680"/>
          </a:xfrm>
          <a:prstGeom prst="rect">
            <a:avLst/>
          </a:prstGeom>
          <a:noFill/>
        </p:spPr>
        <p:txBody>
          <a:bodyPr wrap="square" lIns="0" tIns="0" rIns="0" bIns="0" anchor="t">
            <a:spAutoFit/>
          </a:bodyPr>
          <a:lstStyle/>
          <a:p>
            <a:pPr algn="l">
              <a:spcAft>
                <a:spcPts val="800"/>
              </a:spcAft>
            </a:pPr>
            <a:r>
              <a:rPr sz="2000" b="0">
                <a:solidFill>
                  <a:srgbClr val="3C4A58"/>
                </a:solidFill>
              </a:rPr>
              <a:t>An Order contains OrderItems.</a:t>
            </a:r>
          </a:p>
          <a:p>
            <a:pPr algn="l">
              <a:spcAft>
                <a:spcPts val="800"/>
              </a:spcAft>
            </a:pPr>
            <a:r>
              <a:rPr sz="2000" b="0">
                <a:solidFill>
                  <a:srgbClr val="3C4A58"/>
                </a:solidFill>
              </a:rPr>
              <a:t>Each OrderItem refers to a MenuItem.</a:t>
            </a:r>
          </a:p>
        </p:txBody>
      </p:sp>
      <p:sp>
        <p:nvSpPr>
          <p:cNvPr id="10" name="TextBox 9"/>
          <p:cNvSpPr txBox="1"/>
          <p:nvPr/>
        </p:nvSpPr>
        <p:spPr>
          <a:xfrm>
            <a:off x="6419088" y="2148840"/>
            <a:ext cx="5074920" cy="411480"/>
          </a:xfrm>
          <a:prstGeom prst="rect">
            <a:avLst/>
          </a:prstGeom>
          <a:noFill/>
        </p:spPr>
        <p:txBody>
          <a:bodyPr wrap="square" lIns="0" tIns="0" rIns="0" bIns="0" anchor="t">
            <a:spAutoFit/>
          </a:bodyPr>
          <a:lstStyle/>
          <a:p>
            <a:pPr algn="l">
              <a:spcAft>
                <a:spcPts val="800"/>
              </a:spcAft>
            </a:pPr>
            <a:r>
              <a:rPr sz="2600" b="1">
                <a:solidFill>
                  <a:srgbClr val="172C42"/>
                </a:solidFill>
              </a:rPr>
              <a:t>Uber</a:t>
            </a:r>
          </a:p>
        </p:txBody>
      </p:sp>
      <p:sp>
        <p:nvSpPr>
          <p:cNvPr id="11" name="TextBox 10"/>
          <p:cNvSpPr txBox="1"/>
          <p:nvPr/>
        </p:nvSpPr>
        <p:spPr>
          <a:xfrm>
            <a:off x="6419088" y="2670048"/>
            <a:ext cx="5074920" cy="640080"/>
          </a:xfrm>
          <a:prstGeom prst="rect">
            <a:avLst/>
          </a:prstGeom>
          <a:noFill/>
        </p:spPr>
        <p:txBody>
          <a:bodyPr wrap="square" lIns="0" tIns="0" rIns="0" bIns="0" anchor="t">
            <a:spAutoFit/>
          </a:bodyPr>
          <a:lstStyle/>
          <a:p>
            <a:pPr algn="l">
              <a:spcAft>
                <a:spcPts val="800"/>
              </a:spcAft>
            </a:pPr>
            <a:r>
              <a:rPr sz="2000" b="0">
                <a:solidFill>
                  <a:srgbClr val="3C4A58"/>
                </a:solidFill>
              </a:rPr>
              <a:t>A rider requests a trip.</a:t>
            </a:r>
          </a:p>
        </p:txBody>
      </p:sp>
      <p:sp>
        <p:nvSpPr>
          <p:cNvPr id="12" name="TextBox 11"/>
          <p:cNvSpPr txBox="1"/>
          <p:nvPr/>
        </p:nvSpPr>
        <p:spPr>
          <a:xfrm>
            <a:off x="6419088" y="3447288"/>
            <a:ext cx="5074920" cy="502920"/>
          </a:xfrm>
          <a:prstGeom prst="rect">
            <a:avLst/>
          </a:prstGeom>
          <a:noFill/>
        </p:spPr>
        <p:txBody>
          <a:bodyPr wrap="square" lIns="0" tIns="0" rIns="0" bIns="0" anchor="t">
            <a:spAutoFit/>
          </a:bodyPr>
          <a:lstStyle/>
          <a:p>
            <a:pPr algn="l">
              <a:spcAft>
                <a:spcPts val="800"/>
              </a:spcAft>
            </a:pPr>
            <a:r>
              <a:rPr sz="2200" b="1">
                <a:solidFill>
                  <a:srgbClr val="172C42"/>
                </a:solidFill>
              </a:rPr>
              <a:t>Trip  /  trip204: Trip</a:t>
            </a:r>
          </a:p>
        </p:txBody>
      </p:sp>
      <p:sp>
        <p:nvSpPr>
          <p:cNvPr id="13" name="TextBox 12"/>
          <p:cNvSpPr txBox="1"/>
          <p:nvPr/>
        </p:nvSpPr>
        <p:spPr>
          <a:xfrm>
            <a:off x="6419088" y="4114800"/>
            <a:ext cx="5074920" cy="1005840"/>
          </a:xfrm>
          <a:prstGeom prst="rect">
            <a:avLst/>
          </a:prstGeom>
          <a:noFill/>
        </p:spPr>
        <p:txBody>
          <a:bodyPr wrap="square" lIns="0" tIns="0" rIns="0" bIns="0" anchor="t">
            <a:spAutoFit/>
          </a:bodyPr>
          <a:lstStyle/>
          <a:p>
            <a:pPr algn="l">
              <a:spcAft>
                <a:spcPts val="800"/>
              </a:spcAft>
            </a:pPr>
            <a:r>
              <a:rPr sz="2000" b="0">
                <a:solidFill>
                  <a:srgbClr val="3C4A58"/>
                </a:solidFill>
              </a:rPr>
              <a:t>Facts: tripId, pickup, destination, status</a:t>
            </a:r>
          </a:p>
          <a:p>
            <a:pPr algn="l">
              <a:spcAft>
                <a:spcPts val="800"/>
              </a:spcAft>
            </a:pPr>
            <a:r>
              <a:rPr sz="2000" b="0">
                <a:solidFill>
                  <a:srgbClr val="3C4A58"/>
                </a:solidFill>
              </a:rPr>
              <a:t>Actions: request(), complete()</a:t>
            </a:r>
          </a:p>
        </p:txBody>
      </p:sp>
      <p:sp>
        <p:nvSpPr>
          <p:cNvPr id="14" name="TextBox 13"/>
          <p:cNvSpPr txBox="1"/>
          <p:nvPr/>
        </p:nvSpPr>
        <p:spPr>
          <a:xfrm>
            <a:off x="6419088" y="5349240"/>
            <a:ext cx="5074920" cy="868680"/>
          </a:xfrm>
          <a:prstGeom prst="rect">
            <a:avLst/>
          </a:prstGeom>
          <a:noFill/>
        </p:spPr>
        <p:txBody>
          <a:bodyPr wrap="square" lIns="0" tIns="0" rIns="0" bIns="0" anchor="t">
            <a:spAutoFit/>
          </a:bodyPr>
          <a:lstStyle/>
          <a:p>
            <a:pPr algn="l">
              <a:spcAft>
                <a:spcPts val="800"/>
              </a:spcAft>
            </a:pPr>
            <a:r>
              <a:rPr sz="2000" b="0">
                <a:solidFill>
                  <a:srgbClr val="3C4A58"/>
                </a:solidFill>
              </a:rPr>
              <a:t>A Trip links a Rider and an assigned Driver.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10972800" cy="548640"/>
          </a:xfrm>
          <a:prstGeom prst="rect">
            <a:avLst/>
          </a:prstGeom>
          <a:noFill/>
        </p:spPr>
        <p:txBody>
          <a:bodyPr wrap="square" lIns="0" tIns="0" rIns="0" bIns="0" anchor="t">
            <a:spAutoFit/>
          </a:bodyPr>
          <a:lstStyle/>
          <a:p>
            <a:pPr algn="l">
              <a:spcAft>
                <a:spcPts val="900"/>
              </a:spcAft>
            </a:pPr>
            <a:r>
              <a:rPr sz="3200" b="1">
                <a:solidFill>
                  <a:srgbClr val="172C42"/>
                </a:solidFill>
              </a:rPr>
              <a:t>Swiggy and Uber: objects on a mission</a:t>
            </a:r>
          </a:p>
        </p:txBody>
      </p:sp>
      <p:sp>
        <p:nvSpPr>
          <p:cNvPr id="3" name="TextBox 2"/>
          <p:cNvSpPr txBox="1"/>
          <p:nvPr/>
        </p:nvSpPr>
        <p:spPr>
          <a:xfrm>
            <a:off x="594360" y="1143000"/>
            <a:ext cx="10972800" cy="822960"/>
          </a:xfrm>
          <a:prstGeom prst="rect">
            <a:avLst/>
          </a:prstGeom>
          <a:noFill/>
        </p:spPr>
        <p:txBody>
          <a:bodyPr wrap="square" lIns="0" tIns="0" rIns="0" bIns="0" anchor="t">
            <a:spAutoFit/>
          </a:bodyPr>
          <a:lstStyle/>
          <a:p>
            <a:pPr algn="l">
              <a:spcAft>
                <a:spcPts val="900"/>
              </a:spcAft>
            </a:pPr>
            <a:r>
              <a:rPr sz="2200" b="0">
                <a:solidFill>
                  <a:srgbClr val="3C4A58"/>
                </a:solidFill>
              </a:rPr>
              <a:t>One journey delivers dinner. The other delivers you. Each model gives objects a job.</a:t>
            </a:r>
          </a:p>
        </p:txBody>
      </p:sp>
      <p:sp>
        <p:nvSpPr>
          <p:cNvPr id="4" name="TextBox 3"/>
          <p:cNvSpPr txBox="1"/>
          <p:nvPr/>
        </p:nvSpPr>
        <p:spPr>
          <a:xfrm>
            <a:off x="594360" y="6437376"/>
            <a:ext cx="10972800" cy="228600"/>
          </a:xfrm>
          <a:prstGeom prst="rect">
            <a:avLst/>
          </a:prstGeom>
          <a:noFill/>
        </p:spPr>
        <p:txBody>
          <a:bodyPr wrap="square" lIns="0" tIns="12700" rIns="0" bIns="0">
            <a:spAutoFit/>
          </a:bodyPr>
          <a:lstStyle/>
          <a:p>
            <a:pPr>
              <a:spcAft>
                <a:spcPts val="600"/>
              </a:spcAft>
            </a:pPr>
            <a:r>
              <a:rPr sz="1400" b="0">
                <a:solidFill>
                  <a:srgbClr val="3C4A58"/>
                </a:solidFill>
              </a:rPr>
              <a:t>Illustrative class models, not the apps’ internal implementation</a:t>
            </a:r>
          </a:p>
        </p:txBody>
      </p:sp>
      <p:sp>
        <p:nvSpPr>
          <p:cNvPr id="5" name="TextBox 4"/>
          <p:cNvSpPr txBox="1"/>
          <p:nvPr/>
        </p:nvSpPr>
        <p:spPr>
          <a:xfrm>
            <a:off x="594360" y="1901952"/>
            <a:ext cx="5120640" cy="365760"/>
          </a:xfrm>
          <a:prstGeom prst="rect">
            <a:avLst/>
          </a:prstGeom>
          <a:noFill/>
        </p:spPr>
        <p:txBody>
          <a:bodyPr wrap="square" lIns="0" tIns="12700" rIns="0" bIns="0">
            <a:spAutoFit/>
          </a:bodyPr>
          <a:lstStyle/>
          <a:p>
            <a:pPr>
              <a:spcAft>
                <a:spcPts val="600"/>
              </a:spcAft>
            </a:pPr>
            <a:r>
              <a:rPr sz="2600" b="1">
                <a:solidFill>
                  <a:srgbClr val="172C42"/>
                </a:solidFill>
              </a:rPr>
              <a:t>Swiggy</a:t>
            </a:r>
          </a:p>
        </p:txBody>
      </p:sp>
      <p:sp>
        <p:nvSpPr>
          <p:cNvPr id="6" name="TextBox 5"/>
          <p:cNvSpPr txBox="1"/>
          <p:nvPr/>
        </p:nvSpPr>
        <p:spPr>
          <a:xfrm>
            <a:off x="6428232" y="1901952"/>
            <a:ext cx="5120640" cy="365760"/>
          </a:xfrm>
          <a:prstGeom prst="rect">
            <a:avLst/>
          </a:prstGeom>
          <a:noFill/>
        </p:spPr>
        <p:txBody>
          <a:bodyPr wrap="square" lIns="0" tIns="12700" rIns="0" bIns="0">
            <a:spAutoFit/>
          </a:bodyPr>
          <a:lstStyle/>
          <a:p>
            <a:pPr>
              <a:spcAft>
                <a:spcPts val="600"/>
              </a:spcAft>
            </a:pPr>
            <a:r>
              <a:rPr sz="2600" b="1">
                <a:solidFill>
                  <a:srgbClr val="172C42"/>
                </a:solidFill>
              </a:rPr>
              <a:t>Uber</a:t>
            </a:r>
          </a:p>
        </p:txBody>
      </p:sp>
      <p:pic>
        <p:nvPicPr>
          <p:cNvPr id="7" name="Picture 6" descr="food.png"/>
          <p:cNvPicPr>
            <a:picLocks noChangeAspect="1"/>
          </p:cNvPicPr>
          <p:nvPr/>
        </p:nvPicPr>
        <p:blipFill>
          <a:blip r:embed="rId3"/>
          <a:stretch>
            <a:fillRect/>
          </a:stretch>
        </p:blipFill>
        <p:spPr>
          <a:xfrm>
            <a:off x="1824475" y="2313432"/>
            <a:ext cx="2660408" cy="2606040"/>
          </a:xfrm>
          <a:prstGeom prst="rect">
            <a:avLst/>
          </a:prstGeom>
        </p:spPr>
      </p:pic>
      <p:pic>
        <p:nvPicPr>
          <p:cNvPr id="8" name="Picture 7" descr="trip.png"/>
          <p:cNvPicPr>
            <a:picLocks noChangeAspect="1"/>
          </p:cNvPicPr>
          <p:nvPr/>
        </p:nvPicPr>
        <p:blipFill>
          <a:blip r:embed="rId4"/>
          <a:stretch>
            <a:fillRect/>
          </a:stretch>
        </p:blipFill>
        <p:spPr>
          <a:xfrm>
            <a:off x="7603979" y="2313432"/>
            <a:ext cx="2769144" cy="2606040"/>
          </a:xfrm>
          <a:prstGeom prst="rect">
            <a:avLst/>
          </a:prstGeom>
        </p:spPr>
      </p:pic>
      <p:sp>
        <p:nvSpPr>
          <p:cNvPr id="9" name="TextBox 8"/>
          <p:cNvSpPr txBox="1"/>
          <p:nvPr/>
        </p:nvSpPr>
        <p:spPr>
          <a:xfrm>
            <a:off x="594360" y="4919472"/>
            <a:ext cx="2194560" cy="384048"/>
          </a:xfrm>
          <a:prstGeom prst="rect">
            <a:avLst/>
          </a:prstGeom>
          <a:noFill/>
        </p:spPr>
        <p:txBody>
          <a:bodyPr wrap="square" lIns="0" tIns="12700" rIns="0" bIns="0">
            <a:spAutoFit/>
          </a:bodyPr>
          <a:lstStyle/>
          <a:p>
            <a:pPr>
              <a:spcAft>
                <a:spcPts val="600"/>
              </a:spcAft>
            </a:pPr>
            <a:r>
              <a:rPr sz="2500" b="1">
                <a:solidFill>
                  <a:srgbClr val="007D87"/>
                </a:solidFill>
              </a:rPr>
              <a:t>Order</a:t>
            </a:r>
          </a:p>
        </p:txBody>
      </p:sp>
      <p:sp>
        <p:nvSpPr>
          <p:cNvPr id="10" name="TextBox 9"/>
          <p:cNvSpPr txBox="1"/>
          <p:nvPr/>
        </p:nvSpPr>
        <p:spPr>
          <a:xfrm>
            <a:off x="594360" y="5394960"/>
            <a:ext cx="5120640" cy="393192"/>
          </a:xfrm>
          <a:prstGeom prst="rect">
            <a:avLst/>
          </a:prstGeom>
          <a:noFill/>
        </p:spPr>
        <p:txBody>
          <a:bodyPr wrap="square" lIns="0" tIns="12700" rIns="0" bIns="0">
            <a:spAutoFit/>
          </a:bodyPr>
          <a:lstStyle/>
          <a:p>
            <a:pPr>
              <a:spcAft>
                <a:spcPts val="600"/>
              </a:spcAft>
            </a:pPr>
            <a:r>
              <a:rPr sz="2100" b="0">
                <a:solidFill>
                  <a:srgbClr val="172C42"/>
                </a:solidFill>
              </a:rPr>
              <a:t>OrderItems refer to MenuItems</a:t>
            </a:r>
          </a:p>
        </p:txBody>
      </p:sp>
      <p:sp>
        <p:nvSpPr>
          <p:cNvPr id="11" name="TextBox 10"/>
          <p:cNvSpPr txBox="1"/>
          <p:nvPr/>
        </p:nvSpPr>
        <p:spPr>
          <a:xfrm>
            <a:off x="594360" y="5843016"/>
            <a:ext cx="5120640" cy="393192"/>
          </a:xfrm>
          <a:prstGeom prst="rect">
            <a:avLst/>
          </a:prstGeom>
          <a:noFill/>
        </p:spPr>
        <p:txBody>
          <a:bodyPr wrap="square" lIns="0" tIns="12700" rIns="0" bIns="0">
            <a:spAutoFit/>
          </a:bodyPr>
          <a:lstStyle/>
          <a:p>
            <a:pPr>
              <a:spcAft>
                <a:spcPts val="600"/>
              </a:spcAft>
            </a:pPr>
            <a:r>
              <a:rPr sz="2100" b="1">
                <a:solidFill>
                  <a:srgbClr val="172C42"/>
                </a:solidFill>
              </a:rPr>
              <a:t>calculateTotal()     place()</a:t>
            </a:r>
          </a:p>
        </p:txBody>
      </p:sp>
      <p:sp>
        <p:nvSpPr>
          <p:cNvPr id="12" name="TextBox 11"/>
          <p:cNvSpPr txBox="1"/>
          <p:nvPr/>
        </p:nvSpPr>
        <p:spPr>
          <a:xfrm>
            <a:off x="6428232" y="4919472"/>
            <a:ext cx="2194560" cy="384048"/>
          </a:xfrm>
          <a:prstGeom prst="rect">
            <a:avLst/>
          </a:prstGeom>
          <a:noFill/>
        </p:spPr>
        <p:txBody>
          <a:bodyPr wrap="square" lIns="0" tIns="12700" rIns="0" bIns="0">
            <a:spAutoFit/>
          </a:bodyPr>
          <a:lstStyle/>
          <a:p>
            <a:pPr>
              <a:spcAft>
                <a:spcPts val="600"/>
              </a:spcAft>
            </a:pPr>
            <a:r>
              <a:rPr sz="2500" b="1">
                <a:solidFill>
                  <a:srgbClr val="007D87"/>
                </a:solidFill>
              </a:rPr>
              <a:t>Trip</a:t>
            </a:r>
          </a:p>
        </p:txBody>
      </p:sp>
      <p:sp>
        <p:nvSpPr>
          <p:cNvPr id="13" name="TextBox 12"/>
          <p:cNvSpPr txBox="1"/>
          <p:nvPr/>
        </p:nvSpPr>
        <p:spPr>
          <a:xfrm>
            <a:off x="6428232" y="5394960"/>
            <a:ext cx="5120640" cy="393192"/>
          </a:xfrm>
          <a:prstGeom prst="rect">
            <a:avLst/>
          </a:prstGeom>
          <a:noFill/>
        </p:spPr>
        <p:txBody>
          <a:bodyPr wrap="square" lIns="0" tIns="12700" rIns="0" bIns="0">
            <a:spAutoFit/>
          </a:bodyPr>
          <a:lstStyle/>
          <a:p>
            <a:pPr>
              <a:spcAft>
                <a:spcPts val="600"/>
              </a:spcAft>
            </a:pPr>
            <a:r>
              <a:rPr sz="2100" b="0">
                <a:solidFill>
                  <a:srgbClr val="172C42"/>
                </a:solidFill>
              </a:rPr>
              <a:t>Links a Rider and an assigned Driver</a:t>
            </a:r>
          </a:p>
        </p:txBody>
      </p:sp>
      <p:sp>
        <p:nvSpPr>
          <p:cNvPr id="14" name="TextBox 13"/>
          <p:cNvSpPr txBox="1"/>
          <p:nvPr/>
        </p:nvSpPr>
        <p:spPr>
          <a:xfrm>
            <a:off x="6428232" y="5843016"/>
            <a:ext cx="5120640" cy="393192"/>
          </a:xfrm>
          <a:prstGeom prst="rect">
            <a:avLst/>
          </a:prstGeom>
          <a:noFill/>
        </p:spPr>
        <p:txBody>
          <a:bodyPr wrap="square" lIns="0" tIns="12700" rIns="0" bIns="0">
            <a:spAutoFit/>
          </a:bodyPr>
          <a:lstStyle/>
          <a:p>
            <a:pPr>
              <a:spcAft>
                <a:spcPts val="600"/>
              </a:spcAft>
            </a:pPr>
            <a:r>
              <a:rPr sz="2100" b="1">
                <a:solidFill>
                  <a:srgbClr val="172C42"/>
                </a:solidFill>
              </a:rPr>
              <a:t>request()     complete()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10972800" cy="548640"/>
          </a:xfrm>
          <a:prstGeom prst="rect">
            <a:avLst/>
          </a:prstGeom>
          <a:noFill/>
        </p:spPr>
        <p:txBody>
          <a:bodyPr wrap="square" lIns="0" tIns="0" rIns="0" bIns="0" anchor="t">
            <a:spAutoFit/>
          </a:bodyPr>
          <a:lstStyle/>
          <a:p>
            <a:pPr algn="l">
              <a:spcAft>
                <a:spcPts val="800"/>
              </a:spcAft>
            </a:pPr>
            <a:r>
              <a:rPr sz="3200" b="1">
                <a:solidFill>
                  <a:srgbClr val="172C42"/>
                </a:solidFill>
              </a:rPr>
              <a:t>Spotify, Amazon and Netflix: state and behavior</a:t>
            </a:r>
          </a:p>
        </p:txBody>
      </p:sp>
      <p:sp>
        <p:nvSpPr>
          <p:cNvPr id="3" name="TextBox 2"/>
          <p:cNvSpPr txBox="1"/>
          <p:nvPr/>
        </p:nvSpPr>
        <p:spPr>
          <a:xfrm>
            <a:off x="594360" y="1143000"/>
            <a:ext cx="10972800" cy="868680"/>
          </a:xfrm>
          <a:prstGeom prst="rect">
            <a:avLst/>
          </a:prstGeom>
          <a:noFill/>
        </p:spPr>
        <p:txBody>
          <a:bodyPr wrap="square" lIns="0" tIns="0" rIns="0" bIns="0" anchor="t">
            <a:spAutoFit/>
          </a:bodyPr>
          <a:lstStyle/>
          <a:p>
            <a:pPr algn="l">
              <a:spcAft>
                <a:spcPts val="800"/>
              </a:spcAft>
            </a:pPr>
            <a:r>
              <a:rPr sz="2200" b="0">
                <a:solidFill>
                  <a:srgbClr val="3C4A58"/>
                </a:solidFill>
              </a:rPr>
              <a:t>A useful class groups facts with the actions that manage them. These objects are sample instances.</a:t>
            </a:r>
          </a:p>
        </p:txBody>
      </p:sp>
      <p:sp>
        <p:nvSpPr>
          <p:cNvPr id="4" name="TextBox 3"/>
          <p:cNvSpPr txBox="1"/>
          <p:nvPr/>
        </p:nvSpPr>
        <p:spPr>
          <a:xfrm>
            <a:off x="594360" y="6437376"/>
            <a:ext cx="10972800" cy="228600"/>
          </a:xfrm>
          <a:prstGeom prst="rect">
            <a:avLst/>
          </a:prstGeom>
          <a:noFill/>
        </p:spPr>
        <p:txBody>
          <a:bodyPr wrap="square" lIns="0" tIns="0" rIns="0" bIns="0" anchor="t">
            <a:spAutoFit/>
          </a:bodyPr>
          <a:lstStyle/>
          <a:p>
            <a:pPr algn="l">
              <a:spcAft>
                <a:spcPts val="800"/>
              </a:spcAft>
            </a:pPr>
            <a:r>
              <a:rPr sz="1400" b="0">
                <a:solidFill>
                  <a:srgbClr val="3C4A58"/>
                </a:solidFill>
              </a:rPr>
              <a:t>Illustrative models and sample objects, not the apps’ internal code</a:t>
            </a:r>
          </a:p>
        </p:txBody>
      </p:sp>
      <p:graphicFrame>
        <p:nvGraphicFramePr>
          <p:cNvPr id="6" name="Table 3"/>
          <p:cNvGraphicFramePr>
            <a:graphicFrameLocks noGrp="1"/>
          </p:cNvGraphicFramePr>
          <p:nvPr/>
        </p:nvGraphicFramePr>
        <p:xfrm>
          <a:off x="594360" y="2194560"/>
          <a:ext cx="11000232" cy="387096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3867912">
                  <a:extLst>
                    <a:ext uri="{9D8B030D-6E8A-4147-A177-3AD203B41FA5}">
                      <a16:colId xmlns:a16="http://schemas.microsoft.com/office/drawing/2014/main" val="20002"/>
                    </a:ext>
                  </a:extLst>
                </a:gridCol>
              </a:tblGrid>
              <a:tr h="548640">
                <a:tc>
                  <a:txBody>
                    <a:bodyPr/>
                    <a:lstStyle/>
                    <a:p>
                      <a:pPr algn="l">
                        <a:spcAft>
                          <a:spcPts val="400"/>
                        </a:spcAft>
                      </a:pPr>
                      <a:r>
                        <a:rPr sz="1700" b="1">
                          <a:solidFill>
                            <a:srgbClr val="FFFFFF"/>
                          </a:solidFill>
                        </a:rPr>
                        <a:t>App and candidate class</a:t>
                      </a:r>
                    </a:p>
                  </a:txBody>
                  <a:tcPr marL="164592" marR="164592" marT="109728" marB="73152">
                    <a:lnL>
                      <a:noFill/>
                    </a:lnL>
                    <a:lnR>
                      <a:noFill/>
                    </a:lnR>
                    <a:lnT>
                      <a:noFill/>
                    </a:lnT>
                    <a:lnB>
                      <a:noFill/>
                    </a:lnB>
                    <a:solidFill>
                      <a:srgbClr val="172C42"/>
                    </a:solidFill>
                  </a:tcPr>
                </a:tc>
                <a:tc>
                  <a:txBody>
                    <a:bodyPr/>
                    <a:lstStyle/>
                    <a:p>
                      <a:pPr algn="l">
                        <a:spcAft>
                          <a:spcPts val="400"/>
                        </a:spcAft>
                      </a:pPr>
                      <a:r>
                        <a:rPr sz="1700" b="1">
                          <a:solidFill>
                            <a:srgbClr val="FFFFFF"/>
                          </a:solidFill>
                        </a:rPr>
                        <a:t>One object and its facts</a:t>
                      </a:r>
                    </a:p>
                  </a:txBody>
                  <a:tcPr marL="164592" marR="164592" marT="109728" marB="73152">
                    <a:lnL>
                      <a:noFill/>
                    </a:lnL>
                    <a:lnR>
                      <a:noFill/>
                    </a:lnR>
                    <a:lnT>
                      <a:noFill/>
                    </a:lnT>
                    <a:lnB>
                      <a:noFill/>
                    </a:lnB>
                    <a:solidFill>
                      <a:srgbClr val="172C42"/>
                    </a:solidFill>
                  </a:tcPr>
                </a:tc>
                <a:tc>
                  <a:txBody>
                    <a:bodyPr/>
                    <a:lstStyle/>
                    <a:p>
                      <a:pPr algn="l">
                        <a:spcAft>
                          <a:spcPts val="400"/>
                        </a:spcAft>
                      </a:pPr>
                      <a:r>
                        <a:rPr sz="1700" b="1">
                          <a:solidFill>
                            <a:srgbClr val="FFFFFF"/>
                          </a:solidFill>
                        </a:rPr>
                        <a:t>Actions in our model</a:t>
                      </a:r>
                    </a:p>
                  </a:txBody>
                  <a:tcPr marL="164592" marR="164592" marT="109728" marB="73152">
                    <a:lnL>
                      <a:noFill/>
                    </a:lnL>
                    <a:lnR>
                      <a:noFill/>
                    </a:lnR>
                    <a:lnT>
                      <a:noFill/>
                    </a:lnT>
                    <a:lnB>
                      <a:noFill/>
                    </a:lnB>
                    <a:solidFill>
                      <a:srgbClr val="172C42"/>
                    </a:solidFill>
                  </a:tcPr>
                </a:tc>
                <a:extLst>
                  <a:ext uri="{0D108BD9-81ED-4DB2-BD59-A6C34878D82A}">
                    <a16:rowId xmlns:a16="http://schemas.microsoft.com/office/drawing/2014/main" val="10000"/>
                  </a:ext>
                </a:extLst>
              </a:tr>
              <a:tr h="1051560">
                <a:tc>
                  <a:txBody>
                    <a:bodyPr/>
                    <a:lstStyle/>
                    <a:p>
                      <a:pPr algn="l">
                        <a:spcAft>
                          <a:spcPts val="400"/>
                        </a:spcAft>
                      </a:pPr>
                      <a:r>
                        <a:rPr sz="1800" b="1">
                          <a:solidFill>
                            <a:srgbClr val="172C42"/>
                          </a:solidFill>
                        </a:rPr>
                        <a:t>Spotify: Playlist</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focusMix: Playlist</a:t>
                      </a:r>
                    </a:p>
                    <a:p>
                      <a:pPr algn="l">
                        <a:spcAft>
                          <a:spcPts val="400"/>
                        </a:spcAft>
                      </a:pPr>
                      <a:r>
                        <a:rPr sz="1800" b="0">
                          <a:solidFill>
                            <a:srgbClr val="172C42"/>
                          </a:solidFill>
                        </a:rPr>
                        <a:t>name = “Focus Mix”</a:t>
                      </a:r>
                    </a:p>
                    <a:p>
                      <a:pPr algn="l">
                        <a:spcAft>
                          <a:spcPts val="400"/>
                        </a:spcAft>
                      </a:pPr>
                      <a:r>
                        <a:rPr sz="1800" b="0">
                          <a:solidFill>
                            <a:srgbClr val="172C42"/>
                          </a:solidFill>
                        </a:rPr>
                        <a:t>tracks = [trackA, trackB]</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addTrack(track)</a:t>
                      </a:r>
                    </a:p>
                    <a:p>
                      <a:pPr algn="l">
                        <a:spcAft>
                          <a:spcPts val="400"/>
                        </a:spcAft>
                      </a:pPr>
                      <a:r>
                        <a:rPr sz="1800" b="0">
                          <a:solidFill>
                            <a:srgbClr val="172C42"/>
                          </a:solidFill>
                        </a:rPr>
                        <a:t>removeTrack(track)</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1"/>
                  </a:ext>
                </a:extLst>
              </a:tr>
              <a:tr h="1051560">
                <a:tc>
                  <a:txBody>
                    <a:bodyPr/>
                    <a:lstStyle/>
                    <a:p>
                      <a:pPr algn="l">
                        <a:spcAft>
                          <a:spcPts val="400"/>
                        </a:spcAft>
                      </a:pPr>
                      <a:r>
                        <a:rPr sz="1800" b="1">
                          <a:solidFill>
                            <a:srgbClr val="172C42"/>
                          </a:solidFill>
                        </a:rPr>
                        <a:t>Amazon: Cart</a:t>
                      </a:r>
                    </a:p>
                  </a:txBody>
                  <a:tcPr marL="164592" marR="164592" marT="109728" marB="73152">
                    <a:lnL>
                      <a:noFill/>
                    </a:lnL>
                    <a:lnR>
                      <a:noFill/>
                    </a:lnR>
                    <a:lnT>
                      <a:noFill/>
                    </a:lnT>
                    <a:lnB>
                      <a:noFill/>
                    </a:lnB>
                    <a:solidFill>
                      <a:srgbClr val="FFFFFF"/>
                    </a:solidFill>
                  </a:tcPr>
                </a:tc>
                <a:tc>
                  <a:txBody>
                    <a:bodyPr/>
                    <a:lstStyle/>
                    <a:p>
                      <a:pPr algn="l">
                        <a:spcAft>
                          <a:spcPts val="400"/>
                        </a:spcAft>
                      </a:pPr>
                      <a:r>
                        <a:rPr sz="1800" b="0">
                          <a:solidFill>
                            <a:srgbClr val="172C42"/>
                          </a:solidFill>
                        </a:rPr>
                        <a:t>cart17: Cart</a:t>
                      </a:r>
                    </a:p>
                    <a:p>
                      <a:pPr algn="l">
                        <a:spcAft>
                          <a:spcPts val="400"/>
                        </a:spcAft>
                      </a:pPr>
                      <a:r>
                        <a:rPr sz="1800" b="0">
                          <a:solidFill>
                            <a:srgbClr val="172C42"/>
                          </a:solidFill>
                        </a:rPr>
                        <a:t>items = [bookItem]</a:t>
                      </a:r>
                    </a:p>
                    <a:p>
                      <a:pPr algn="l">
                        <a:spcAft>
                          <a:spcPts val="400"/>
                        </a:spcAft>
                      </a:pPr>
                      <a:r>
                        <a:rPr sz="1800" b="0">
                          <a:solidFill>
                            <a:srgbClr val="172C42"/>
                          </a:solidFill>
                        </a:rPr>
                        <a:t>bookItem.quantity = 2</a:t>
                      </a:r>
                    </a:p>
                  </a:txBody>
                  <a:tcPr marL="164592" marR="164592" marT="109728" marB="73152">
                    <a:lnL>
                      <a:noFill/>
                    </a:lnL>
                    <a:lnR>
                      <a:noFill/>
                    </a:lnR>
                    <a:lnT>
                      <a:noFill/>
                    </a:lnT>
                    <a:lnB>
                      <a:noFill/>
                    </a:lnB>
                    <a:solidFill>
                      <a:srgbClr val="FFFFFF"/>
                    </a:solidFill>
                  </a:tcPr>
                </a:tc>
                <a:tc>
                  <a:txBody>
                    <a:bodyPr/>
                    <a:lstStyle/>
                    <a:p>
                      <a:pPr algn="l">
                        <a:spcAft>
                          <a:spcPts val="400"/>
                        </a:spcAft>
                      </a:pPr>
                      <a:r>
                        <a:rPr sz="1800" b="0">
                          <a:solidFill>
                            <a:srgbClr val="172C42"/>
                          </a:solidFill>
                        </a:rPr>
                        <a:t>addItem(product, quantity)</a:t>
                      </a:r>
                    </a:p>
                    <a:p>
                      <a:pPr algn="l">
                        <a:spcAft>
                          <a:spcPts val="400"/>
                        </a:spcAft>
                      </a:pPr>
                      <a:r>
                        <a:rPr sz="1800" b="0">
                          <a:solidFill>
                            <a:srgbClr val="172C42"/>
                          </a:solidFill>
                        </a:rPr>
                        <a:t>removeItem(product)</a:t>
                      </a:r>
                    </a:p>
                  </a:txBody>
                  <a:tcPr marL="164592" marR="164592" marT="109728" marB="73152">
                    <a:lnL>
                      <a:noFill/>
                    </a:lnL>
                    <a:lnR>
                      <a:noFill/>
                    </a:lnR>
                    <a:lnT>
                      <a:noFill/>
                    </a:lnT>
                    <a:lnB>
                      <a:noFill/>
                    </a:lnB>
                    <a:solidFill>
                      <a:srgbClr val="FFFFFF"/>
                    </a:solidFill>
                  </a:tcPr>
                </a:tc>
                <a:extLst>
                  <a:ext uri="{0D108BD9-81ED-4DB2-BD59-A6C34878D82A}">
                    <a16:rowId xmlns:a16="http://schemas.microsoft.com/office/drawing/2014/main" val="10002"/>
                  </a:ext>
                </a:extLst>
              </a:tr>
              <a:tr h="1051560">
                <a:tc>
                  <a:txBody>
                    <a:bodyPr/>
                    <a:lstStyle/>
                    <a:p>
                      <a:pPr algn="l">
                        <a:spcAft>
                          <a:spcPts val="400"/>
                        </a:spcAft>
                      </a:pPr>
                      <a:r>
                        <a:rPr sz="1800" b="1">
                          <a:solidFill>
                            <a:srgbClr val="172C42"/>
                          </a:solidFill>
                        </a:rPr>
                        <a:t>Netflix: ViewingRecord</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viewing8: ViewingRecord</a:t>
                      </a:r>
                    </a:p>
                    <a:p>
                      <a:pPr algn="l">
                        <a:spcAft>
                          <a:spcPts val="400"/>
                        </a:spcAft>
                      </a:pPr>
                      <a:r>
                        <a:rPr sz="1800" b="0">
                          <a:solidFill>
                            <a:srgbClr val="172C42"/>
                          </a:solidFill>
                        </a:rPr>
                        <a:t>profile = profile1</a:t>
                      </a:r>
                    </a:p>
                    <a:p>
                      <a:pPr algn="l">
                        <a:spcAft>
                          <a:spcPts val="400"/>
                        </a:spcAft>
                      </a:pPr>
                      <a:r>
                        <a:rPr sz="1800" b="0">
                          <a:solidFill>
                            <a:srgbClr val="172C42"/>
                          </a:solidFill>
                        </a:rPr>
                        <a:t>title = title42</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markWatched()</a:t>
                      </a:r>
                    </a:p>
                    <a:p>
                      <a:pPr algn="l">
                        <a:spcAft>
                          <a:spcPts val="400"/>
                        </a:spcAft>
                      </a:pPr>
                      <a:r>
                        <a:rPr sz="1800" b="0">
                          <a:solidFill>
                            <a:srgbClr val="172C42"/>
                          </a:solidFill>
                        </a:rPr>
                        <a:t>hideFromHistory()</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10972800" cy="548640"/>
          </a:xfrm>
          <a:prstGeom prst="rect">
            <a:avLst/>
          </a:prstGeom>
          <a:noFill/>
        </p:spPr>
        <p:txBody>
          <a:bodyPr wrap="square" lIns="0" tIns="0" rIns="0" bIns="0" anchor="t">
            <a:spAutoFit/>
          </a:bodyPr>
          <a:lstStyle/>
          <a:p>
            <a:pPr algn="l">
              <a:spcAft>
                <a:spcPts val="900"/>
              </a:spcAft>
            </a:pPr>
            <a:r>
              <a:rPr sz="3200" b="1">
                <a:solidFill>
                  <a:srgbClr val="172C42"/>
                </a:solidFill>
              </a:rPr>
              <a:t>Spotify, Amazon and Netflix: object life</a:t>
            </a:r>
          </a:p>
        </p:txBody>
      </p:sp>
      <p:sp>
        <p:nvSpPr>
          <p:cNvPr id="3" name="TextBox 2"/>
          <p:cNvSpPr txBox="1"/>
          <p:nvPr/>
        </p:nvSpPr>
        <p:spPr>
          <a:xfrm>
            <a:off x="594360" y="1143000"/>
            <a:ext cx="10972800" cy="822960"/>
          </a:xfrm>
          <a:prstGeom prst="rect">
            <a:avLst/>
          </a:prstGeom>
          <a:noFill/>
        </p:spPr>
        <p:txBody>
          <a:bodyPr wrap="square" lIns="0" tIns="0" rIns="0" bIns="0" anchor="t">
            <a:spAutoFit/>
          </a:bodyPr>
          <a:lstStyle/>
          <a:p>
            <a:pPr algn="l">
              <a:spcAft>
                <a:spcPts val="900"/>
              </a:spcAft>
            </a:pPr>
            <a:r>
              <a:rPr sz="2200" b="0">
                <a:solidFill>
                  <a:srgbClr val="3C4A58"/>
                </a:solidFill>
              </a:rPr>
              <a:t>A class holds facts and the actions that manage them. The objects below are sample instances.</a:t>
            </a:r>
          </a:p>
        </p:txBody>
      </p:sp>
      <p:sp>
        <p:nvSpPr>
          <p:cNvPr id="4" name="TextBox 3"/>
          <p:cNvSpPr txBox="1"/>
          <p:nvPr/>
        </p:nvSpPr>
        <p:spPr>
          <a:xfrm>
            <a:off x="594360" y="6437376"/>
            <a:ext cx="10972800" cy="228600"/>
          </a:xfrm>
          <a:prstGeom prst="rect">
            <a:avLst/>
          </a:prstGeom>
          <a:noFill/>
        </p:spPr>
        <p:txBody>
          <a:bodyPr wrap="square" lIns="0" tIns="12700" rIns="0" bIns="0">
            <a:spAutoFit/>
          </a:bodyPr>
          <a:lstStyle/>
          <a:p>
            <a:pPr>
              <a:spcAft>
                <a:spcPts val="600"/>
              </a:spcAft>
            </a:pPr>
            <a:r>
              <a:rPr sz="1400" b="0">
                <a:solidFill>
                  <a:srgbClr val="3C4A58"/>
                </a:solidFill>
              </a:rPr>
              <a:t>Illustrative class models and sample objects, not the apps’ internal code</a:t>
            </a:r>
          </a:p>
        </p:txBody>
      </p:sp>
      <p:sp>
        <p:nvSpPr>
          <p:cNvPr id="5" name="TextBox 4"/>
          <p:cNvSpPr txBox="1"/>
          <p:nvPr/>
        </p:nvSpPr>
        <p:spPr>
          <a:xfrm>
            <a:off x="594360" y="1874519"/>
            <a:ext cx="3337560" cy="365760"/>
          </a:xfrm>
          <a:prstGeom prst="rect">
            <a:avLst/>
          </a:prstGeom>
          <a:noFill/>
        </p:spPr>
        <p:txBody>
          <a:bodyPr wrap="square" lIns="0" tIns="12700" rIns="0" bIns="0">
            <a:spAutoFit/>
          </a:bodyPr>
          <a:lstStyle/>
          <a:p>
            <a:pPr>
              <a:spcAft>
                <a:spcPts val="600"/>
              </a:spcAft>
            </a:pPr>
            <a:r>
              <a:rPr sz="2500" b="1">
                <a:solidFill>
                  <a:srgbClr val="172C42"/>
                </a:solidFill>
              </a:rPr>
              <a:t>Spotify</a:t>
            </a:r>
          </a:p>
        </p:txBody>
      </p:sp>
      <p:sp>
        <p:nvSpPr>
          <p:cNvPr id="6" name="TextBox 5"/>
          <p:cNvSpPr txBox="1"/>
          <p:nvPr/>
        </p:nvSpPr>
        <p:spPr>
          <a:xfrm>
            <a:off x="4425696" y="1874519"/>
            <a:ext cx="3337560" cy="365760"/>
          </a:xfrm>
          <a:prstGeom prst="rect">
            <a:avLst/>
          </a:prstGeom>
          <a:noFill/>
        </p:spPr>
        <p:txBody>
          <a:bodyPr wrap="square" lIns="0" tIns="12700" rIns="0" bIns="0">
            <a:spAutoFit/>
          </a:bodyPr>
          <a:lstStyle/>
          <a:p>
            <a:pPr>
              <a:spcAft>
                <a:spcPts val="600"/>
              </a:spcAft>
            </a:pPr>
            <a:r>
              <a:rPr sz="2500" b="1">
                <a:solidFill>
                  <a:srgbClr val="172C42"/>
                </a:solidFill>
              </a:rPr>
              <a:t>Amazon</a:t>
            </a:r>
          </a:p>
        </p:txBody>
      </p:sp>
      <p:sp>
        <p:nvSpPr>
          <p:cNvPr id="7" name="TextBox 6"/>
          <p:cNvSpPr txBox="1"/>
          <p:nvPr/>
        </p:nvSpPr>
        <p:spPr>
          <a:xfrm>
            <a:off x="8229600" y="1874519"/>
            <a:ext cx="3337560" cy="365760"/>
          </a:xfrm>
          <a:prstGeom prst="rect">
            <a:avLst/>
          </a:prstGeom>
          <a:noFill/>
        </p:spPr>
        <p:txBody>
          <a:bodyPr wrap="square" lIns="0" tIns="12700" rIns="0" bIns="0">
            <a:spAutoFit/>
          </a:bodyPr>
          <a:lstStyle/>
          <a:p>
            <a:pPr>
              <a:spcAft>
                <a:spcPts val="600"/>
              </a:spcAft>
            </a:pPr>
            <a:r>
              <a:rPr sz="2500" b="1">
                <a:solidFill>
                  <a:srgbClr val="172C42"/>
                </a:solidFill>
              </a:rPr>
              <a:t>Netflix</a:t>
            </a:r>
          </a:p>
        </p:txBody>
      </p:sp>
      <p:pic>
        <p:nvPicPr>
          <p:cNvPr id="8" name="Picture 7" descr="music.png"/>
          <p:cNvPicPr>
            <a:picLocks noChangeAspect="1"/>
          </p:cNvPicPr>
          <p:nvPr/>
        </p:nvPicPr>
        <p:blipFill>
          <a:blip r:embed="rId3"/>
          <a:stretch>
            <a:fillRect/>
          </a:stretch>
        </p:blipFill>
        <p:spPr>
          <a:xfrm>
            <a:off x="1255750" y="2331720"/>
            <a:ext cx="2014779" cy="2286000"/>
          </a:xfrm>
          <a:prstGeom prst="rect">
            <a:avLst/>
          </a:prstGeom>
        </p:spPr>
      </p:pic>
      <p:pic>
        <p:nvPicPr>
          <p:cNvPr id="9" name="Picture 8" descr="shopping.png"/>
          <p:cNvPicPr>
            <a:picLocks noChangeAspect="1"/>
          </p:cNvPicPr>
          <p:nvPr/>
        </p:nvPicPr>
        <p:blipFill>
          <a:blip r:embed="rId4"/>
          <a:stretch>
            <a:fillRect/>
          </a:stretch>
        </p:blipFill>
        <p:spPr>
          <a:xfrm>
            <a:off x="5039730" y="2331720"/>
            <a:ext cx="2109491" cy="2286000"/>
          </a:xfrm>
          <a:prstGeom prst="rect">
            <a:avLst/>
          </a:prstGeom>
        </p:spPr>
      </p:pic>
      <p:pic>
        <p:nvPicPr>
          <p:cNvPr id="10" name="Picture 9" descr="viewing.png"/>
          <p:cNvPicPr>
            <a:picLocks noChangeAspect="1"/>
          </p:cNvPicPr>
          <p:nvPr/>
        </p:nvPicPr>
        <p:blipFill>
          <a:blip r:embed="rId5"/>
          <a:stretch>
            <a:fillRect/>
          </a:stretch>
        </p:blipFill>
        <p:spPr>
          <a:xfrm>
            <a:off x="8710176" y="2331720"/>
            <a:ext cx="2376406" cy="2286000"/>
          </a:xfrm>
          <a:prstGeom prst="rect">
            <a:avLst/>
          </a:prstGeom>
        </p:spPr>
      </p:pic>
      <p:sp>
        <p:nvSpPr>
          <p:cNvPr id="11" name="TextBox 10"/>
          <p:cNvSpPr txBox="1"/>
          <p:nvPr/>
        </p:nvSpPr>
        <p:spPr>
          <a:xfrm>
            <a:off x="594360" y="4681728"/>
            <a:ext cx="3364992" cy="365760"/>
          </a:xfrm>
          <a:prstGeom prst="rect">
            <a:avLst/>
          </a:prstGeom>
          <a:noFill/>
        </p:spPr>
        <p:txBody>
          <a:bodyPr wrap="square" lIns="0" tIns="12700" rIns="0" bIns="0">
            <a:spAutoFit/>
          </a:bodyPr>
          <a:lstStyle/>
          <a:p>
            <a:pPr>
              <a:spcAft>
                <a:spcPts val="600"/>
              </a:spcAft>
            </a:pPr>
            <a:r>
              <a:rPr sz="2400" b="1">
                <a:solidFill>
                  <a:srgbClr val="007D87"/>
                </a:solidFill>
              </a:rPr>
              <a:t>Playlist</a:t>
            </a:r>
          </a:p>
        </p:txBody>
      </p:sp>
      <p:sp>
        <p:nvSpPr>
          <p:cNvPr id="12" name="TextBox 11"/>
          <p:cNvSpPr txBox="1"/>
          <p:nvPr/>
        </p:nvSpPr>
        <p:spPr>
          <a:xfrm>
            <a:off x="594360" y="5148072"/>
            <a:ext cx="3364992" cy="365760"/>
          </a:xfrm>
          <a:prstGeom prst="rect">
            <a:avLst/>
          </a:prstGeom>
          <a:noFill/>
        </p:spPr>
        <p:txBody>
          <a:bodyPr wrap="square" lIns="0" tIns="12700" rIns="0" bIns="0">
            <a:spAutoFit/>
          </a:bodyPr>
          <a:lstStyle/>
          <a:p>
            <a:pPr>
              <a:spcAft>
                <a:spcPts val="600"/>
              </a:spcAft>
            </a:pPr>
            <a:r>
              <a:rPr sz="2000" b="1">
                <a:solidFill>
                  <a:srgbClr val="172C42"/>
                </a:solidFill>
              </a:rPr>
              <a:t>focusMix: Playlist</a:t>
            </a:r>
          </a:p>
        </p:txBody>
      </p:sp>
      <p:sp>
        <p:nvSpPr>
          <p:cNvPr id="13" name="TextBox 12"/>
          <p:cNvSpPr txBox="1"/>
          <p:nvPr/>
        </p:nvSpPr>
        <p:spPr>
          <a:xfrm>
            <a:off x="594360" y="5568696"/>
            <a:ext cx="3364992" cy="320040"/>
          </a:xfrm>
          <a:prstGeom prst="rect">
            <a:avLst/>
          </a:prstGeom>
          <a:noFill/>
        </p:spPr>
        <p:txBody>
          <a:bodyPr wrap="square" lIns="0" tIns="12700" rIns="0" bIns="0">
            <a:spAutoFit/>
          </a:bodyPr>
          <a:lstStyle/>
          <a:p>
            <a:pPr>
              <a:spcAft>
                <a:spcPts val="600"/>
              </a:spcAft>
            </a:pPr>
            <a:r>
              <a:rPr sz="1900" b="0">
                <a:solidFill>
                  <a:srgbClr val="3C4A58"/>
                </a:solidFill>
              </a:rPr>
              <a:t>name = “Focus Mix”</a:t>
            </a:r>
          </a:p>
        </p:txBody>
      </p:sp>
      <p:sp>
        <p:nvSpPr>
          <p:cNvPr id="14" name="TextBox 13"/>
          <p:cNvSpPr txBox="1"/>
          <p:nvPr/>
        </p:nvSpPr>
        <p:spPr>
          <a:xfrm>
            <a:off x="594360" y="5952744"/>
            <a:ext cx="3364992" cy="320040"/>
          </a:xfrm>
          <a:prstGeom prst="rect">
            <a:avLst/>
          </a:prstGeom>
          <a:noFill/>
        </p:spPr>
        <p:txBody>
          <a:bodyPr wrap="square" lIns="0" tIns="12700" rIns="0" bIns="0">
            <a:spAutoFit/>
          </a:bodyPr>
          <a:lstStyle/>
          <a:p>
            <a:pPr>
              <a:spcAft>
                <a:spcPts val="600"/>
              </a:spcAft>
            </a:pPr>
            <a:r>
              <a:rPr sz="1900" b="0">
                <a:solidFill>
                  <a:srgbClr val="172C42"/>
                </a:solidFill>
              </a:rPr>
              <a:t>addTrack(track)</a:t>
            </a:r>
          </a:p>
        </p:txBody>
      </p:sp>
      <p:sp>
        <p:nvSpPr>
          <p:cNvPr id="15" name="TextBox 14"/>
          <p:cNvSpPr txBox="1"/>
          <p:nvPr/>
        </p:nvSpPr>
        <p:spPr>
          <a:xfrm>
            <a:off x="4425696" y="4681728"/>
            <a:ext cx="3364992" cy="365760"/>
          </a:xfrm>
          <a:prstGeom prst="rect">
            <a:avLst/>
          </a:prstGeom>
          <a:noFill/>
        </p:spPr>
        <p:txBody>
          <a:bodyPr wrap="square" lIns="0" tIns="12700" rIns="0" bIns="0">
            <a:spAutoFit/>
          </a:bodyPr>
          <a:lstStyle/>
          <a:p>
            <a:pPr>
              <a:spcAft>
                <a:spcPts val="600"/>
              </a:spcAft>
            </a:pPr>
            <a:r>
              <a:rPr sz="2400" b="1">
                <a:solidFill>
                  <a:srgbClr val="007D87"/>
                </a:solidFill>
              </a:rPr>
              <a:t>Cart</a:t>
            </a:r>
          </a:p>
        </p:txBody>
      </p:sp>
      <p:sp>
        <p:nvSpPr>
          <p:cNvPr id="16" name="TextBox 15"/>
          <p:cNvSpPr txBox="1"/>
          <p:nvPr/>
        </p:nvSpPr>
        <p:spPr>
          <a:xfrm>
            <a:off x="4425696" y="5148072"/>
            <a:ext cx="3364992" cy="365760"/>
          </a:xfrm>
          <a:prstGeom prst="rect">
            <a:avLst/>
          </a:prstGeom>
          <a:noFill/>
        </p:spPr>
        <p:txBody>
          <a:bodyPr wrap="square" lIns="0" tIns="12700" rIns="0" bIns="0">
            <a:spAutoFit/>
          </a:bodyPr>
          <a:lstStyle/>
          <a:p>
            <a:pPr>
              <a:spcAft>
                <a:spcPts val="600"/>
              </a:spcAft>
            </a:pPr>
            <a:r>
              <a:rPr sz="2000" b="1">
                <a:solidFill>
                  <a:srgbClr val="172C42"/>
                </a:solidFill>
              </a:rPr>
              <a:t>cart17: Cart</a:t>
            </a:r>
          </a:p>
        </p:txBody>
      </p:sp>
      <p:sp>
        <p:nvSpPr>
          <p:cNvPr id="17" name="TextBox 16"/>
          <p:cNvSpPr txBox="1"/>
          <p:nvPr/>
        </p:nvSpPr>
        <p:spPr>
          <a:xfrm>
            <a:off x="4425696" y="5568696"/>
            <a:ext cx="3364992" cy="320040"/>
          </a:xfrm>
          <a:prstGeom prst="rect">
            <a:avLst/>
          </a:prstGeom>
          <a:noFill/>
        </p:spPr>
        <p:txBody>
          <a:bodyPr wrap="square" lIns="0" tIns="12700" rIns="0" bIns="0">
            <a:spAutoFit/>
          </a:bodyPr>
          <a:lstStyle/>
          <a:p>
            <a:pPr>
              <a:spcAft>
                <a:spcPts val="600"/>
              </a:spcAft>
            </a:pPr>
            <a:r>
              <a:rPr sz="1900" b="0">
                <a:solidFill>
                  <a:srgbClr val="3C4A58"/>
                </a:solidFill>
              </a:rPr>
              <a:t>bookItem.quantity = 2</a:t>
            </a:r>
          </a:p>
        </p:txBody>
      </p:sp>
      <p:sp>
        <p:nvSpPr>
          <p:cNvPr id="18" name="TextBox 17"/>
          <p:cNvSpPr txBox="1"/>
          <p:nvPr/>
        </p:nvSpPr>
        <p:spPr>
          <a:xfrm>
            <a:off x="4425696" y="5952744"/>
            <a:ext cx="3364992" cy="320040"/>
          </a:xfrm>
          <a:prstGeom prst="rect">
            <a:avLst/>
          </a:prstGeom>
          <a:noFill/>
        </p:spPr>
        <p:txBody>
          <a:bodyPr wrap="square" lIns="0" tIns="12700" rIns="0" bIns="0">
            <a:spAutoFit/>
          </a:bodyPr>
          <a:lstStyle/>
          <a:p>
            <a:pPr>
              <a:spcAft>
                <a:spcPts val="600"/>
              </a:spcAft>
            </a:pPr>
            <a:r>
              <a:rPr sz="1900" b="0">
                <a:solidFill>
                  <a:srgbClr val="172C42"/>
                </a:solidFill>
              </a:rPr>
              <a:t>addItem(product, quantity)</a:t>
            </a:r>
          </a:p>
        </p:txBody>
      </p:sp>
      <p:sp>
        <p:nvSpPr>
          <p:cNvPr id="19" name="TextBox 18"/>
          <p:cNvSpPr txBox="1"/>
          <p:nvPr/>
        </p:nvSpPr>
        <p:spPr>
          <a:xfrm>
            <a:off x="8229600" y="4681728"/>
            <a:ext cx="3364992" cy="365760"/>
          </a:xfrm>
          <a:prstGeom prst="rect">
            <a:avLst/>
          </a:prstGeom>
          <a:noFill/>
        </p:spPr>
        <p:txBody>
          <a:bodyPr wrap="square" lIns="0" tIns="12700" rIns="0" bIns="0">
            <a:spAutoFit/>
          </a:bodyPr>
          <a:lstStyle/>
          <a:p>
            <a:pPr>
              <a:spcAft>
                <a:spcPts val="600"/>
              </a:spcAft>
            </a:pPr>
            <a:r>
              <a:rPr sz="2400" b="1">
                <a:solidFill>
                  <a:srgbClr val="007D87"/>
                </a:solidFill>
              </a:rPr>
              <a:t>ViewingRecord</a:t>
            </a:r>
          </a:p>
        </p:txBody>
      </p:sp>
      <p:sp>
        <p:nvSpPr>
          <p:cNvPr id="20" name="TextBox 19"/>
          <p:cNvSpPr txBox="1"/>
          <p:nvPr/>
        </p:nvSpPr>
        <p:spPr>
          <a:xfrm>
            <a:off x="8229600" y="5148072"/>
            <a:ext cx="3364992" cy="365760"/>
          </a:xfrm>
          <a:prstGeom prst="rect">
            <a:avLst/>
          </a:prstGeom>
          <a:noFill/>
        </p:spPr>
        <p:txBody>
          <a:bodyPr wrap="square" lIns="0" tIns="12700" rIns="0" bIns="0">
            <a:spAutoFit/>
          </a:bodyPr>
          <a:lstStyle/>
          <a:p>
            <a:pPr>
              <a:spcAft>
                <a:spcPts val="600"/>
              </a:spcAft>
            </a:pPr>
            <a:r>
              <a:rPr sz="2000" b="1">
                <a:solidFill>
                  <a:srgbClr val="172C42"/>
                </a:solidFill>
              </a:rPr>
              <a:t>viewing8: ViewingRecord</a:t>
            </a:r>
          </a:p>
        </p:txBody>
      </p:sp>
      <p:sp>
        <p:nvSpPr>
          <p:cNvPr id="21" name="TextBox 20"/>
          <p:cNvSpPr txBox="1"/>
          <p:nvPr/>
        </p:nvSpPr>
        <p:spPr>
          <a:xfrm>
            <a:off x="8229600" y="5568696"/>
            <a:ext cx="3364992" cy="320040"/>
          </a:xfrm>
          <a:prstGeom prst="rect">
            <a:avLst/>
          </a:prstGeom>
          <a:noFill/>
        </p:spPr>
        <p:txBody>
          <a:bodyPr wrap="square" lIns="0" tIns="12700" rIns="0" bIns="0">
            <a:spAutoFit/>
          </a:bodyPr>
          <a:lstStyle/>
          <a:p>
            <a:pPr>
              <a:spcAft>
                <a:spcPts val="600"/>
              </a:spcAft>
            </a:pPr>
            <a:r>
              <a:rPr sz="1900" b="0">
                <a:solidFill>
                  <a:srgbClr val="3C4A58"/>
                </a:solidFill>
              </a:rPr>
              <a:t>title = title42</a:t>
            </a:r>
          </a:p>
        </p:txBody>
      </p:sp>
      <p:sp>
        <p:nvSpPr>
          <p:cNvPr id="22" name="TextBox 21"/>
          <p:cNvSpPr txBox="1"/>
          <p:nvPr/>
        </p:nvSpPr>
        <p:spPr>
          <a:xfrm>
            <a:off x="8229600" y="5952744"/>
            <a:ext cx="3364992" cy="320040"/>
          </a:xfrm>
          <a:prstGeom prst="rect">
            <a:avLst/>
          </a:prstGeom>
          <a:noFill/>
        </p:spPr>
        <p:txBody>
          <a:bodyPr wrap="square" lIns="0" tIns="12700" rIns="0" bIns="0">
            <a:spAutoFit/>
          </a:bodyPr>
          <a:lstStyle/>
          <a:p>
            <a:pPr>
              <a:spcAft>
                <a:spcPts val="600"/>
              </a:spcAft>
            </a:pPr>
            <a:r>
              <a:rPr sz="1900" b="0">
                <a:solidFill>
                  <a:srgbClr val="172C42"/>
                </a:solidFill>
              </a:rPr>
              <a:t>markWatched()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11480"/>
            <a:ext cx="10972800" cy="548640"/>
          </a:xfrm>
          <a:prstGeom prst="rect">
            <a:avLst/>
          </a:prstGeom>
          <a:noFill/>
        </p:spPr>
        <p:txBody>
          <a:bodyPr wrap="square" lIns="0" tIns="0" rIns="0" bIns="0" anchor="t">
            <a:spAutoFit/>
          </a:bodyPr>
          <a:lstStyle/>
          <a:p>
            <a:pPr algn="l">
              <a:spcAft>
                <a:spcPts val="800"/>
              </a:spcAft>
            </a:pPr>
            <a:r>
              <a:rPr sz="3200" b="1">
                <a:solidFill>
                  <a:srgbClr val="172C42"/>
                </a:solidFill>
              </a:rPr>
              <a:t>Practice: identify classes and objects</a:t>
            </a:r>
          </a:p>
        </p:txBody>
      </p:sp>
      <p:sp>
        <p:nvSpPr>
          <p:cNvPr id="3" name="TextBox 2"/>
          <p:cNvSpPr txBox="1"/>
          <p:nvPr/>
        </p:nvSpPr>
        <p:spPr>
          <a:xfrm>
            <a:off x="594360" y="1143000"/>
            <a:ext cx="10972800" cy="868680"/>
          </a:xfrm>
          <a:prstGeom prst="rect">
            <a:avLst/>
          </a:prstGeom>
          <a:noFill/>
        </p:spPr>
        <p:txBody>
          <a:bodyPr wrap="square" lIns="0" tIns="0" rIns="0" bIns="0" anchor="t">
            <a:spAutoFit/>
          </a:bodyPr>
          <a:lstStyle/>
          <a:p>
            <a:pPr algn="l">
              <a:spcAft>
                <a:spcPts val="800"/>
              </a:spcAft>
            </a:pPr>
            <a:r>
              <a:rPr sz="2200" b="0">
                <a:solidFill>
                  <a:srgbClr val="3C4A58"/>
                </a:solidFill>
              </a:rPr>
              <a:t>Scenario: Maya creates a Spotify playlist called “Weekend Mix” and adds two tracks.</a:t>
            </a:r>
          </a:p>
        </p:txBody>
      </p:sp>
      <p:sp>
        <p:nvSpPr>
          <p:cNvPr id="4" name="TextBox 3"/>
          <p:cNvSpPr txBox="1"/>
          <p:nvPr/>
        </p:nvSpPr>
        <p:spPr>
          <a:xfrm>
            <a:off x="594360" y="6437376"/>
            <a:ext cx="10972800" cy="228600"/>
          </a:xfrm>
          <a:prstGeom prst="rect">
            <a:avLst/>
          </a:prstGeom>
          <a:noFill/>
        </p:spPr>
        <p:txBody>
          <a:bodyPr wrap="square" lIns="0" tIns="0" rIns="0" bIns="0" anchor="t">
            <a:spAutoFit/>
          </a:bodyPr>
          <a:lstStyle/>
          <a:p>
            <a:pPr algn="l">
              <a:spcAft>
                <a:spcPts val="800"/>
              </a:spcAft>
            </a:pPr>
            <a:r>
              <a:rPr sz="1400" b="0">
                <a:solidFill>
                  <a:srgbClr val="3C4A58"/>
                </a:solidFill>
              </a:rPr>
              <a:t>Illustrative models and sample objects, not the apps’ internal code</a:t>
            </a:r>
          </a:p>
        </p:txBody>
      </p:sp>
      <p:sp>
        <p:nvSpPr>
          <p:cNvPr id="5" name="TextBox 4"/>
          <p:cNvSpPr txBox="1"/>
          <p:nvPr/>
        </p:nvSpPr>
        <p:spPr>
          <a:xfrm>
            <a:off x="594360" y="2331720"/>
            <a:ext cx="2971800" cy="457200"/>
          </a:xfrm>
          <a:prstGeom prst="rect">
            <a:avLst/>
          </a:prstGeom>
          <a:noFill/>
        </p:spPr>
        <p:txBody>
          <a:bodyPr wrap="square" lIns="0" tIns="0" rIns="0" bIns="0" anchor="t">
            <a:spAutoFit/>
          </a:bodyPr>
          <a:lstStyle/>
          <a:p>
            <a:pPr algn="l">
              <a:spcAft>
                <a:spcPts val="800"/>
              </a:spcAft>
            </a:pPr>
            <a:r>
              <a:rPr sz="2700" b="1">
                <a:solidFill>
                  <a:srgbClr val="172C42"/>
                </a:solidFill>
              </a:rPr>
              <a:t>Your task</a:t>
            </a:r>
          </a:p>
        </p:txBody>
      </p:sp>
      <p:sp>
        <p:nvSpPr>
          <p:cNvPr id="6" name="TextBox 5"/>
          <p:cNvSpPr txBox="1"/>
          <p:nvPr/>
        </p:nvSpPr>
        <p:spPr>
          <a:xfrm>
            <a:off x="3749039" y="2286000"/>
            <a:ext cx="7726679" cy="2468880"/>
          </a:xfrm>
          <a:prstGeom prst="rect">
            <a:avLst/>
          </a:prstGeom>
          <a:noFill/>
        </p:spPr>
        <p:txBody>
          <a:bodyPr wrap="square" lIns="0" tIns="0" rIns="0" bIns="0" anchor="t">
            <a:spAutoFit/>
          </a:bodyPr>
          <a:lstStyle/>
          <a:p>
            <a:pPr algn="l">
              <a:spcAft>
                <a:spcPts val="800"/>
              </a:spcAft>
            </a:pPr>
            <a:r>
              <a:rPr sz="2400" b="0">
                <a:solidFill>
                  <a:srgbClr val="172C42"/>
                </a:solidFill>
              </a:rPr>
              <a:t>1. Name three candidate classes.</a:t>
            </a:r>
          </a:p>
          <a:p>
            <a:pPr algn="l">
              <a:spcAft>
                <a:spcPts val="800"/>
              </a:spcAft>
            </a:pPr>
            <a:r>
              <a:rPr sz="2400" b="0">
                <a:solidFill>
                  <a:srgbClr val="172C42"/>
                </a:solidFill>
              </a:rPr>
              <a:t>2. Give one object example for each.</a:t>
            </a:r>
          </a:p>
          <a:p>
            <a:pPr algn="l">
              <a:spcAft>
                <a:spcPts val="800"/>
              </a:spcAft>
            </a:pPr>
            <a:r>
              <a:rPr sz="2400" b="0">
                <a:solidFill>
                  <a:srgbClr val="172C42"/>
                </a:solidFill>
              </a:rPr>
              <a:t>3. Add two facts and one action to Playlist.</a:t>
            </a:r>
          </a:p>
          <a:p>
            <a:pPr algn="l">
              <a:spcAft>
                <a:spcPts val="800"/>
              </a:spcAft>
            </a:pPr>
            <a:r>
              <a:rPr sz="2400" b="0">
                <a:solidFill>
                  <a:srgbClr val="172C42"/>
                </a:solidFill>
              </a:rPr>
              <a:t>4. Explain how Playlist relates to Track.</a:t>
            </a:r>
          </a:p>
        </p:txBody>
      </p:sp>
      <p:sp>
        <p:nvSpPr>
          <p:cNvPr id="7" name="TextBox 6"/>
          <p:cNvSpPr txBox="1"/>
          <p:nvPr/>
        </p:nvSpPr>
        <p:spPr>
          <a:xfrm>
            <a:off x="594360" y="5212080"/>
            <a:ext cx="2971800" cy="731520"/>
          </a:xfrm>
          <a:prstGeom prst="rect">
            <a:avLst/>
          </a:prstGeom>
          <a:noFill/>
        </p:spPr>
        <p:txBody>
          <a:bodyPr wrap="square" lIns="0" tIns="0" rIns="0" bIns="0" anchor="t">
            <a:spAutoFit/>
          </a:bodyPr>
          <a:lstStyle/>
          <a:p>
            <a:pPr algn="l">
              <a:spcAft>
                <a:spcPts val="800"/>
              </a:spcAft>
            </a:pPr>
            <a:r>
              <a:rPr sz="2400" b="1">
                <a:solidFill>
                  <a:srgbClr val="172C42"/>
                </a:solidFill>
              </a:rPr>
              <a:t>Check your reasoning</a:t>
            </a:r>
          </a:p>
        </p:txBody>
      </p:sp>
      <p:sp>
        <p:nvSpPr>
          <p:cNvPr id="8" name="TextBox 7"/>
          <p:cNvSpPr txBox="1"/>
          <p:nvPr/>
        </p:nvSpPr>
        <p:spPr>
          <a:xfrm>
            <a:off x="3749039" y="5212080"/>
            <a:ext cx="7726679" cy="914400"/>
          </a:xfrm>
          <a:prstGeom prst="rect">
            <a:avLst/>
          </a:prstGeom>
          <a:noFill/>
        </p:spPr>
        <p:txBody>
          <a:bodyPr wrap="square" lIns="0" tIns="0" rIns="0" bIns="0" anchor="t">
            <a:spAutoFit/>
          </a:bodyPr>
          <a:lstStyle/>
          <a:p>
            <a:pPr algn="l">
              <a:spcAft>
                <a:spcPts val="800"/>
              </a:spcAft>
            </a:pPr>
            <a:r>
              <a:rPr sz="2300" b="0">
                <a:solidFill>
                  <a:srgbClr val="3C4A58"/>
                </a:solidFill>
              </a:rPr>
              <a:t>Which name describes a type? Which name identifies a particular instance?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UML diagrams</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960120"/>
          </a:xfrm>
        </p:spPr>
        <p:txBody>
          <a:bodyPr wrap="square" lIns="0" tIns="0" rIns="0" bIns="0"/>
          <a:lstStyle/>
          <a:p>
            <a:pPr marL="0" indent="0" algn="l">
              <a:spcAft>
                <a:spcPts val="600"/>
              </a:spcAft>
              <a:buNone/>
            </a:pPr>
            <a:r>
              <a:rPr lang="en-US" sz="2200" b="0">
                <a:solidFill>
                  <a:srgbClr val="3C4A58"/>
                </a:solidFill>
              </a:rPr>
              <a:t>A UML diagram is a standard drawing of that analysis or design. You already have two drawings. The use case diagram is UML. The flowchart is an explanation of the steps.</a:t>
            </a:r>
            <a:endParaRPr lang="en-US"/>
          </a:p>
        </p:txBody>
      </p:sp>
      <p:graphicFrame>
        <p:nvGraphicFramePr>
          <p:cNvPr id="4" name="Table 3"/>
          <p:cNvGraphicFramePr>
            <a:graphicFrameLocks noGrp="1"/>
          </p:cNvGraphicFramePr>
          <p:nvPr/>
        </p:nvGraphicFramePr>
        <p:xfrm>
          <a:off x="594360" y="2331720"/>
          <a:ext cx="11000232" cy="406908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3867912">
                  <a:extLst>
                    <a:ext uri="{9D8B030D-6E8A-4147-A177-3AD203B41FA5}">
                      <a16:colId xmlns:a16="http://schemas.microsoft.com/office/drawing/2014/main" val="20002"/>
                    </a:ext>
                  </a:extLst>
                </a:gridCol>
              </a:tblGrid>
              <a:tr h="502920">
                <a:tc>
                  <a:txBody>
                    <a:bodyPr/>
                    <a:lstStyle/>
                    <a:p>
                      <a:pPr algn="l">
                        <a:spcAft>
                          <a:spcPts val="400"/>
                        </a:spcAft>
                      </a:pPr>
                      <a:r>
                        <a:rPr sz="1700" b="1">
                          <a:solidFill>
                            <a:srgbClr val="FFFFFF"/>
                          </a:solidFill>
                        </a:rPr>
                        <a:t>Diagram</a:t>
                      </a:r>
                    </a:p>
                  </a:txBody>
                  <a:tcPr marL="164592" marR="164592" marT="109728" marB="73152">
                    <a:lnL>
                      <a:noFill/>
                    </a:lnL>
                    <a:lnR>
                      <a:noFill/>
                    </a:lnR>
                    <a:lnT>
                      <a:noFill/>
                    </a:lnT>
                    <a:lnB>
                      <a:noFill/>
                    </a:lnB>
                    <a:solidFill>
                      <a:srgbClr val="172C42"/>
                    </a:solidFill>
                  </a:tcPr>
                </a:tc>
                <a:tc>
                  <a:txBody>
                    <a:bodyPr/>
                    <a:lstStyle/>
                    <a:p>
                      <a:pPr algn="l">
                        <a:spcAft>
                          <a:spcPts val="400"/>
                        </a:spcAft>
                      </a:pPr>
                      <a:r>
                        <a:rPr sz="1700" b="1">
                          <a:solidFill>
                            <a:srgbClr val="FFFFFF"/>
                          </a:solidFill>
                        </a:rPr>
                        <a:t>What the picture shows</a:t>
                      </a:r>
                    </a:p>
                  </a:txBody>
                  <a:tcPr marL="164592" marR="164592" marT="109728" marB="73152">
                    <a:lnL>
                      <a:noFill/>
                    </a:lnL>
                    <a:lnR>
                      <a:noFill/>
                    </a:lnR>
                    <a:lnT>
                      <a:noFill/>
                    </a:lnT>
                    <a:lnB>
                      <a:noFill/>
                    </a:lnB>
                    <a:solidFill>
                      <a:srgbClr val="172C42"/>
                    </a:solidFill>
                  </a:tcPr>
                </a:tc>
                <a:tc>
                  <a:txBody>
                    <a:bodyPr/>
                    <a:lstStyle/>
                    <a:p>
                      <a:pPr algn="l">
                        <a:spcAft>
                          <a:spcPts val="400"/>
                        </a:spcAft>
                      </a:pPr>
                      <a:r>
                        <a:rPr sz="1700" b="1">
                          <a:solidFill>
                            <a:srgbClr val="FFFFFF"/>
                          </a:solidFill>
                        </a:rPr>
                        <a:t>Your file</a:t>
                      </a:r>
                    </a:p>
                  </a:txBody>
                  <a:tcPr marL="164592" marR="164592" marT="109728" marB="73152">
                    <a:lnL>
                      <a:noFill/>
                    </a:lnL>
                    <a:lnR>
                      <a:noFill/>
                    </a:lnR>
                    <a:lnT>
                      <a:noFill/>
                    </a:lnT>
                    <a:lnB>
                      <a:noFill/>
                    </a:lnB>
                    <a:solidFill>
                      <a:srgbClr val="172C42"/>
                    </a:solidFill>
                  </a:tcPr>
                </a:tc>
                <a:extLst>
                  <a:ext uri="{0D108BD9-81ED-4DB2-BD59-A6C34878D82A}">
                    <a16:rowId xmlns:a16="http://schemas.microsoft.com/office/drawing/2014/main" val="10000"/>
                  </a:ext>
                </a:extLst>
              </a:tr>
              <a:tr h="822960">
                <a:tc>
                  <a:txBody>
                    <a:bodyPr/>
                    <a:lstStyle/>
                    <a:p>
                      <a:pPr algn="l">
                        <a:spcAft>
                          <a:spcPts val="400"/>
                        </a:spcAft>
                      </a:pPr>
                      <a:r>
                        <a:rPr sz="1800" b="1">
                          <a:solidFill>
                            <a:srgbClr val="172C42"/>
                          </a:solidFill>
                        </a:rPr>
                        <a:t>Use case</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Stick figures and the jobs they can do</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banking-usecase.drawio</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1"/>
                  </a:ext>
                </a:extLst>
              </a:tr>
              <a:tr h="914400">
                <a:tc>
                  <a:txBody>
                    <a:bodyPr/>
                    <a:lstStyle/>
                    <a:p>
                      <a:pPr algn="l">
                        <a:spcAft>
                          <a:spcPts val="400"/>
                        </a:spcAft>
                      </a:pPr>
                      <a:r>
                        <a:rPr sz="1800" b="1">
                          <a:solidFill>
                            <a:srgbClr val="172C42"/>
                          </a:solidFill>
                        </a:rPr>
                        <a:t>Activity</a:t>
                      </a:r>
                    </a:p>
                  </a:txBody>
                  <a:tcPr marL="164592" marR="164592" marT="109728" marB="73152">
                    <a:lnL>
                      <a:noFill/>
                    </a:lnL>
                    <a:lnR>
                      <a:noFill/>
                    </a:lnR>
                    <a:lnT>
                      <a:noFill/>
                    </a:lnT>
                    <a:lnB>
                      <a:noFill/>
                    </a:lnB>
                    <a:solidFill>
                      <a:srgbClr val="FFFFFF"/>
                    </a:solidFill>
                  </a:tcPr>
                </a:tc>
                <a:tc>
                  <a:txBody>
                    <a:bodyPr/>
                    <a:lstStyle/>
                    <a:p>
                      <a:pPr algn="l">
                        <a:spcAft>
                          <a:spcPts val="400"/>
                        </a:spcAft>
                      </a:pPr>
                      <a:r>
                        <a:rPr sz="1800" b="0">
                          <a:solidFill>
                            <a:srgbClr val="172C42"/>
                          </a:solidFill>
                        </a:rPr>
                        <a:t>The decisions, such as “enough balance?” and “over $1,000?”</a:t>
                      </a:r>
                    </a:p>
                  </a:txBody>
                  <a:tcPr marL="164592" marR="164592" marT="109728" marB="73152">
                    <a:lnL>
                      <a:noFill/>
                    </a:lnL>
                    <a:lnR>
                      <a:noFill/>
                    </a:lnR>
                    <a:lnT>
                      <a:noFill/>
                    </a:lnT>
                    <a:lnB>
                      <a:noFill/>
                    </a:lnB>
                    <a:solidFill>
                      <a:srgbClr val="FFFFFF"/>
                    </a:solidFill>
                  </a:tcPr>
                </a:tc>
                <a:tc>
                  <a:txBody>
                    <a:bodyPr/>
                    <a:lstStyle/>
                    <a:p>
                      <a:pPr algn="l">
                        <a:spcAft>
                          <a:spcPts val="400"/>
                        </a:spcAft>
                      </a:pPr>
                      <a:r>
                        <a:rPr sz="1800" b="0">
                          <a:solidFill>
                            <a:srgbClr val="172C42"/>
                          </a:solidFill>
                        </a:rPr>
                        <a:t>banking-flowchart.drawio</a:t>
                      </a:r>
                    </a:p>
                  </a:txBody>
                  <a:tcPr marL="164592" marR="164592" marT="109728" marB="73152">
                    <a:lnL>
                      <a:noFill/>
                    </a:lnL>
                    <a:lnR>
                      <a:noFill/>
                    </a:lnR>
                    <a:lnT>
                      <a:noFill/>
                    </a:lnT>
                    <a:lnB>
                      <a:noFill/>
                    </a:lnB>
                    <a:solidFill>
                      <a:srgbClr val="FFFFFF"/>
                    </a:solidFill>
                  </a:tcPr>
                </a:tc>
                <a:extLst>
                  <a:ext uri="{0D108BD9-81ED-4DB2-BD59-A6C34878D82A}">
                    <a16:rowId xmlns:a16="http://schemas.microsoft.com/office/drawing/2014/main" val="10002"/>
                  </a:ext>
                </a:extLst>
              </a:tr>
              <a:tr h="868680">
                <a:tc>
                  <a:txBody>
                    <a:bodyPr/>
                    <a:lstStyle/>
                    <a:p>
                      <a:pPr algn="l">
                        <a:spcAft>
                          <a:spcPts val="400"/>
                        </a:spcAft>
                      </a:pPr>
                      <a:r>
                        <a:rPr sz="1800" b="1">
                          <a:solidFill>
                            <a:srgbClr val="172C42"/>
                          </a:solidFill>
                        </a:rPr>
                        <a:t>Class</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The objects and their facts: Account, Transaction, Transfer</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Not drawn yet</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3"/>
                  </a:ext>
                </a:extLst>
              </a:tr>
              <a:tr h="960120">
                <a:tc>
                  <a:txBody>
                    <a:bodyPr/>
                    <a:lstStyle/>
                    <a:p>
                      <a:pPr algn="l">
                        <a:spcAft>
                          <a:spcPts val="400"/>
                        </a:spcAft>
                      </a:pPr>
                      <a:r>
                        <a:rPr sz="1800" b="1">
                          <a:solidFill>
                            <a:srgbClr val="172C42"/>
                          </a:solidFill>
                        </a:rPr>
                        <a:t>Sequence</a:t>
                      </a:r>
                    </a:p>
                  </a:txBody>
                  <a:tcPr marL="164592" marR="164592" marT="109728" marB="73152">
                    <a:lnL>
                      <a:noFill/>
                    </a:lnL>
                    <a:lnR>
                      <a:noFill/>
                    </a:lnR>
                    <a:lnT>
                      <a:noFill/>
                    </a:lnT>
                    <a:lnB>
                      <a:noFill/>
                    </a:lnB>
                    <a:solidFill>
                      <a:srgbClr val="FFFFFF"/>
                    </a:solidFill>
                  </a:tcPr>
                </a:tc>
                <a:tc>
                  <a:txBody>
                    <a:bodyPr/>
                    <a:lstStyle/>
                    <a:p>
                      <a:pPr algn="l">
                        <a:spcAft>
                          <a:spcPts val="400"/>
                        </a:spcAft>
                      </a:pPr>
                      <a:r>
                        <a:rPr sz="1800" b="0">
                          <a:solidFill>
                            <a:srgbClr val="172C42"/>
                          </a:solidFill>
                        </a:rPr>
                        <a:t>The order of messages for one click: page, clerk, filing cabinet</a:t>
                      </a:r>
                    </a:p>
                  </a:txBody>
                  <a:tcPr marL="164592" marR="164592" marT="109728" marB="73152">
                    <a:lnL>
                      <a:noFill/>
                    </a:lnL>
                    <a:lnR>
                      <a:noFill/>
                    </a:lnR>
                    <a:lnT>
                      <a:noFill/>
                    </a:lnT>
                    <a:lnB>
                      <a:noFill/>
                    </a:lnB>
                    <a:solidFill>
                      <a:srgbClr val="FFFFFF"/>
                    </a:solidFill>
                  </a:tcPr>
                </a:tc>
                <a:tc>
                  <a:txBody>
                    <a:bodyPr/>
                    <a:lstStyle/>
                    <a:p>
                      <a:pPr algn="l">
                        <a:spcAft>
                          <a:spcPts val="400"/>
                        </a:spcAft>
                      </a:pPr>
                      <a:r>
                        <a:rPr sz="1800" b="0" dirty="0">
                          <a:solidFill>
                            <a:srgbClr val="172C42"/>
                          </a:solidFill>
                        </a:rPr>
                        <a:t>Not drawn yet</a:t>
                      </a:r>
                    </a:p>
                  </a:txBody>
                  <a:tcPr marL="164592" marR="164592" marT="109728" marB="73152">
                    <a:lnL>
                      <a:noFill/>
                    </a:lnL>
                    <a:lnR>
                      <a:noFill/>
                    </a:lnR>
                    <a:lnT>
                      <a:noFill/>
                    </a:lnT>
                    <a:lnB>
                      <a:noFill/>
                    </a:lnB>
                    <a:solidFill>
                      <a:srgbClr val="FFFFFF"/>
                    </a:solidFill>
                  </a:tcPr>
                </a:tc>
                <a:extLst>
                  <a:ext uri="{0D108BD9-81ED-4DB2-BD59-A6C34878D82A}">
                    <a16:rowId xmlns:a16="http://schemas.microsoft.com/office/drawing/2014/main" val="46922618"/>
                  </a:ext>
                </a:extLst>
              </a:tr>
            </a:tbl>
          </a:graphicData>
        </a:graphic>
      </p:graphicFrame>
    </p:spTree>
    <p:extLst>
      <p:ext uri="{BB962C8B-B14F-4D97-AF65-F5344CB8AC3E}">
        <p14:creationId xmlns:p14="http://schemas.microsoft.com/office/powerpoint/2010/main" val="3075671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7BBB2-DE76-955E-86EF-02E992484A91}"/>
              </a:ext>
            </a:extLst>
          </p:cNvPr>
          <p:cNvSpPr>
            <a:spLocks noGrp="1"/>
          </p:cNvSpPr>
          <p:nvPr>
            <p:ph type="title"/>
          </p:nvPr>
        </p:nvSpPr>
        <p:spPr/>
        <p:txBody>
          <a:bodyPr/>
          <a:lstStyle/>
          <a:p>
            <a:r>
              <a:rPr lang="en-IN" dirty="0"/>
              <a:t>UML Diagram </a:t>
            </a:r>
          </a:p>
        </p:txBody>
      </p:sp>
      <p:pic>
        <p:nvPicPr>
          <p:cNvPr id="5" name="Content Placeholder 4">
            <a:extLst>
              <a:ext uri="{FF2B5EF4-FFF2-40B4-BE49-F238E27FC236}">
                <a16:creationId xmlns:a16="http://schemas.microsoft.com/office/drawing/2014/main" id="{DA383E0C-F4CD-03F1-9582-F84117570E9C}"/>
              </a:ext>
            </a:extLst>
          </p:cNvPr>
          <p:cNvPicPr>
            <a:picLocks noGrp="1" noChangeAspect="1"/>
          </p:cNvPicPr>
          <p:nvPr>
            <p:ph idx="1"/>
          </p:nvPr>
        </p:nvPicPr>
        <p:blipFill>
          <a:blip r:embed="rId2"/>
          <a:stretch>
            <a:fillRect/>
          </a:stretch>
        </p:blipFill>
        <p:spPr>
          <a:xfrm>
            <a:off x="1806841" y="1825625"/>
            <a:ext cx="8407332" cy="5008274"/>
          </a:xfrm>
          <a:prstGeom prst="rect">
            <a:avLst/>
          </a:prstGeom>
        </p:spPr>
      </p:pic>
    </p:spTree>
    <p:extLst>
      <p:ext uri="{BB962C8B-B14F-4D97-AF65-F5344CB8AC3E}">
        <p14:creationId xmlns:p14="http://schemas.microsoft.com/office/powerpoint/2010/main" val="1684047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5AA7DA-2798-A358-AEAC-2E7909035874}"/>
              </a:ext>
            </a:extLst>
          </p:cNvPr>
          <p:cNvSpPr>
            <a:spLocks noGrp="1"/>
          </p:cNvSpPr>
          <p:nvPr>
            <p:ph type="title"/>
          </p:nvPr>
        </p:nvSpPr>
        <p:spPr>
          <a:xfrm>
            <a:off x="686834" y="1153572"/>
            <a:ext cx="3200400" cy="4461163"/>
          </a:xfrm>
        </p:spPr>
        <p:txBody>
          <a:bodyPr>
            <a:normAutofit/>
          </a:bodyPr>
          <a:lstStyle/>
          <a:p>
            <a:r>
              <a:rPr lang="en-IN">
                <a:solidFill>
                  <a:srgbClr val="FFFFFF"/>
                </a:solidFill>
              </a:rPr>
              <a:t>Create Your UML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83E62A5-5343-EB74-C33B-10FFC6DD53BC}"/>
              </a:ext>
            </a:extLst>
          </p:cNvPr>
          <p:cNvSpPr>
            <a:spLocks noGrp="1"/>
          </p:cNvSpPr>
          <p:nvPr>
            <p:ph idx="1"/>
          </p:nvPr>
        </p:nvSpPr>
        <p:spPr>
          <a:xfrm>
            <a:off x="4447308" y="591344"/>
            <a:ext cx="6906491" cy="5585619"/>
          </a:xfrm>
        </p:spPr>
        <p:txBody>
          <a:bodyPr anchor="ctr">
            <a:normAutofit/>
          </a:bodyPr>
          <a:lstStyle/>
          <a:p>
            <a:pPr marL="0" indent="0">
              <a:buNone/>
            </a:pPr>
            <a:r>
              <a:rPr lang="en-IN" dirty="0"/>
              <a:t>Design a logic for buying a beverage from smart vending machine that accepts </a:t>
            </a:r>
            <a:r>
              <a:rPr lang="en-IN" dirty="0" err="1"/>
              <a:t>upi</a:t>
            </a:r>
            <a:r>
              <a:rPr lang="en-IN" dirty="0"/>
              <a:t> payment</a:t>
            </a:r>
          </a:p>
        </p:txBody>
      </p:sp>
    </p:spTree>
    <p:extLst>
      <p:ext uri="{BB962C8B-B14F-4D97-AF65-F5344CB8AC3E}">
        <p14:creationId xmlns:p14="http://schemas.microsoft.com/office/powerpoint/2010/main" val="3469005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8F405-BEEF-48B3-A10F-14F55907E9D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311208D-8895-3983-11CA-CB55F7BD547E}"/>
              </a:ext>
            </a:extLst>
          </p:cNvPr>
          <p:cNvPicPr>
            <a:picLocks noGrp="1" noChangeAspect="1"/>
          </p:cNvPicPr>
          <p:nvPr>
            <p:ph idx="1"/>
          </p:nvPr>
        </p:nvPicPr>
        <p:blipFill>
          <a:blip r:embed="rId2"/>
          <a:stretch>
            <a:fillRect/>
          </a:stretch>
        </p:blipFill>
        <p:spPr>
          <a:xfrm>
            <a:off x="2902439" y="475989"/>
            <a:ext cx="6757663" cy="6269317"/>
          </a:xfrm>
          <a:prstGeom prst="rect">
            <a:avLst/>
          </a:prstGeom>
        </p:spPr>
      </p:pic>
    </p:spTree>
    <p:extLst>
      <p:ext uri="{BB962C8B-B14F-4D97-AF65-F5344CB8AC3E}">
        <p14:creationId xmlns:p14="http://schemas.microsoft.com/office/powerpoint/2010/main" val="25254212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Design pattern groups</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Creational, structural and behavioral patterns address different design decisions.</a:t>
            </a:r>
            <a:endParaRPr lang="en-US"/>
          </a:p>
        </p:txBody>
      </p:sp>
      <p:graphicFrame>
        <p:nvGraphicFramePr>
          <p:cNvPr id="4" name="Table 3"/>
          <p:cNvGraphicFramePr>
            <a:graphicFrameLocks noGrp="1"/>
          </p:cNvGraphicFramePr>
          <p:nvPr/>
        </p:nvGraphicFramePr>
        <p:xfrm>
          <a:off x="594360" y="2194560"/>
          <a:ext cx="11000232" cy="4069080"/>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gridCol w="5696712">
                  <a:extLst>
                    <a:ext uri="{9D8B030D-6E8A-4147-A177-3AD203B41FA5}">
                      <a16:colId xmlns:a16="http://schemas.microsoft.com/office/drawing/2014/main" val="20002"/>
                    </a:ext>
                  </a:extLst>
                </a:gridCol>
              </a:tblGrid>
              <a:tr h="502920">
                <a:tc>
                  <a:txBody>
                    <a:bodyPr/>
                    <a:lstStyle/>
                    <a:p>
                      <a:pPr algn="l">
                        <a:spcAft>
                          <a:spcPts val="400"/>
                        </a:spcAft>
                      </a:pPr>
                      <a:r>
                        <a:rPr sz="1700" b="1">
                          <a:solidFill>
                            <a:srgbClr val="FFFFFF"/>
                          </a:solidFill>
                        </a:rPr>
                        <a:t>Group</a:t>
                      </a:r>
                    </a:p>
                  </a:txBody>
                  <a:tcPr marL="164592" marR="164592" marT="109728" marB="73152">
                    <a:lnL>
                      <a:noFill/>
                    </a:lnL>
                    <a:lnR>
                      <a:noFill/>
                    </a:lnR>
                    <a:lnT>
                      <a:noFill/>
                    </a:lnT>
                    <a:lnB>
                      <a:noFill/>
                    </a:lnB>
                    <a:solidFill>
                      <a:srgbClr val="172C42"/>
                    </a:solidFill>
                  </a:tcPr>
                </a:tc>
                <a:tc>
                  <a:txBody>
                    <a:bodyPr/>
                    <a:lstStyle/>
                    <a:p>
                      <a:pPr algn="l">
                        <a:spcAft>
                          <a:spcPts val="400"/>
                        </a:spcAft>
                      </a:pPr>
                      <a:r>
                        <a:rPr sz="1700" b="1">
                          <a:solidFill>
                            <a:srgbClr val="FFFFFF"/>
                          </a:solidFill>
                        </a:rPr>
                        <a:t>What it decides</a:t>
                      </a:r>
                    </a:p>
                  </a:txBody>
                  <a:tcPr marL="164592" marR="164592" marT="109728" marB="73152">
                    <a:lnL>
                      <a:noFill/>
                    </a:lnL>
                    <a:lnR>
                      <a:noFill/>
                    </a:lnR>
                    <a:lnT>
                      <a:noFill/>
                    </a:lnT>
                    <a:lnB>
                      <a:noFill/>
                    </a:lnB>
                    <a:solidFill>
                      <a:srgbClr val="172C42"/>
                    </a:solidFill>
                  </a:tcPr>
                </a:tc>
                <a:tc>
                  <a:txBody>
                    <a:bodyPr/>
                    <a:lstStyle/>
                    <a:p>
                      <a:pPr algn="l">
                        <a:spcAft>
                          <a:spcPts val="400"/>
                        </a:spcAft>
                      </a:pPr>
                      <a:r>
                        <a:rPr sz="1700" b="1">
                          <a:solidFill>
                            <a:srgbClr val="FFFFFF"/>
                          </a:solidFill>
                        </a:rPr>
                        <a:t>Patterns above</a:t>
                      </a:r>
                    </a:p>
                  </a:txBody>
                  <a:tcPr marL="164592" marR="164592" marT="109728" marB="73152">
                    <a:lnL>
                      <a:noFill/>
                    </a:lnL>
                    <a:lnR>
                      <a:noFill/>
                    </a:lnR>
                    <a:lnT>
                      <a:noFill/>
                    </a:lnT>
                    <a:lnB>
                      <a:noFill/>
                    </a:lnB>
                    <a:solidFill>
                      <a:srgbClr val="172C42"/>
                    </a:solidFill>
                  </a:tcPr>
                </a:tc>
                <a:extLst>
                  <a:ext uri="{0D108BD9-81ED-4DB2-BD59-A6C34878D82A}">
                    <a16:rowId xmlns:a16="http://schemas.microsoft.com/office/drawing/2014/main" val="10000"/>
                  </a:ext>
                </a:extLst>
              </a:tr>
              <a:tr h="1417320">
                <a:tc>
                  <a:txBody>
                    <a:bodyPr/>
                    <a:lstStyle/>
                    <a:p>
                      <a:pPr algn="l">
                        <a:spcAft>
                          <a:spcPts val="400"/>
                        </a:spcAft>
                      </a:pPr>
                      <a:r>
                        <a:rPr sz="1800" b="1">
                          <a:solidFill>
                            <a:srgbClr val="172C42"/>
                          </a:solidFill>
                        </a:rPr>
                        <a:t>Creational</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How objects are created</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Factory, Singleton, Builder</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1"/>
                  </a:ext>
                </a:extLst>
              </a:tr>
              <a:tr h="960120">
                <a:tc>
                  <a:txBody>
                    <a:bodyPr/>
                    <a:lstStyle/>
                    <a:p>
                      <a:pPr algn="l">
                        <a:spcAft>
                          <a:spcPts val="400"/>
                        </a:spcAft>
                      </a:pPr>
                      <a:r>
                        <a:rPr sz="1800" b="1">
                          <a:solidFill>
                            <a:srgbClr val="172C42"/>
                          </a:solidFill>
                        </a:rPr>
                        <a:t>Structural</a:t>
                      </a:r>
                    </a:p>
                  </a:txBody>
                  <a:tcPr marL="164592" marR="164592" marT="109728" marB="73152">
                    <a:lnL>
                      <a:noFill/>
                    </a:lnL>
                    <a:lnR>
                      <a:noFill/>
                    </a:lnR>
                    <a:lnT>
                      <a:noFill/>
                    </a:lnT>
                    <a:lnB>
                      <a:noFill/>
                    </a:lnB>
                    <a:solidFill>
                      <a:srgbClr val="FFFFFF"/>
                    </a:solidFill>
                  </a:tcPr>
                </a:tc>
                <a:tc>
                  <a:txBody>
                    <a:bodyPr/>
                    <a:lstStyle/>
                    <a:p>
                      <a:pPr algn="l">
                        <a:spcAft>
                          <a:spcPts val="400"/>
                        </a:spcAft>
                      </a:pPr>
                      <a:r>
                        <a:rPr sz="1800" b="0">
                          <a:solidFill>
                            <a:srgbClr val="172C42"/>
                          </a:solidFill>
                        </a:rPr>
                        <a:t>How objects sit together</a:t>
                      </a:r>
                    </a:p>
                  </a:txBody>
                  <a:tcPr marL="164592" marR="164592" marT="109728" marB="73152">
                    <a:lnL>
                      <a:noFill/>
                    </a:lnL>
                    <a:lnR>
                      <a:noFill/>
                    </a:lnR>
                    <a:lnT>
                      <a:noFill/>
                    </a:lnT>
                    <a:lnB>
                      <a:noFill/>
                    </a:lnB>
                    <a:solidFill>
                      <a:srgbClr val="FFFFFF"/>
                    </a:solidFill>
                  </a:tcPr>
                </a:tc>
                <a:tc>
                  <a:txBody>
                    <a:bodyPr/>
                    <a:lstStyle/>
                    <a:p>
                      <a:pPr algn="l">
                        <a:spcAft>
                          <a:spcPts val="400"/>
                        </a:spcAft>
                      </a:pPr>
                      <a:r>
                        <a:rPr sz="1800" b="0">
                          <a:solidFill>
                            <a:srgbClr val="172C42"/>
                          </a:solidFill>
                        </a:rPr>
                        <a:t>Facade, Adapter</a:t>
                      </a:r>
                    </a:p>
                  </a:txBody>
                  <a:tcPr marL="164592" marR="164592" marT="109728" marB="73152">
                    <a:lnL>
                      <a:noFill/>
                    </a:lnL>
                    <a:lnR>
                      <a:noFill/>
                    </a:lnR>
                    <a:lnT>
                      <a:noFill/>
                    </a:lnT>
                    <a:lnB>
                      <a:noFill/>
                    </a:lnB>
                    <a:solidFill>
                      <a:srgbClr val="FFFFFF"/>
                    </a:solidFill>
                  </a:tcPr>
                </a:tc>
                <a:extLst>
                  <a:ext uri="{0D108BD9-81ED-4DB2-BD59-A6C34878D82A}">
                    <a16:rowId xmlns:a16="http://schemas.microsoft.com/office/drawing/2014/main" val="10002"/>
                  </a:ext>
                </a:extLst>
              </a:tr>
              <a:tr h="1188720">
                <a:tc>
                  <a:txBody>
                    <a:bodyPr/>
                    <a:lstStyle/>
                    <a:p>
                      <a:pPr algn="l">
                        <a:spcAft>
                          <a:spcPts val="400"/>
                        </a:spcAft>
                      </a:pPr>
                      <a:r>
                        <a:rPr sz="1800" b="1">
                          <a:solidFill>
                            <a:srgbClr val="172C42"/>
                          </a:solidFill>
                        </a:rPr>
                        <a:t>Behavioral</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How objects talk and choose behavior</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Strategy, Observer</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03504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Model–view–controller</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Separate the screen, request handling and account data.</a:t>
            </a:r>
            <a:endParaRPr lang="en-US"/>
          </a:p>
        </p:txBody>
      </p:sp>
      <p:pic>
        <p:nvPicPr>
          <p:cNvPr id="4" name="Picture 3" descr="image-4b3566247fdf6fad511e5439e1dd848b.jpg"/>
          <p:cNvPicPr>
            <a:picLocks noChangeAspect="1"/>
          </p:cNvPicPr>
          <p:nvPr/>
        </p:nvPicPr>
        <p:blipFill>
          <a:blip r:embed="rId3"/>
          <a:stretch>
            <a:fillRect/>
          </a:stretch>
        </p:blipFill>
        <p:spPr>
          <a:xfrm>
            <a:off x="1066928" y="1828800"/>
            <a:ext cx="6232902" cy="4041648"/>
          </a:xfrm>
          <a:prstGeom prst="rect">
            <a:avLst/>
          </a:prstGeom>
        </p:spPr>
      </p:pic>
      <p:sp>
        <p:nvSpPr>
          <p:cNvPr id="5" name="TextBox 4"/>
          <p:cNvSpPr txBox="1"/>
          <p:nvPr/>
        </p:nvSpPr>
        <p:spPr>
          <a:xfrm>
            <a:off x="8211312" y="201168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Menu = View</a:t>
            </a:r>
          </a:p>
        </p:txBody>
      </p:sp>
      <p:sp>
        <p:nvSpPr>
          <p:cNvPr id="6" name="TextBox 5"/>
          <p:cNvSpPr txBox="1"/>
          <p:nvPr/>
        </p:nvSpPr>
        <p:spPr>
          <a:xfrm>
            <a:off x="8211312" y="244144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Shows information</a:t>
            </a:r>
          </a:p>
        </p:txBody>
      </p:sp>
      <p:sp>
        <p:nvSpPr>
          <p:cNvPr id="7" name="TextBox 6"/>
          <p:cNvSpPr txBox="1"/>
          <p:nvPr/>
        </p:nvSpPr>
        <p:spPr>
          <a:xfrm>
            <a:off x="8211312" y="320040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Waiter = Controller</a:t>
            </a:r>
          </a:p>
        </p:txBody>
      </p:sp>
      <p:sp>
        <p:nvSpPr>
          <p:cNvPr id="8" name="TextBox 7"/>
          <p:cNvSpPr txBox="1"/>
          <p:nvPr/>
        </p:nvSpPr>
        <p:spPr>
          <a:xfrm>
            <a:off x="8211312" y="363016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Handles the request</a:t>
            </a:r>
          </a:p>
        </p:txBody>
      </p:sp>
      <p:sp>
        <p:nvSpPr>
          <p:cNvPr id="9" name="TextBox 8"/>
          <p:cNvSpPr txBox="1"/>
          <p:nvPr/>
        </p:nvSpPr>
        <p:spPr>
          <a:xfrm>
            <a:off x="8211312" y="438912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Ledger = Model</a:t>
            </a:r>
          </a:p>
        </p:txBody>
      </p:sp>
      <p:sp>
        <p:nvSpPr>
          <p:cNvPr id="10" name="TextBox 9"/>
          <p:cNvSpPr txBox="1"/>
          <p:nvPr/>
        </p:nvSpPr>
        <p:spPr>
          <a:xfrm>
            <a:off x="8211312" y="481888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Holds account data</a:t>
            </a:r>
          </a:p>
        </p:txBody>
      </p:sp>
      <p:sp>
        <p:nvSpPr>
          <p:cNvPr id="11" name="TextBox 10"/>
          <p:cNvSpPr txBox="1"/>
          <p:nvPr/>
        </p:nvSpPr>
        <p:spPr>
          <a:xfrm>
            <a:off x="594360" y="6199632"/>
            <a:ext cx="10972800" cy="457200"/>
          </a:xfrm>
          <a:prstGeom prst="rect">
            <a:avLst/>
          </a:prstGeom>
          <a:noFill/>
        </p:spPr>
        <p:txBody>
          <a:bodyPr wrap="square" lIns="0" tIns="0" rIns="0" bIns="0">
            <a:spAutoFit/>
          </a:bodyPr>
          <a:lstStyle/>
          <a:p>
            <a:pPr>
              <a:lnSpc>
                <a:spcPct val="105000"/>
              </a:lnSpc>
              <a:spcBef>
                <a:spcPts val="0"/>
              </a:spcBef>
              <a:spcAft>
                <a:spcPts val="0"/>
              </a:spcAft>
            </a:pPr>
            <a:r>
              <a:rPr sz="2200" b="1">
                <a:solidFill>
                  <a:srgbClr val="007D87"/>
                </a:solidFill>
              </a:rPr>
              <a:t>The menu doesn't cook dinner.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Model–view–controller</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View: React asks for the balance. Controller: Node handles the request. Model: the stored account.</a:t>
            </a:r>
            <a:endParaRPr lang="en-US"/>
          </a:p>
        </p:txBody>
      </p:sp>
      <p:graphicFrame>
        <p:nvGraphicFramePr>
          <p:cNvPr id="4" name="Table 3"/>
          <p:cNvGraphicFramePr>
            <a:graphicFrameLocks noGrp="1"/>
          </p:cNvGraphicFramePr>
          <p:nvPr/>
        </p:nvGraphicFramePr>
        <p:xfrm>
          <a:off x="594360" y="2194560"/>
          <a:ext cx="11000232" cy="4361688"/>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9034272">
                  <a:extLst>
                    <a:ext uri="{9D8B030D-6E8A-4147-A177-3AD203B41FA5}">
                      <a16:colId xmlns:a16="http://schemas.microsoft.com/office/drawing/2014/main" val="20002"/>
                    </a:ext>
                  </a:extLst>
                </a:gridCol>
              </a:tblGrid>
              <a:tr h="502920">
                <a:tc>
                  <a:txBody>
                    <a:bodyPr/>
                    <a:lstStyle/>
                    <a:p>
                      <a:pPr algn="l">
                        <a:spcAft>
                          <a:spcPts val="400"/>
                        </a:spcAft>
                      </a:pPr>
                      <a:r>
                        <a:rPr sz="1700" b="1">
                          <a:solidFill>
                            <a:srgbClr val="FFFFFF"/>
                          </a:solidFill>
                        </a:rPr>
                        <a:t>Layer</a:t>
                      </a:r>
                    </a:p>
                  </a:txBody>
                  <a:tcPr marL="164592" marR="164592" marT="109728" marB="73152">
                    <a:lnL>
                      <a:noFill/>
                    </a:lnL>
                    <a:lnR>
                      <a:noFill/>
                    </a:lnR>
                    <a:lnT>
                      <a:noFill/>
                    </a:lnT>
                    <a:lnB>
                      <a:noFill/>
                    </a:lnB>
                    <a:solidFill>
                      <a:srgbClr val="172C42"/>
                    </a:solidFill>
                  </a:tcPr>
                </a:tc>
                <a:tc>
                  <a:txBody>
                    <a:bodyPr/>
                    <a:lstStyle/>
                    <a:p>
                      <a:pPr algn="l">
                        <a:spcAft>
                          <a:spcPts val="400"/>
                        </a:spcAft>
                      </a:pPr>
                      <a:r>
                        <a:rPr sz="1700" b="1">
                          <a:solidFill>
                            <a:srgbClr val="FFFFFF"/>
                          </a:solidFill>
                        </a:rPr>
                        <a:t>Code example</a:t>
                      </a:r>
                    </a:p>
                  </a:txBody>
                  <a:tcPr marL="164592" marR="164592" marT="109728" marB="73152">
                    <a:lnL>
                      <a:noFill/>
                    </a:lnL>
                    <a:lnR>
                      <a:noFill/>
                    </a:lnR>
                    <a:lnT>
                      <a:noFill/>
                    </a:lnT>
                    <a:lnB>
                      <a:noFill/>
                    </a:lnB>
                    <a:solidFill>
                      <a:srgbClr val="172C42"/>
                    </a:solidFill>
                  </a:tcPr>
                </a:tc>
                <a:extLst>
                  <a:ext uri="{0D108BD9-81ED-4DB2-BD59-A6C34878D82A}">
                    <a16:rowId xmlns:a16="http://schemas.microsoft.com/office/drawing/2014/main" val="10000"/>
                  </a:ext>
                </a:extLst>
              </a:tr>
              <a:tr h="1005840">
                <a:tc>
                  <a:txBody>
                    <a:bodyPr/>
                    <a:lstStyle/>
                    <a:p>
                      <a:pPr algn="l">
                        <a:spcAft>
                          <a:spcPts val="400"/>
                        </a:spcAft>
                      </a:pPr>
                      <a:r>
                        <a:rPr sz="1800" b="1">
                          <a:solidFill>
                            <a:srgbClr val="172C42"/>
                          </a:solidFill>
                        </a:rPr>
                        <a:t>View</a:t>
                      </a:r>
                    </a:p>
                  </a:txBody>
                  <a:tcPr marL="164592" marR="164592" marT="109728" marB="73152">
                    <a:lnL>
                      <a:noFill/>
                    </a:lnL>
                    <a:lnR>
                      <a:noFill/>
                    </a:lnR>
                    <a:lnT>
                      <a:noFill/>
                    </a:lnT>
                    <a:lnB>
                      <a:noFill/>
                    </a:lnB>
                    <a:solidFill>
                      <a:srgbClr val="EEF2F5"/>
                    </a:solidFill>
                  </a:tcPr>
                </a:tc>
                <a:tc>
                  <a:txBody>
                    <a:bodyPr/>
                    <a:lstStyle/>
                    <a:p>
                      <a:pPr algn="l">
                        <a:lnSpc>
                          <a:spcPct val="110000"/>
                        </a:lnSpc>
                        <a:spcBef>
                          <a:spcPts val="0"/>
                        </a:spcBef>
                        <a:spcAft>
                          <a:spcPts val="0"/>
                        </a:spcAft>
                      </a:pPr>
                      <a:r>
                        <a:rPr sz="1700" b="0">
                          <a:solidFill>
                            <a:srgbClr val="172C42"/>
                          </a:solidFill>
                          <a:latin typeface="Consolas"/>
                        </a:rPr>
                        <a:t>// View: React asks for the balance</a:t>
                      </a:r>
                    </a:p>
                    <a:p>
                      <a:pPr algn="l">
                        <a:lnSpc>
                          <a:spcPct val="110000"/>
                        </a:lnSpc>
                        <a:spcBef>
                          <a:spcPts val="0"/>
                        </a:spcBef>
                        <a:spcAft>
                          <a:spcPts val="0"/>
                        </a:spcAft>
                      </a:pPr>
                      <a:r>
                        <a:rPr sz="1700" b="0">
                          <a:solidFill>
                            <a:srgbClr val="172C42"/>
                          </a:solidFill>
                          <a:latin typeface="Consolas"/>
                        </a:rPr>
                        <a:t>const data = await fetch('/api/accounts/10000001');</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1"/>
                  </a:ext>
                </a:extLst>
              </a:tr>
              <a:tr h="1847088">
                <a:tc>
                  <a:txBody>
                    <a:bodyPr/>
                    <a:lstStyle/>
                    <a:p>
                      <a:pPr algn="l">
                        <a:spcAft>
                          <a:spcPts val="400"/>
                        </a:spcAft>
                      </a:pPr>
                      <a:r>
                        <a:rPr sz="1800" b="1">
                          <a:solidFill>
                            <a:srgbClr val="172C42"/>
                          </a:solidFill>
                        </a:rPr>
                        <a:t>Controller</a:t>
                      </a:r>
                    </a:p>
                  </a:txBody>
                  <a:tcPr marL="164592" marR="164592" marT="109728" marB="73152">
                    <a:lnL>
                      <a:noFill/>
                    </a:lnL>
                    <a:lnR>
                      <a:noFill/>
                    </a:lnR>
                    <a:lnT>
                      <a:noFill/>
                    </a:lnT>
                    <a:lnB>
                      <a:noFill/>
                    </a:lnB>
                    <a:solidFill>
                      <a:srgbClr val="FFFFFF"/>
                    </a:solidFill>
                  </a:tcPr>
                </a:tc>
                <a:tc>
                  <a:txBody>
                    <a:bodyPr/>
                    <a:lstStyle/>
                    <a:p>
                      <a:pPr algn="l">
                        <a:lnSpc>
                          <a:spcPct val="110000"/>
                        </a:lnSpc>
                        <a:spcBef>
                          <a:spcPts val="0"/>
                        </a:spcBef>
                        <a:spcAft>
                          <a:spcPts val="0"/>
                        </a:spcAft>
                      </a:pPr>
                      <a:r>
                        <a:rPr sz="1700" b="0">
                          <a:solidFill>
                            <a:srgbClr val="172C42"/>
                          </a:solidFill>
                          <a:latin typeface="Consolas"/>
                        </a:rPr>
                        <a:t>// Controller: Node receives the request</a:t>
                      </a:r>
                    </a:p>
                    <a:p>
                      <a:pPr algn="l">
                        <a:lnSpc>
                          <a:spcPct val="110000"/>
                        </a:lnSpc>
                        <a:spcBef>
                          <a:spcPts val="0"/>
                        </a:spcBef>
                        <a:spcAft>
                          <a:spcPts val="0"/>
                        </a:spcAft>
                      </a:pPr>
                      <a:r>
                        <a:rPr sz="1700" b="0">
                          <a:solidFill>
                            <a:srgbClr val="172C42"/>
                          </a:solidFill>
                          <a:latin typeface="Consolas"/>
                        </a:rPr>
                        <a:t>app.get('/api/accounts/:accountNumber', async (req, res) =&gt; {</a:t>
                      </a:r>
                    </a:p>
                    <a:p>
                      <a:pPr algn="l">
                        <a:lnSpc>
                          <a:spcPct val="110000"/>
                        </a:lnSpc>
                        <a:spcBef>
                          <a:spcPts val="0"/>
                        </a:spcBef>
                        <a:spcAft>
                          <a:spcPts val="0"/>
                        </a:spcAft>
                      </a:pPr>
                      <a:r>
                        <a:rPr sz="1700" b="0">
                          <a:solidFill>
                            <a:srgbClr val="172C42"/>
                          </a:solidFill>
                          <a:latin typeface="Consolas"/>
                        </a:rPr>
                        <a:t>  const account = await accounts.find(req.params.accountNumber);</a:t>
                      </a:r>
                    </a:p>
                    <a:p>
                      <a:pPr algn="l">
                        <a:lnSpc>
                          <a:spcPct val="110000"/>
                        </a:lnSpc>
                        <a:spcBef>
                          <a:spcPts val="0"/>
                        </a:spcBef>
                        <a:spcAft>
                          <a:spcPts val="0"/>
                        </a:spcAft>
                      </a:pPr>
                      <a:r>
                        <a:rPr sz="1700" b="0">
                          <a:solidFill>
                            <a:srgbClr val="172C42"/>
                          </a:solidFill>
                          <a:latin typeface="Consolas"/>
                        </a:rPr>
                        <a:t>  res.json(account);</a:t>
                      </a:r>
                    </a:p>
                    <a:p>
                      <a:pPr algn="l">
                        <a:lnSpc>
                          <a:spcPct val="110000"/>
                        </a:lnSpc>
                        <a:spcBef>
                          <a:spcPts val="0"/>
                        </a:spcBef>
                        <a:spcAft>
                          <a:spcPts val="0"/>
                        </a:spcAft>
                      </a:pPr>
                      <a:r>
                        <a:rPr sz="1700" b="0">
                          <a:solidFill>
                            <a:srgbClr val="172C42"/>
                          </a:solidFill>
                          <a:latin typeface="Consolas"/>
                        </a:rPr>
                        <a:t>});</a:t>
                      </a:r>
                    </a:p>
                  </a:txBody>
                  <a:tcPr marL="164592" marR="164592" marT="109728" marB="73152">
                    <a:lnL>
                      <a:noFill/>
                    </a:lnL>
                    <a:lnR>
                      <a:noFill/>
                    </a:lnR>
                    <a:lnT>
                      <a:noFill/>
                    </a:lnT>
                    <a:lnB>
                      <a:noFill/>
                    </a:lnB>
                    <a:solidFill>
                      <a:srgbClr val="FFFFFF"/>
                    </a:solidFill>
                  </a:tcPr>
                </a:tc>
                <a:extLst>
                  <a:ext uri="{0D108BD9-81ED-4DB2-BD59-A6C34878D82A}">
                    <a16:rowId xmlns:a16="http://schemas.microsoft.com/office/drawing/2014/main" val="10002"/>
                  </a:ext>
                </a:extLst>
              </a:tr>
              <a:tr h="1005840">
                <a:tc>
                  <a:txBody>
                    <a:bodyPr/>
                    <a:lstStyle/>
                    <a:p>
                      <a:pPr algn="l">
                        <a:spcAft>
                          <a:spcPts val="400"/>
                        </a:spcAft>
                      </a:pPr>
                      <a:r>
                        <a:rPr sz="1800" b="1">
                          <a:solidFill>
                            <a:srgbClr val="172C42"/>
                          </a:solidFill>
                        </a:rPr>
                        <a:t>Model</a:t>
                      </a:r>
                    </a:p>
                  </a:txBody>
                  <a:tcPr marL="164592" marR="164592" marT="109728" marB="73152">
                    <a:lnL>
                      <a:noFill/>
                    </a:lnL>
                    <a:lnR>
                      <a:noFill/>
                    </a:lnR>
                    <a:lnT>
                      <a:noFill/>
                    </a:lnT>
                    <a:lnB>
                      <a:noFill/>
                    </a:lnB>
                    <a:solidFill>
                      <a:srgbClr val="EEF2F5"/>
                    </a:solidFill>
                  </a:tcPr>
                </a:tc>
                <a:tc>
                  <a:txBody>
                    <a:bodyPr/>
                    <a:lstStyle/>
                    <a:p>
                      <a:pPr algn="l">
                        <a:lnSpc>
                          <a:spcPct val="110000"/>
                        </a:lnSpc>
                        <a:spcBef>
                          <a:spcPts val="0"/>
                        </a:spcBef>
                        <a:spcAft>
                          <a:spcPts val="0"/>
                        </a:spcAft>
                      </a:pPr>
                      <a:r>
                        <a:rPr sz="1700" b="0">
                          <a:solidFill>
                            <a:srgbClr val="172C42"/>
                          </a:solidFill>
                          <a:latin typeface="Consolas"/>
                        </a:rPr>
                        <a:t>// Model: the stored account</a:t>
                      </a:r>
                    </a:p>
                    <a:p>
                      <a:pPr algn="l">
                        <a:lnSpc>
                          <a:spcPct val="110000"/>
                        </a:lnSpc>
                        <a:spcBef>
                          <a:spcPts val="0"/>
                        </a:spcBef>
                        <a:spcAft>
                          <a:spcPts val="0"/>
                        </a:spcAft>
                      </a:pPr>
                      <a:r>
                        <a:rPr sz="1700" b="0">
                          <a:solidFill>
                            <a:srgbClr val="172C42"/>
                          </a:solidFill>
                          <a:latin typeface="Consolas"/>
                        </a:rPr>
                        <a:t>{ accountNumber: '10000001', balanceCents: 250000 }</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28560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Repository</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The caller asks for an account. The repository handles database access.</a:t>
            </a:r>
            <a:endParaRPr lang="en-US"/>
          </a:p>
        </p:txBody>
      </p:sp>
      <p:pic>
        <p:nvPicPr>
          <p:cNvPr id="4" name="Picture 3" descr="image-3527a728f115343aeab887714d409e04.jpg"/>
          <p:cNvPicPr>
            <a:picLocks noChangeAspect="1"/>
          </p:cNvPicPr>
          <p:nvPr/>
        </p:nvPicPr>
        <p:blipFill>
          <a:blip r:embed="rId3"/>
          <a:stretch>
            <a:fillRect/>
          </a:stretch>
        </p:blipFill>
        <p:spPr>
          <a:xfrm>
            <a:off x="956783" y="1828800"/>
            <a:ext cx="6453192" cy="4041648"/>
          </a:xfrm>
          <a:prstGeom prst="rect">
            <a:avLst/>
          </a:prstGeom>
        </p:spPr>
      </p:pic>
      <p:sp>
        <p:nvSpPr>
          <p:cNvPr id="5" name="TextBox 4"/>
          <p:cNvSpPr txBox="1"/>
          <p:nvPr/>
        </p:nvSpPr>
        <p:spPr>
          <a:xfrm>
            <a:off x="8211312" y="201168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Reader = Caller</a:t>
            </a:r>
          </a:p>
        </p:txBody>
      </p:sp>
      <p:sp>
        <p:nvSpPr>
          <p:cNvPr id="6" name="TextBox 5"/>
          <p:cNvSpPr txBox="1"/>
          <p:nvPr/>
        </p:nvSpPr>
        <p:spPr>
          <a:xfrm>
            <a:off x="8211312" y="244144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Requests an account</a:t>
            </a:r>
          </a:p>
        </p:txBody>
      </p:sp>
      <p:sp>
        <p:nvSpPr>
          <p:cNvPr id="7" name="TextBox 6"/>
          <p:cNvSpPr txBox="1"/>
          <p:nvPr/>
        </p:nvSpPr>
        <p:spPr>
          <a:xfrm>
            <a:off x="8211312" y="320040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Librarian = Repository</a:t>
            </a:r>
          </a:p>
        </p:txBody>
      </p:sp>
      <p:sp>
        <p:nvSpPr>
          <p:cNvPr id="8" name="TextBox 7"/>
          <p:cNvSpPr txBox="1"/>
          <p:nvPr/>
        </p:nvSpPr>
        <p:spPr>
          <a:xfrm>
            <a:off x="8211312" y="363016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find() and save()</a:t>
            </a:r>
          </a:p>
        </p:txBody>
      </p:sp>
      <p:sp>
        <p:nvSpPr>
          <p:cNvPr id="9" name="TextBox 8"/>
          <p:cNvSpPr txBox="1"/>
          <p:nvPr/>
        </p:nvSpPr>
        <p:spPr>
          <a:xfrm>
            <a:off x="8211312" y="438912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Archive = MongoDB</a:t>
            </a:r>
          </a:p>
        </p:txBody>
      </p:sp>
      <p:sp>
        <p:nvSpPr>
          <p:cNvPr id="10" name="TextBox 9"/>
          <p:cNvSpPr txBox="1"/>
          <p:nvPr/>
        </p:nvSpPr>
        <p:spPr>
          <a:xfrm>
            <a:off x="8211312" y="481888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Stores account records</a:t>
            </a:r>
          </a:p>
        </p:txBody>
      </p:sp>
      <p:sp>
        <p:nvSpPr>
          <p:cNvPr id="11" name="TextBox 10"/>
          <p:cNvSpPr txBox="1"/>
          <p:nvPr/>
        </p:nvSpPr>
        <p:spPr>
          <a:xfrm>
            <a:off x="594360" y="6199632"/>
            <a:ext cx="10972800" cy="457200"/>
          </a:xfrm>
          <a:prstGeom prst="rect">
            <a:avLst/>
          </a:prstGeom>
          <a:noFill/>
        </p:spPr>
        <p:txBody>
          <a:bodyPr wrap="square" lIns="0" tIns="0" rIns="0" bIns="0">
            <a:spAutoFit/>
          </a:bodyPr>
          <a:lstStyle/>
          <a:p>
            <a:pPr>
              <a:lnSpc>
                <a:spcPct val="105000"/>
              </a:lnSpc>
              <a:spcBef>
                <a:spcPts val="0"/>
              </a:spcBef>
              <a:spcAft>
                <a:spcPts val="0"/>
              </a:spcAft>
            </a:pPr>
            <a:r>
              <a:rPr sz="2200" b="1">
                <a:solidFill>
                  <a:srgbClr val="007D87"/>
                </a:solidFill>
              </a:rPr>
              <a:t>Ask the librarian. Please don't climb the shelves.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Repository</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Other code asks for an account by number. Only the repository talks to MongoDB.</a:t>
            </a:r>
            <a:endParaRPr lang="en-US"/>
          </a:p>
        </p:txBody>
      </p:sp>
      <p:graphicFrame>
        <p:nvGraphicFramePr>
          <p:cNvPr id="4" name="Table 3"/>
          <p:cNvGraphicFramePr>
            <a:graphicFrameLocks noGrp="1"/>
          </p:cNvGraphicFramePr>
          <p:nvPr/>
        </p:nvGraphicFramePr>
        <p:xfrm>
          <a:off x="594360" y="2194560"/>
          <a:ext cx="11000232" cy="4343400"/>
        </p:xfrm>
        <a:graphic>
          <a:graphicData uri="http://schemas.openxmlformats.org/drawingml/2006/table">
            <a:tbl>
              <a:tblPr firstRow="1" bandRow="1">
                <a:tableStyleId>{5C22544A-7EE6-4342-B048-85BDC9FD1C3A}</a:tableStyleId>
              </a:tblPr>
              <a:tblGrid>
                <a:gridCol w="11000232">
                  <a:extLst>
                    <a:ext uri="{9D8B030D-6E8A-4147-A177-3AD203B41FA5}">
                      <a16:colId xmlns:a16="http://schemas.microsoft.com/office/drawing/2014/main" val="20002"/>
                    </a:ext>
                  </a:extLst>
                </a:gridCol>
              </a:tblGrid>
              <a:tr h="457200">
                <a:tc>
                  <a:txBody>
                    <a:bodyPr/>
                    <a:lstStyle/>
                    <a:p>
                      <a:pPr algn="l">
                        <a:spcAft>
                          <a:spcPts val="400"/>
                        </a:spcAft>
                      </a:pPr>
                      <a:r>
                        <a:rPr sz="1700" b="1">
                          <a:solidFill>
                            <a:srgbClr val="FFFFFF"/>
                          </a:solidFill>
                        </a:rPr>
                        <a:t>AccountRepository</a:t>
                      </a:r>
                    </a:p>
                  </a:txBody>
                  <a:tcPr marL="164592" marR="164592" marT="109728" marB="73152">
                    <a:lnL>
                      <a:noFill/>
                    </a:lnL>
                    <a:lnR>
                      <a:noFill/>
                    </a:lnR>
                    <a:lnT>
                      <a:noFill/>
                    </a:lnT>
                    <a:lnB>
                      <a:noFill/>
                    </a:lnB>
                    <a:solidFill>
                      <a:srgbClr val="172C42"/>
                    </a:solidFill>
                  </a:tcPr>
                </a:tc>
                <a:extLst>
                  <a:ext uri="{0D108BD9-81ED-4DB2-BD59-A6C34878D82A}">
                    <a16:rowId xmlns:a16="http://schemas.microsoft.com/office/drawing/2014/main" val="10000"/>
                  </a:ext>
                </a:extLst>
              </a:tr>
              <a:tr h="3886200">
                <a:tc>
                  <a:txBody>
                    <a:bodyPr/>
                    <a:lstStyle/>
                    <a:p>
                      <a:pPr algn="l">
                        <a:lnSpc>
                          <a:spcPct val="100000"/>
                        </a:lnSpc>
                        <a:spcBef>
                          <a:spcPts val="0"/>
                        </a:spcBef>
                        <a:spcAft>
                          <a:spcPts val="0"/>
                        </a:spcAft>
                      </a:pPr>
                      <a:r>
                        <a:rPr sz="1700" b="0">
                          <a:solidFill>
                            <a:srgbClr val="172C42"/>
                          </a:solidFill>
                          <a:latin typeface="Consolas"/>
                        </a:rPr>
                        <a:t>class AccountRepository {</a:t>
                      </a:r>
                    </a:p>
                    <a:p>
                      <a:pPr algn="l">
                        <a:lnSpc>
                          <a:spcPct val="100000"/>
                        </a:lnSpc>
                        <a:spcBef>
                          <a:spcPts val="0"/>
                        </a:spcBef>
                        <a:spcAft>
                          <a:spcPts val="0"/>
                        </a:spcAft>
                      </a:pPr>
                      <a:r>
                        <a:rPr sz="1700" b="0">
                          <a:solidFill>
                            <a:srgbClr val="172C42"/>
                          </a:solidFill>
                          <a:latin typeface="Consolas"/>
                        </a:rPr>
                        <a:t>  constructor(db) { this.db = db; }</a:t>
                      </a:r>
                    </a:p>
                    <a:p>
                      <a:pPr algn="l">
                        <a:lnSpc>
                          <a:spcPct val="100000"/>
                        </a:lnSpc>
                        <a:spcBef>
                          <a:spcPts val="0"/>
                        </a:spcBef>
                        <a:spcAft>
                          <a:spcPts val="0"/>
                        </a:spcAft>
                      </a:pPr>
                      <a:r>
                        <a:rPr sz="1700" b="0">
                          <a:solidFill>
                            <a:srgbClr val="172C42"/>
                          </a:solidFill>
                          <a:latin typeface="Consolas"/>
                        </a:rPr>
                        <a:t>  find(accountNumber) {</a:t>
                      </a:r>
                    </a:p>
                    <a:p>
                      <a:pPr algn="l">
                        <a:lnSpc>
                          <a:spcPct val="100000"/>
                        </a:lnSpc>
                        <a:spcBef>
                          <a:spcPts val="0"/>
                        </a:spcBef>
                        <a:spcAft>
                          <a:spcPts val="0"/>
                        </a:spcAft>
                      </a:pPr>
                      <a:r>
                        <a:rPr sz="1700" b="0">
                          <a:solidFill>
                            <a:srgbClr val="172C42"/>
                          </a:solidFill>
                          <a:latin typeface="Consolas"/>
                        </a:rPr>
                        <a:t>    return this.db.collection('accounts').findOne({ accountNumber });</a:t>
                      </a:r>
                    </a:p>
                    <a:p>
                      <a:pPr algn="l">
                        <a:lnSpc>
                          <a:spcPct val="100000"/>
                        </a:lnSpc>
                        <a:spcBef>
                          <a:spcPts val="0"/>
                        </a:spcBef>
                        <a:spcAft>
                          <a:spcPts val="0"/>
                        </a:spcAft>
                      </a:pPr>
                      <a:r>
                        <a:rPr sz="1700" b="0">
                          <a:solidFill>
                            <a:srgbClr val="172C42"/>
                          </a:solidFill>
                          <a:latin typeface="Consolas"/>
                        </a:rPr>
                        <a:t>  }</a:t>
                      </a:r>
                    </a:p>
                    <a:p>
                      <a:pPr algn="l">
                        <a:lnSpc>
                          <a:spcPct val="100000"/>
                        </a:lnSpc>
                        <a:spcBef>
                          <a:spcPts val="0"/>
                        </a:spcBef>
                        <a:spcAft>
                          <a:spcPts val="0"/>
                        </a:spcAft>
                      </a:pPr>
                      <a:r>
                        <a:rPr sz="1700" b="0">
                          <a:solidFill>
                            <a:srgbClr val="172C42"/>
                          </a:solidFill>
                          <a:latin typeface="Consolas"/>
                        </a:rPr>
                        <a:t>  save(account) {</a:t>
                      </a:r>
                    </a:p>
                    <a:p>
                      <a:pPr algn="l">
                        <a:lnSpc>
                          <a:spcPct val="100000"/>
                        </a:lnSpc>
                        <a:spcBef>
                          <a:spcPts val="0"/>
                        </a:spcBef>
                        <a:spcAft>
                          <a:spcPts val="0"/>
                        </a:spcAft>
                      </a:pPr>
                      <a:r>
                        <a:rPr sz="1700" b="0">
                          <a:solidFill>
                            <a:srgbClr val="172C42"/>
                          </a:solidFill>
                          <a:latin typeface="Consolas"/>
                        </a:rPr>
                        <a:t>    return this.db.collection('accounts').updateOne(</a:t>
                      </a:r>
                    </a:p>
                    <a:p>
                      <a:pPr algn="l">
                        <a:lnSpc>
                          <a:spcPct val="100000"/>
                        </a:lnSpc>
                        <a:spcBef>
                          <a:spcPts val="0"/>
                        </a:spcBef>
                        <a:spcAft>
                          <a:spcPts val="0"/>
                        </a:spcAft>
                      </a:pPr>
                      <a:r>
                        <a:rPr sz="1700" b="0">
                          <a:solidFill>
                            <a:srgbClr val="172C42"/>
                          </a:solidFill>
                          <a:latin typeface="Consolas"/>
                        </a:rPr>
                        <a:t>      { accountNumber: account.accountNumber },</a:t>
                      </a:r>
                    </a:p>
                    <a:p>
                      <a:pPr algn="l">
                        <a:lnSpc>
                          <a:spcPct val="100000"/>
                        </a:lnSpc>
                        <a:spcBef>
                          <a:spcPts val="0"/>
                        </a:spcBef>
                        <a:spcAft>
                          <a:spcPts val="0"/>
                        </a:spcAft>
                      </a:pPr>
                      <a:r>
                        <a:rPr sz="1700" b="0">
                          <a:solidFill>
                            <a:srgbClr val="172C42"/>
                          </a:solidFill>
                          <a:latin typeface="Consolas"/>
                        </a:rPr>
                        <a:t>      { $set: account }</a:t>
                      </a:r>
                    </a:p>
                    <a:p>
                      <a:pPr algn="l">
                        <a:lnSpc>
                          <a:spcPct val="100000"/>
                        </a:lnSpc>
                        <a:spcBef>
                          <a:spcPts val="0"/>
                        </a:spcBef>
                        <a:spcAft>
                          <a:spcPts val="0"/>
                        </a:spcAft>
                      </a:pPr>
                      <a:r>
                        <a:rPr sz="1700" b="0">
                          <a:solidFill>
                            <a:srgbClr val="172C42"/>
                          </a:solidFill>
                          <a:latin typeface="Consolas"/>
                        </a:rPr>
                        <a:t>    );</a:t>
                      </a:r>
                    </a:p>
                    <a:p>
                      <a:pPr algn="l">
                        <a:lnSpc>
                          <a:spcPct val="100000"/>
                        </a:lnSpc>
                        <a:spcBef>
                          <a:spcPts val="0"/>
                        </a:spcBef>
                        <a:spcAft>
                          <a:spcPts val="0"/>
                        </a:spcAft>
                      </a:pPr>
                      <a:r>
                        <a:rPr sz="1700" b="0">
                          <a:solidFill>
                            <a:srgbClr val="172C42"/>
                          </a:solidFill>
                          <a:latin typeface="Consolas"/>
                        </a:rPr>
                        <a:t>  }</a:t>
                      </a:r>
                    </a:p>
                    <a:p>
                      <a:pPr algn="l">
                        <a:lnSpc>
                          <a:spcPct val="100000"/>
                        </a:lnSpc>
                        <a:spcBef>
                          <a:spcPts val="0"/>
                        </a:spcBef>
                        <a:spcAft>
                          <a:spcPts val="0"/>
                        </a:spcAft>
                      </a:pPr>
                      <a:r>
                        <a:rPr sz="1700" b="0">
                          <a:solidFill>
                            <a:srgbClr val="172C42"/>
                          </a:solidFill>
                          <a:latin typeface="Consolas"/>
                        </a:rPr>
                        <a:t>}</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925161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Singleton</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Every caller reuses the same database client.</a:t>
            </a:r>
            <a:endParaRPr lang="en-US"/>
          </a:p>
        </p:txBody>
      </p:sp>
      <p:pic>
        <p:nvPicPr>
          <p:cNvPr id="4" name="Picture 3" descr="image-bf68c8d4bde3275adddcda64f82bdd20.jpg"/>
          <p:cNvPicPr>
            <a:picLocks noChangeAspect="1"/>
          </p:cNvPicPr>
          <p:nvPr/>
        </p:nvPicPr>
        <p:blipFill>
          <a:blip r:embed="rId3"/>
          <a:stretch>
            <a:fillRect/>
          </a:stretch>
        </p:blipFill>
        <p:spPr>
          <a:xfrm>
            <a:off x="879210" y="1828800"/>
            <a:ext cx="6608339" cy="4041648"/>
          </a:xfrm>
          <a:prstGeom prst="rect">
            <a:avLst/>
          </a:prstGeom>
        </p:spPr>
      </p:pic>
      <p:sp>
        <p:nvSpPr>
          <p:cNvPr id="5" name="TextBox 4"/>
          <p:cNvSpPr txBox="1"/>
          <p:nvPr/>
        </p:nvSpPr>
        <p:spPr>
          <a:xfrm>
            <a:off x="8211312" y="201168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One coffee machine</a:t>
            </a:r>
          </a:p>
        </p:txBody>
      </p:sp>
      <p:sp>
        <p:nvSpPr>
          <p:cNvPr id="6" name="TextBox 5"/>
          <p:cNvSpPr txBox="1"/>
          <p:nvPr/>
        </p:nvSpPr>
        <p:spPr>
          <a:xfrm>
            <a:off x="8211312" y="244144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One shared client</a:t>
            </a:r>
          </a:p>
        </p:txBody>
      </p:sp>
      <p:sp>
        <p:nvSpPr>
          <p:cNvPr id="7" name="TextBox 6"/>
          <p:cNvSpPr txBox="1"/>
          <p:nvPr/>
        </p:nvSpPr>
        <p:spPr>
          <a:xfrm>
            <a:off x="8211312" y="320040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Many coffee drinkers</a:t>
            </a:r>
          </a:p>
        </p:txBody>
      </p:sp>
      <p:sp>
        <p:nvSpPr>
          <p:cNvPr id="8" name="TextBox 7"/>
          <p:cNvSpPr txBox="1"/>
          <p:nvPr/>
        </p:nvSpPr>
        <p:spPr>
          <a:xfrm>
            <a:off x="8211312" y="363016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Many callers</a:t>
            </a:r>
          </a:p>
        </p:txBody>
      </p:sp>
      <p:sp>
        <p:nvSpPr>
          <p:cNvPr id="9" name="TextBox 8"/>
          <p:cNvSpPr txBox="1"/>
          <p:nvPr/>
        </p:nvSpPr>
        <p:spPr>
          <a:xfrm>
            <a:off x="8211312" y="438912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Same machine each time</a:t>
            </a:r>
          </a:p>
        </p:txBody>
      </p:sp>
      <p:sp>
        <p:nvSpPr>
          <p:cNvPr id="10" name="TextBox 9"/>
          <p:cNvSpPr txBox="1"/>
          <p:nvPr/>
        </p:nvSpPr>
        <p:spPr>
          <a:xfrm>
            <a:off x="8211312" y="481888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getDb() reuses client</a:t>
            </a:r>
          </a:p>
        </p:txBody>
      </p:sp>
      <p:sp>
        <p:nvSpPr>
          <p:cNvPr id="11" name="TextBox 10"/>
          <p:cNvSpPr txBox="1"/>
          <p:nvPr/>
        </p:nvSpPr>
        <p:spPr>
          <a:xfrm>
            <a:off x="594360" y="6199632"/>
            <a:ext cx="10972800" cy="457200"/>
          </a:xfrm>
          <a:prstGeom prst="rect">
            <a:avLst/>
          </a:prstGeom>
          <a:noFill/>
        </p:spPr>
        <p:txBody>
          <a:bodyPr wrap="square" lIns="0" tIns="0" rIns="0" bIns="0">
            <a:spAutoFit/>
          </a:bodyPr>
          <a:lstStyle/>
          <a:p>
            <a:pPr>
              <a:lnSpc>
                <a:spcPct val="105000"/>
              </a:lnSpc>
              <a:spcBef>
                <a:spcPts val="0"/>
              </a:spcBef>
              <a:spcAft>
                <a:spcPts val="0"/>
              </a:spcAft>
            </a:pPr>
            <a:r>
              <a:rPr sz="2200" b="1">
                <a:solidFill>
                  <a:srgbClr val="007D87"/>
                </a:solidFill>
              </a:rPr>
              <a:t>Three sleepy developers. One coffee machine.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Singleton</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The database connection is opened once and then reused.</a:t>
            </a:r>
            <a:endParaRPr lang="en-US"/>
          </a:p>
        </p:txBody>
      </p:sp>
      <p:graphicFrame>
        <p:nvGraphicFramePr>
          <p:cNvPr id="4" name="Table 3"/>
          <p:cNvGraphicFramePr>
            <a:graphicFrameLocks noGrp="1"/>
          </p:cNvGraphicFramePr>
          <p:nvPr/>
        </p:nvGraphicFramePr>
        <p:xfrm>
          <a:off x="594360" y="2194560"/>
          <a:ext cx="11000232" cy="4343400"/>
        </p:xfrm>
        <a:graphic>
          <a:graphicData uri="http://schemas.openxmlformats.org/drawingml/2006/table">
            <a:tbl>
              <a:tblPr firstRow="1" bandRow="1">
                <a:tableStyleId>{5C22544A-7EE6-4342-B048-85BDC9FD1C3A}</a:tableStyleId>
              </a:tblPr>
              <a:tblGrid>
                <a:gridCol w="11000232">
                  <a:extLst>
                    <a:ext uri="{9D8B030D-6E8A-4147-A177-3AD203B41FA5}">
                      <a16:colId xmlns:a16="http://schemas.microsoft.com/office/drawing/2014/main" val="20002"/>
                    </a:ext>
                  </a:extLst>
                </a:gridCol>
              </a:tblGrid>
              <a:tr h="457200">
                <a:tc>
                  <a:txBody>
                    <a:bodyPr/>
                    <a:lstStyle/>
                    <a:p>
                      <a:pPr algn="l">
                        <a:spcAft>
                          <a:spcPts val="400"/>
                        </a:spcAft>
                      </a:pPr>
                      <a:r>
                        <a:rPr sz="1700" b="1">
                          <a:solidFill>
                            <a:srgbClr val="FFFFFF"/>
                          </a:solidFill>
                        </a:rPr>
                        <a:t>getDb</a:t>
                      </a:r>
                    </a:p>
                  </a:txBody>
                  <a:tcPr marL="164592" marR="164592" marT="109728" marB="73152">
                    <a:lnL>
                      <a:noFill/>
                    </a:lnL>
                    <a:lnR>
                      <a:noFill/>
                    </a:lnR>
                    <a:lnT>
                      <a:noFill/>
                    </a:lnT>
                    <a:lnB>
                      <a:noFill/>
                    </a:lnB>
                    <a:solidFill>
                      <a:srgbClr val="172C42"/>
                    </a:solidFill>
                  </a:tcPr>
                </a:tc>
                <a:extLst>
                  <a:ext uri="{0D108BD9-81ED-4DB2-BD59-A6C34878D82A}">
                    <a16:rowId xmlns:a16="http://schemas.microsoft.com/office/drawing/2014/main" val="10000"/>
                  </a:ext>
                </a:extLst>
              </a:tr>
              <a:tr h="3886200">
                <a:tc>
                  <a:txBody>
                    <a:bodyPr/>
                    <a:lstStyle/>
                    <a:p>
                      <a:pPr algn="l">
                        <a:lnSpc>
                          <a:spcPct val="100000"/>
                        </a:lnSpc>
                        <a:spcBef>
                          <a:spcPts val="0"/>
                        </a:spcBef>
                        <a:spcAft>
                          <a:spcPts val="0"/>
                        </a:spcAft>
                      </a:pPr>
                      <a:r>
                        <a:rPr sz="1700" b="0">
                          <a:solidFill>
                            <a:srgbClr val="172C42"/>
                          </a:solidFill>
                          <a:latin typeface="Consolas"/>
                        </a:rPr>
                        <a:t>let client;</a:t>
                      </a:r>
                    </a:p>
                    <a:p>
                      <a:pPr algn="l">
                        <a:lnSpc>
                          <a:spcPct val="100000"/>
                        </a:lnSpc>
                        <a:spcBef>
                          <a:spcPts val="0"/>
                        </a:spcBef>
                        <a:spcAft>
                          <a:spcPts val="0"/>
                        </a:spcAft>
                      </a:pPr>
                      <a:r>
                        <a:rPr sz="1700" b="0">
                          <a:solidFill>
                            <a:srgbClr val="172C42"/>
                          </a:solidFill>
                          <a:latin typeface="Consolas"/>
                        </a:rPr>
                        <a:t>async function getDb() {</a:t>
                      </a:r>
                    </a:p>
                    <a:p>
                      <a:pPr algn="l">
                        <a:lnSpc>
                          <a:spcPct val="100000"/>
                        </a:lnSpc>
                        <a:spcBef>
                          <a:spcPts val="0"/>
                        </a:spcBef>
                        <a:spcAft>
                          <a:spcPts val="0"/>
                        </a:spcAft>
                      </a:pPr>
                      <a:r>
                        <a:rPr sz="1700" b="0">
                          <a:solidFill>
                            <a:srgbClr val="172C42"/>
                          </a:solidFill>
                          <a:latin typeface="Consolas"/>
                        </a:rPr>
                        <a:t>  if (!client) {</a:t>
                      </a:r>
                    </a:p>
                    <a:p>
                      <a:pPr algn="l">
                        <a:lnSpc>
                          <a:spcPct val="100000"/>
                        </a:lnSpc>
                        <a:spcBef>
                          <a:spcPts val="0"/>
                        </a:spcBef>
                        <a:spcAft>
                          <a:spcPts val="0"/>
                        </a:spcAft>
                      </a:pPr>
                      <a:r>
                        <a:rPr sz="1700" b="0">
                          <a:solidFill>
                            <a:srgbClr val="172C42"/>
                          </a:solidFill>
                          <a:latin typeface="Consolas"/>
                        </a:rPr>
                        <a:t>    client = new MongoClient(process.env.MONGODB_URI);</a:t>
                      </a:r>
                    </a:p>
                    <a:p>
                      <a:pPr algn="l">
                        <a:lnSpc>
                          <a:spcPct val="100000"/>
                        </a:lnSpc>
                        <a:spcBef>
                          <a:spcPts val="0"/>
                        </a:spcBef>
                        <a:spcAft>
                          <a:spcPts val="0"/>
                        </a:spcAft>
                      </a:pPr>
                      <a:r>
                        <a:rPr sz="1700" b="0">
                          <a:solidFill>
                            <a:srgbClr val="172C42"/>
                          </a:solidFill>
                          <a:latin typeface="Consolas"/>
                        </a:rPr>
                        <a:t>    await client.connect();</a:t>
                      </a:r>
                    </a:p>
                    <a:p>
                      <a:pPr algn="l">
                        <a:lnSpc>
                          <a:spcPct val="100000"/>
                        </a:lnSpc>
                        <a:spcBef>
                          <a:spcPts val="0"/>
                        </a:spcBef>
                        <a:spcAft>
                          <a:spcPts val="0"/>
                        </a:spcAft>
                      </a:pPr>
                      <a:r>
                        <a:rPr sz="1700" b="0">
                          <a:solidFill>
                            <a:srgbClr val="172C42"/>
                          </a:solidFill>
                          <a:latin typeface="Consolas"/>
                        </a:rPr>
                        <a:t>  }</a:t>
                      </a:r>
                    </a:p>
                    <a:p>
                      <a:pPr algn="l">
                        <a:lnSpc>
                          <a:spcPct val="100000"/>
                        </a:lnSpc>
                        <a:spcBef>
                          <a:spcPts val="0"/>
                        </a:spcBef>
                        <a:spcAft>
                          <a:spcPts val="0"/>
                        </a:spcAft>
                      </a:pPr>
                      <a:r>
                        <a:rPr sz="1700" b="0">
                          <a:solidFill>
                            <a:srgbClr val="172C42"/>
                          </a:solidFill>
                          <a:latin typeface="Consolas"/>
                        </a:rPr>
                        <a:t>  return client.db('banking');</a:t>
                      </a:r>
                    </a:p>
                    <a:p>
                      <a:pPr algn="l">
                        <a:lnSpc>
                          <a:spcPct val="100000"/>
                        </a:lnSpc>
                        <a:spcBef>
                          <a:spcPts val="0"/>
                        </a:spcBef>
                        <a:spcAft>
                          <a:spcPts val="0"/>
                        </a:spcAft>
                      </a:pPr>
                      <a:r>
                        <a:rPr sz="1700" b="0">
                          <a:solidFill>
                            <a:srgbClr val="172C42"/>
                          </a:solidFill>
                          <a:latin typeface="Consolas"/>
                        </a:rPr>
                        <a:t>}</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538757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Factory</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Create distinct sale objects with a consistent set of fields.</a:t>
            </a:r>
            <a:endParaRPr lang="en-US"/>
          </a:p>
        </p:txBody>
      </p:sp>
      <p:pic>
        <p:nvPicPr>
          <p:cNvPr id="4" name="Picture 3" descr="image-3af8df14cc148278d7e72ec262ef6062.jpg"/>
          <p:cNvPicPr>
            <a:picLocks noChangeAspect="1"/>
          </p:cNvPicPr>
          <p:nvPr/>
        </p:nvPicPr>
        <p:blipFill>
          <a:blip r:embed="rId3"/>
          <a:stretch>
            <a:fillRect/>
          </a:stretch>
        </p:blipFill>
        <p:spPr>
          <a:xfrm>
            <a:off x="943311" y="1828800"/>
            <a:ext cx="6480137" cy="4041648"/>
          </a:xfrm>
          <a:prstGeom prst="rect">
            <a:avLst/>
          </a:prstGeom>
        </p:spPr>
      </p:pic>
      <p:sp>
        <p:nvSpPr>
          <p:cNvPr id="5" name="TextBox 4"/>
          <p:cNvSpPr txBox="1"/>
          <p:nvPr/>
        </p:nvSpPr>
        <p:spPr>
          <a:xfrm>
            <a:off x="8211312" y="201168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Ingredients</a:t>
            </a:r>
          </a:p>
        </p:txBody>
      </p:sp>
      <p:sp>
        <p:nvSpPr>
          <p:cNvPr id="6" name="TextBox 5"/>
          <p:cNvSpPr txBox="1"/>
          <p:nvPr/>
        </p:nvSpPr>
        <p:spPr>
          <a:xfrm>
            <a:off x="8211312" y="244144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Product + payment reference</a:t>
            </a:r>
          </a:p>
        </p:txBody>
      </p:sp>
      <p:sp>
        <p:nvSpPr>
          <p:cNvPr id="7" name="TextBox 6"/>
          <p:cNvSpPr txBox="1"/>
          <p:nvPr/>
        </p:nvSpPr>
        <p:spPr>
          <a:xfrm>
            <a:off x="8211312" y="320040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Factory</a:t>
            </a:r>
          </a:p>
        </p:txBody>
      </p:sp>
      <p:sp>
        <p:nvSpPr>
          <p:cNvPr id="8" name="TextBox 7"/>
          <p:cNvSpPr txBox="1"/>
          <p:nvPr/>
        </p:nvSpPr>
        <p:spPr>
          <a:xfrm>
            <a:off x="8211312" y="363016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createSale(...)</a:t>
            </a:r>
          </a:p>
        </p:txBody>
      </p:sp>
      <p:sp>
        <p:nvSpPr>
          <p:cNvPr id="9" name="TextBox 8"/>
          <p:cNvSpPr txBox="1"/>
          <p:nvPr/>
        </p:nvSpPr>
        <p:spPr>
          <a:xfrm>
            <a:off x="8211312" y="438912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New sale objects</a:t>
            </a:r>
          </a:p>
        </p:txBody>
      </p:sp>
      <p:sp>
        <p:nvSpPr>
          <p:cNvPr id="10" name="TextBox 9"/>
          <p:cNvSpPr txBox="1"/>
          <p:nvPr/>
        </p:nvSpPr>
        <p:spPr>
          <a:xfrm>
            <a:off x="8211312" y="481888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Same fields, different values</a:t>
            </a:r>
          </a:p>
        </p:txBody>
      </p:sp>
      <p:sp>
        <p:nvSpPr>
          <p:cNvPr id="11" name="TextBox 10"/>
          <p:cNvSpPr txBox="1"/>
          <p:nvPr/>
        </p:nvSpPr>
        <p:spPr>
          <a:xfrm>
            <a:off x="594360" y="6199632"/>
            <a:ext cx="10972800" cy="457200"/>
          </a:xfrm>
          <a:prstGeom prst="rect">
            <a:avLst/>
          </a:prstGeom>
          <a:noFill/>
        </p:spPr>
        <p:txBody>
          <a:bodyPr wrap="square" lIns="0" tIns="0" rIns="0" bIns="0">
            <a:spAutoFit/>
          </a:bodyPr>
          <a:lstStyle/>
          <a:p>
            <a:pPr>
              <a:lnSpc>
                <a:spcPct val="105000"/>
              </a:lnSpc>
              <a:spcBef>
                <a:spcPts val="0"/>
              </a:spcBef>
              <a:spcAft>
                <a:spcPts val="0"/>
              </a:spcAft>
            </a:pPr>
            <a:r>
              <a:rPr sz="2200" b="1">
                <a:solidFill>
                  <a:srgbClr val="007D87"/>
                </a:solidFill>
              </a:rPr>
              <a:t>Different orders. Same paperwork.</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Factory</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Every new sale is built with the same fields.</a:t>
            </a:r>
            <a:endParaRPr lang="en-US"/>
          </a:p>
        </p:txBody>
      </p:sp>
      <p:graphicFrame>
        <p:nvGraphicFramePr>
          <p:cNvPr id="4" name="Table 3"/>
          <p:cNvGraphicFramePr>
            <a:graphicFrameLocks noGrp="1"/>
          </p:cNvGraphicFramePr>
          <p:nvPr/>
        </p:nvGraphicFramePr>
        <p:xfrm>
          <a:off x="594360" y="2194560"/>
          <a:ext cx="11000232" cy="4343400"/>
        </p:xfrm>
        <a:graphic>
          <a:graphicData uri="http://schemas.openxmlformats.org/drawingml/2006/table">
            <a:tbl>
              <a:tblPr firstRow="1" bandRow="1">
                <a:tableStyleId>{5C22544A-7EE6-4342-B048-85BDC9FD1C3A}</a:tableStyleId>
              </a:tblPr>
              <a:tblGrid>
                <a:gridCol w="11000232">
                  <a:extLst>
                    <a:ext uri="{9D8B030D-6E8A-4147-A177-3AD203B41FA5}">
                      <a16:colId xmlns:a16="http://schemas.microsoft.com/office/drawing/2014/main" val="20002"/>
                    </a:ext>
                  </a:extLst>
                </a:gridCol>
              </a:tblGrid>
              <a:tr h="457200">
                <a:tc>
                  <a:txBody>
                    <a:bodyPr/>
                    <a:lstStyle/>
                    <a:p>
                      <a:pPr algn="l">
                        <a:spcAft>
                          <a:spcPts val="400"/>
                        </a:spcAft>
                      </a:pPr>
                      <a:r>
                        <a:rPr sz="1700" b="1">
                          <a:solidFill>
                            <a:srgbClr val="FFFFFF"/>
                          </a:solidFill>
                        </a:rPr>
                        <a:t>createSale</a:t>
                      </a:r>
                    </a:p>
                  </a:txBody>
                  <a:tcPr marL="164592" marR="164592" marT="109728" marB="73152">
                    <a:lnL>
                      <a:noFill/>
                    </a:lnL>
                    <a:lnR>
                      <a:noFill/>
                    </a:lnR>
                    <a:lnT>
                      <a:noFill/>
                    </a:lnT>
                    <a:lnB>
                      <a:noFill/>
                    </a:lnB>
                    <a:solidFill>
                      <a:srgbClr val="172C42"/>
                    </a:solidFill>
                  </a:tcPr>
                </a:tc>
                <a:extLst>
                  <a:ext uri="{0D108BD9-81ED-4DB2-BD59-A6C34878D82A}">
                    <a16:rowId xmlns:a16="http://schemas.microsoft.com/office/drawing/2014/main" val="10000"/>
                  </a:ext>
                </a:extLst>
              </a:tr>
              <a:tr h="3886200">
                <a:tc>
                  <a:txBody>
                    <a:bodyPr/>
                    <a:lstStyle/>
                    <a:p>
                      <a:pPr algn="l">
                        <a:lnSpc>
                          <a:spcPct val="100000"/>
                        </a:lnSpc>
                        <a:spcBef>
                          <a:spcPts val="0"/>
                        </a:spcBef>
                        <a:spcAft>
                          <a:spcPts val="0"/>
                        </a:spcAft>
                      </a:pPr>
                      <a:r>
                        <a:rPr sz="1700" b="0">
                          <a:solidFill>
                            <a:srgbClr val="172C42"/>
                          </a:solidFill>
                          <a:latin typeface="Consolas"/>
                        </a:rPr>
                        <a:t>function createSale(product, paymentReference) {</a:t>
                      </a:r>
                    </a:p>
                    <a:p>
                      <a:pPr algn="l">
                        <a:lnSpc>
                          <a:spcPct val="100000"/>
                        </a:lnSpc>
                        <a:spcBef>
                          <a:spcPts val="0"/>
                        </a:spcBef>
                        <a:spcAft>
                          <a:spcPts val="0"/>
                        </a:spcAft>
                      </a:pPr>
                      <a:r>
                        <a:rPr sz="1700" b="0">
                          <a:solidFill>
                            <a:srgbClr val="172C42"/>
                          </a:solidFill>
                          <a:latin typeface="Consolas"/>
                        </a:rPr>
                        <a:t>  return {</a:t>
                      </a:r>
                    </a:p>
                    <a:p>
                      <a:pPr algn="l">
                        <a:lnSpc>
                          <a:spcPct val="100000"/>
                        </a:lnSpc>
                        <a:spcBef>
                          <a:spcPts val="0"/>
                        </a:spcBef>
                        <a:spcAft>
                          <a:spcPts val="0"/>
                        </a:spcAft>
                      </a:pPr>
                      <a:r>
                        <a:rPr sz="1700" b="0">
                          <a:solidFill>
                            <a:srgbClr val="172C42"/>
                          </a:solidFill>
                          <a:latin typeface="Consolas"/>
                        </a:rPr>
                        <a:t>    productName: product.name,</a:t>
                      </a:r>
                    </a:p>
                    <a:p>
                      <a:pPr algn="l">
                        <a:lnSpc>
                          <a:spcPct val="100000"/>
                        </a:lnSpc>
                        <a:spcBef>
                          <a:spcPts val="0"/>
                        </a:spcBef>
                        <a:spcAft>
                          <a:spcPts val="0"/>
                        </a:spcAft>
                      </a:pPr>
                      <a:r>
                        <a:rPr sz="1700" b="0">
                          <a:solidFill>
                            <a:srgbClr val="172C42"/>
                          </a:solidFill>
                          <a:latin typeface="Consolas"/>
                        </a:rPr>
                        <a:t>    amount: product.price,</a:t>
                      </a:r>
                    </a:p>
                    <a:p>
                      <a:pPr algn="l">
                        <a:lnSpc>
                          <a:spcPct val="100000"/>
                        </a:lnSpc>
                        <a:spcBef>
                          <a:spcPts val="0"/>
                        </a:spcBef>
                        <a:spcAft>
                          <a:spcPts val="0"/>
                        </a:spcAft>
                      </a:pPr>
                      <a:r>
                        <a:rPr sz="1700" b="0">
                          <a:solidFill>
                            <a:srgbClr val="172C42"/>
                          </a:solidFill>
                          <a:latin typeface="Consolas"/>
                        </a:rPr>
                        <a:t>    paymentReference,</a:t>
                      </a:r>
                    </a:p>
                    <a:p>
                      <a:pPr algn="l">
                        <a:lnSpc>
                          <a:spcPct val="100000"/>
                        </a:lnSpc>
                        <a:spcBef>
                          <a:spcPts val="0"/>
                        </a:spcBef>
                        <a:spcAft>
                          <a:spcPts val="0"/>
                        </a:spcAft>
                      </a:pPr>
                      <a:r>
                        <a:rPr sz="1700" b="0">
                          <a:solidFill>
                            <a:srgbClr val="172C42"/>
                          </a:solidFill>
                          <a:latin typeface="Consolas"/>
                        </a:rPr>
                        <a:t>    status: 'completed',</a:t>
                      </a:r>
                    </a:p>
                    <a:p>
                      <a:pPr algn="l">
                        <a:lnSpc>
                          <a:spcPct val="100000"/>
                        </a:lnSpc>
                        <a:spcBef>
                          <a:spcPts val="0"/>
                        </a:spcBef>
                        <a:spcAft>
                          <a:spcPts val="0"/>
                        </a:spcAft>
                      </a:pPr>
                      <a:r>
                        <a:rPr sz="1700" b="0">
                          <a:solidFill>
                            <a:srgbClr val="172C42"/>
                          </a:solidFill>
                          <a:latin typeface="Consolas"/>
                        </a:rPr>
                        <a:t>  };</a:t>
                      </a:r>
                    </a:p>
                    <a:p>
                      <a:pPr algn="l">
                        <a:lnSpc>
                          <a:spcPct val="100000"/>
                        </a:lnSpc>
                        <a:spcBef>
                          <a:spcPts val="0"/>
                        </a:spcBef>
                        <a:spcAft>
                          <a:spcPts val="0"/>
                        </a:spcAft>
                      </a:pPr>
                      <a:r>
                        <a:rPr sz="1700" b="0">
                          <a:solidFill>
                            <a:srgbClr val="172C42"/>
                          </a:solidFill>
                          <a:latin typeface="Consolas"/>
                        </a:rPr>
                        <a:t>}</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382937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Facade</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One deposit call hides the smaller account-update steps.</a:t>
            </a:r>
            <a:endParaRPr lang="en-US"/>
          </a:p>
        </p:txBody>
      </p:sp>
      <p:pic>
        <p:nvPicPr>
          <p:cNvPr id="4" name="Picture 3" descr="image-0321a96e074616672ce5c6cbc182b651.jpg"/>
          <p:cNvPicPr>
            <a:picLocks noChangeAspect="1"/>
          </p:cNvPicPr>
          <p:nvPr/>
        </p:nvPicPr>
        <p:blipFill>
          <a:blip r:embed="rId3"/>
          <a:stretch>
            <a:fillRect/>
          </a:stretch>
        </p:blipFill>
        <p:spPr>
          <a:xfrm>
            <a:off x="925837" y="1828800"/>
            <a:ext cx="6515085" cy="4041648"/>
          </a:xfrm>
          <a:prstGeom prst="rect">
            <a:avLst/>
          </a:prstGeom>
        </p:spPr>
      </p:pic>
      <p:sp>
        <p:nvSpPr>
          <p:cNvPr id="5" name="TextBox 4"/>
          <p:cNvSpPr txBox="1"/>
          <p:nvPr/>
        </p:nvSpPr>
        <p:spPr>
          <a:xfrm>
            <a:off x="8211312" y="201168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Guest = Caller</a:t>
            </a:r>
          </a:p>
        </p:txBody>
      </p:sp>
      <p:sp>
        <p:nvSpPr>
          <p:cNvPr id="6" name="TextBox 5"/>
          <p:cNvSpPr txBox="1"/>
          <p:nvPr/>
        </p:nvSpPr>
        <p:spPr>
          <a:xfrm>
            <a:off x="8211312" y="244144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Calls deposit(...)</a:t>
            </a:r>
          </a:p>
        </p:txBody>
      </p:sp>
      <p:sp>
        <p:nvSpPr>
          <p:cNvPr id="7" name="TextBox 6"/>
          <p:cNvSpPr txBox="1"/>
          <p:nvPr/>
        </p:nvSpPr>
        <p:spPr>
          <a:xfrm>
            <a:off x="8211312" y="320040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Concierge = Facade</a:t>
            </a:r>
          </a:p>
        </p:txBody>
      </p:sp>
      <p:sp>
        <p:nvSpPr>
          <p:cNvPr id="8" name="TextBox 7"/>
          <p:cNvSpPr txBox="1"/>
          <p:nvPr/>
        </p:nvSpPr>
        <p:spPr>
          <a:xfrm>
            <a:off x="8211312" y="363016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Finds, updates and saves</a:t>
            </a:r>
          </a:p>
        </p:txBody>
      </p:sp>
      <p:sp>
        <p:nvSpPr>
          <p:cNvPr id="9" name="TextBox 8"/>
          <p:cNvSpPr txBox="1"/>
          <p:nvPr/>
        </p:nvSpPr>
        <p:spPr>
          <a:xfrm>
            <a:off x="8211312" y="438912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Back-office work</a:t>
            </a:r>
          </a:p>
        </p:txBody>
      </p:sp>
      <p:sp>
        <p:nvSpPr>
          <p:cNvPr id="10" name="TextBox 9"/>
          <p:cNvSpPr txBox="1"/>
          <p:nvPr/>
        </p:nvSpPr>
        <p:spPr>
          <a:xfrm>
            <a:off x="8211312" y="481888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Hidden behind one call</a:t>
            </a:r>
          </a:p>
        </p:txBody>
      </p:sp>
      <p:sp>
        <p:nvSpPr>
          <p:cNvPr id="11" name="TextBox 10"/>
          <p:cNvSpPr txBox="1"/>
          <p:nvPr/>
        </p:nvSpPr>
        <p:spPr>
          <a:xfrm>
            <a:off x="594360" y="6199632"/>
            <a:ext cx="10972800" cy="457200"/>
          </a:xfrm>
          <a:prstGeom prst="rect">
            <a:avLst/>
          </a:prstGeom>
          <a:noFill/>
        </p:spPr>
        <p:txBody>
          <a:bodyPr wrap="square" lIns="0" tIns="0" rIns="0" bIns="0">
            <a:spAutoFit/>
          </a:bodyPr>
          <a:lstStyle/>
          <a:p>
            <a:pPr>
              <a:lnSpc>
                <a:spcPct val="105000"/>
              </a:lnSpc>
              <a:spcBef>
                <a:spcPts val="0"/>
              </a:spcBef>
              <a:spcAft>
                <a:spcPts val="0"/>
              </a:spcAft>
            </a:pPr>
            <a:r>
              <a:rPr sz="2200" b="1">
                <a:solidFill>
                  <a:srgbClr val="007D87"/>
                </a:solidFill>
              </a:rPr>
              <a:t>You said “deposit,” not “manage the whole bank.”</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Facade</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The caller says “deposit.” One function hides the smaller steps.</a:t>
            </a:r>
            <a:endParaRPr lang="en-US"/>
          </a:p>
        </p:txBody>
      </p:sp>
      <p:graphicFrame>
        <p:nvGraphicFramePr>
          <p:cNvPr id="4" name="Table 3"/>
          <p:cNvGraphicFramePr>
            <a:graphicFrameLocks noGrp="1"/>
          </p:cNvGraphicFramePr>
          <p:nvPr/>
        </p:nvGraphicFramePr>
        <p:xfrm>
          <a:off x="594360" y="2194560"/>
          <a:ext cx="11000232" cy="4343400"/>
        </p:xfrm>
        <a:graphic>
          <a:graphicData uri="http://schemas.openxmlformats.org/drawingml/2006/table">
            <a:tbl>
              <a:tblPr firstRow="1" bandRow="1">
                <a:tableStyleId>{5C22544A-7EE6-4342-B048-85BDC9FD1C3A}</a:tableStyleId>
              </a:tblPr>
              <a:tblGrid>
                <a:gridCol w="11000232">
                  <a:extLst>
                    <a:ext uri="{9D8B030D-6E8A-4147-A177-3AD203B41FA5}">
                      <a16:colId xmlns:a16="http://schemas.microsoft.com/office/drawing/2014/main" val="20002"/>
                    </a:ext>
                  </a:extLst>
                </a:gridCol>
              </a:tblGrid>
              <a:tr h="457200">
                <a:tc>
                  <a:txBody>
                    <a:bodyPr/>
                    <a:lstStyle/>
                    <a:p>
                      <a:pPr algn="l">
                        <a:spcAft>
                          <a:spcPts val="400"/>
                        </a:spcAft>
                      </a:pPr>
                      <a:r>
                        <a:rPr sz="1700" b="1">
                          <a:solidFill>
                            <a:srgbClr val="FFFFFF"/>
                          </a:solidFill>
                        </a:rPr>
                        <a:t>deposit</a:t>
                      </a:r>
                    </a:p>
                  </a:txBody>
                  <a:tcPr marL="164592" marR="164592" marT="109728" marB="73152">
                    <a:lnL>
                      <a:noFill/>
                    </a:lnL>
                    <a:lnR>
                      <a:noFill/>
                    </a:lnR>
                    <a:lnT>
                      <a:noFill/>
                    </a:lnT>
                    <a:lnB>
                      <a:noFill/>
                    </a:lnB>
                    <a:solidFill>
                      <a:srgbClr val="172C42"/>
                    </a:solidFill>
                  </a:tcPr>
                </a:tc>
                <a:extLst>
                  <a:ext uri="{0D108BD9-81ED-4DB2-BD59-A6C34878D82A}">
                    <a16:rowId xmlns:a16="http://schemas.microsoft.com/office/drawing/2014/main" val="10000"/>
                  </a:ext>
                </a:extLst>
              </a:tr>
              <a:tr h="3886200">
                <a:tc>
                  <a:txBody>
                    <a:bodyPr/>
                    <a:lstStyle/>
                    <a:p>
                      <a:pPr algn="l">
                        <a:lnSpc>
                          <a:spcPct val="100000"/>
                        </a:lnSpc>
                        <a:spcBef>
                          <a:spcPts val="0"/>
                        </a:spcBef>
                        <a:spcAft>
                          <a:spcPts val="0"/>
                        </a:spcAft>
                      </a:pPr>
                      <a:r>
                        <a:rPr sz="1700" b="0">
                          <a:solidFill>
                            <a:srgbClr val="172C42"/>
                          </a:solidFill>
                          <a:latin typeface="Consolas"/>
                        </a:rPr>
                        <a:t>async function deposit(accounts, accountNumber, amountCents) {</a:t>
                      </a:r>
                    </a:p>
                    <a:p>
                      <a:pPr algn="l">
                        <a:lnSpc>
                          <a:spcPct val="100000"/>
                        </a:lnSpc>
                        <a:spcBef>
                          <a:spcPts val="0"/>
                        </a:spcBef>
                        <a:spcAft>
                          <a:spcPts val="0"/>
                        </a:spcAft>
                      </a:pPr>
                      <a:r>
                        <a:rPr sz="1700" b="0">
                          <a:solidFill>
                            <a:srgbClr val="172C42"/>
                          </a:solidFill>
                          <a:latin typeface="Consolas"/>
                        </a:rPr>
                        <a:t>  const account = await accounts.find(accountNumber);</a:t>
                      </a:r>
                    </a:p>
                    <a:p>
                      <a:pPr algn="l">
                        <a:lnSpc>
                          <a:spcPct val="100000"/>
                        </a:lnSpc>
                        <a:spcBef>
                          <a:spcPts val="0"/>
                        </a:spcBef>
                        <a:spcAft>
                          <a:spcPts val="0"/>
                        </a:spcAft>
                      </a:pPr>
                      <a:r>
                        <a:rPr sz="1700" b="0">
                          <a:solidFill>
                            <a:srgbClr val="172C42"/>
                          </a:solidFill>
                          <a:latin typeface="Consolas"/>
                        </a:rPr>
                        <a:t>  account.balanceCents += amountCents;</a:t>
                      </a:r>
                    </a:p>
                    <a:p>
                      <a:pPr algn="l">
                        <a:lnSpc>
                          <a:spcPct val="100000"/>
                        </a:lnSpc>
                        <a:spcBef>
                          <a:spcPts val="0"/>
                        </a:spcBef>
                        <a:spcAft>
                          <a:spcPts val="0"/>
                        </a:spcAft>
                      </a:pPr>
                      <a:r>
                        <a:rPr sz="1700" b="0">
                          <a:solidFill>
                            <a:srgbClr val="172C42"/>
                          </a:solidFill>
                          <a:latin typeface="Consolas"/>
                        </a:rPr>
                        <a:t>  await accounts.save(account);</a:t>
                      </a:r>
                    </a:p>
                    <a:p>
                      <a:pPr algn="l">
                        <a:lnSpc>
                          <a:spcPct val="100000"/>
                        </a:lnSpc>
                        <a:spcBef>
                          <a:spcPts val="0"/>
                        </a:spcBef>
                        <a:spcAft>
                          <a:spcPts val="0"/>
                        </a:spcAft>
                      </a:pPr>
                      <a:r>
                        <a:rPr sz="1700" b="0">
                          <a:solidFill>
                            <a:srgbClr val="172C42"/>
                          </a:solidFill>
                          <a:latin typeface="Consolas"/>
                        </a:rPr>
                        <a:t>  return account;</a:t>
                      </a:r>
                    </a:p>
                    <a:p>
                      <a:pPr algn="l">
                        <a:lnSpc>
                          <a:spcPct val="100000"/>
                        </a:lnSpc>
                        <a:spcBef>
                          <a:spcPts val="0"/>
                        </a:spcBef>
                        <a:spcAft>
                          <a:spcPts val="0"/>
                        </a:spcAft>
                      </a:pPr>
                      <a:r>
                        <a:rPr sz="1700" b="0">
                          <a:solidFill>
                            <a:srgbClr val="172C42"/>
                          </a:solidFill>
                          <a:latin typeface="Consolas"/>
                        </a:rPr>
                        <a:t>}</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Strategy</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Choose a payment method. Both expose approve(amount).</a:t>
            </a:r>
            <a:endParaRPr lang="en-US"/>
          </a:p>
        </p:txBody>
      </p:sp>
      <p:pic>
        <p:nvPicPr>
          <p:cNvPr id="4" name="Picture 3" descr="image-53daa8ee18af8067f3aead995427e4b7.jpg"/>
          <p:cNvPicPr>
            <a:picLocks noChangeAspect="1"/>
          </p:cNvPicPr>
          <p:nvPr/>
        </p:nvPicPr>
        <p:blipFill>
          <a:blip r:embed="rId3"/>
          <a:stretch>
            <a:fillRect/>
          </a:stretch>
        </p:blipFill>
        <p:spPr>
          <a:xfrm>
            <a:off x="502920" y="1921414"/>
            <a:ext cx="7360920" cy="3856418"/>
          </a:xfrm>
          <a:prstGeom prst="rect">
            <a:avLst/>
          </a:prstGeom>
        </p:spPr>
      </p:pic>
      <p:sp>
        <p:nvSpPr>
          <p:cNvPr id="5" name="TextBox 4"/>
          <p:cNvSpPr txBox="1"/>
          <p:nvPr/>
        </p:nvSpPr>
        <p:spPr>
          <a:xfrm>
            <a:off x="8211312" y="201168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Same interface</a:t>
            </a:r>
          </a:p>
        </p:txBody>
      </p:sp>
      <p:sp>
        <p:nvSpPr>
          <p:cNvPr id="6" name="TextBox 5"/>
          <p:cNvSpPr txBox="1"/>
          <p:nvPr/>
        </p:nvSpPr>
        <p:spPr>
          <a:xfrm>
            <a:off x="8211312" y="244144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method.approve(amount)</a:t>
            </a:r>
          </a:p>
        </p:txBody>
      </p:sp>
      <p:sp>
        <p:nvSpPr>
          <p:cNvPr id="7" name="TextBox 6"/>
          <p:cNvSpPr txBox="1"/>
          <p:nvPr/>
        </p:nvSpPr>
        <p:spPr>
          <a:xfrm>
            <a:off x="8211312" y="320040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UPI rule</a:t>
            </a:r>
          </a:p>
        </p:txBody>
      </p:sp>
      <p:sp>
        <p:nvSpPr>
          <p:cNvPr id="8" name="TextBox 7"/>
          <p:cNvSpPr txBox="1"/>
          <p:nvPr/>
        </p:nvSpPr>
        <p:spPr>
          <a:xfrm>
            <a:off x="8211312" y="363016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amount &gt; 0</a:t>
            </a:r>
          </a:p>
        </p:txBody>
      </p:sp>
      <p:sp>
        <p:nvSpPr>
          <p:cNvPr id="9" name="TextBox 8"/>
          <p:cNvSpPr txBox="1"/>
          <p:nvPr/>
        </p:nvSpPr>
        <p:spPr>
          <a:xfrm>
            <a:off x="8211312" y="438912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Cash rule</a:t>
            </a:r>
          </a:p>
        </p:txBody>
      </p:sp>
      <p:sp>
        <p:nvSpPr>
          <p:cNvPr id="10" name="TextBox 9"/>
          <p:cNvSpPr txBox="1"/>
          <p:nvPr/>
        </p:nvSpPr>
        <p:spPr>
          <a:xfrm>
            <a:off x="8211312" y="481888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amount % 10 === 0</a:t>
            </a:r>
          </a:p>
        </p:txBody>
      </p:sp>
      <p:sp>
        <p:nvSpPr>
          <p:cNvPr id="11" name="TextBox 10"/>
          <p:cNvSpPr txBox="1"/>
          <p:nvPr/>
        </p:nvSpPr>
        <p:spPr>
          <a:xfrm>
            <a:off x="594360" y="6199632"/>
            <a:ext cx="10972800" cy="457200"/>
          </a:xfrm>
          <a:prstGeom prst="rect">
            <a:avLst/>
          </a:prstGeom>
          <a:noFill/>
        </p:spPr>
        <p:txBody>
          <a:bodyPr wrap="square" lIns="0" tIns="0" rIns="0" bIns="0">
            <a:spAutoFit/>
          </a:bodyPr>
          <a:lstStyle/>
          <a:p>
            <a:pPr>
              <a:lnSpc>
                <a:spcPct val="105000"/>
              </a:lnSpc>
              <a:spcBef>
                <a:spcPts val="0"/>
              </a:spcBef>
              <a:spcAft>
                <a:spcPts val="0"/>
              </a:spcAft>
            </a:pPr>
            <a:r>
              <a:rPr sz="2200" b="1">
                <a:solidFill>
                  <a:srgbClr val="007D87"/>
                </a:solidFill>
              </a:rPr>
              <a:t>Same job. Different payment superpowers.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Strategy</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The machine calls approve. UPI and cash each have their own version.</a:t>
            </a:r>
            <a:endParaRPr lang="en-US"/>
          </a:p>
        </p:txBody>
      </p:sp>
      <p:graphicFrame>
        <p:nvGraphicFramePr>
          <p:cNvPr id="4" name="Table 3"/>
          <p:cNvGraphicFramePr>
            <a:graphicFrameLocks noGrp="1"/>
          </p:cNvGraphicFramePr>
          <p:nvPr/>
        </p:nvGraphicFramePr>
        <p:xfrm>
          <a:off x="594360" y="2194560"/>
          <a:ext cx="11000232" cy="4343400"/>
        </p:xfrm>
        <a:graphic>
          <a:graphicData uri="http://schemas.openxmlformats.org/drawingml/2006/table">
            <a:tbl>
              <a:tblPr firstRow="1" bandRow="1">
                <a:tableStyleId>{5C22544A-7EE6-4342-B048-85BDC9FD1C3A}</a:tableStyleId>
              </a:tblPr>
              <a:tblGrid>
                <a:gridCol w="11000232">
                  <a:extLst>
                    <a:ext uri="{9D8B030D-6E8A-4147-A177-3AD203B41FA5}">
                      <a16:colId xmlns:a16="http://schemas.microsoft.com/office/drawing/2014/main" val="20002"/>
                    </a:ext>
                  </a:extLst>
                </a:gridCol>
              </a:tblGrid>
              <a:tr h="457200">
                <a:tc>
                  <a:txBody>
                    <a:bodyPr/>
                    <a:lstStyle/>
                    <a:p>
                      <a:pPr algn="l">
                        <a:spcAft>
                          <a:spcPts val="400"/>
                        </a:spcAft>
                      </a:pPr>
                      <a:r>
                        <a:rPr sz="1700" b="1">
                          <a:solidFill>
                            <a:srgbClr val="FFFFFF"/>
                          </a:solidFill>
                        </a:rPr>
                        <a:t>pay</a:t>
                      </a:r>
                    </a:p>
                  </a:txBody>
                  <a:tcPr marL="164592" marR="164592" marT="109728" marB="73152">
                    <a:lnL>
                      <a:noFill/>
                    </a:lnL>
                    <a:lnR>
                      <a:noFill/>
                    </a:lnR>
                    <a:lnT>
                      <a:noFill/>
                    </a:lnT>
                    <a:lnB>
                      <a:noFill/>
                    </a:lnB>
                    <a:solidFill>
                      <a:srgbClr val="172C42"/>
                    </a:solidFill>
                  </a:tcPr>
                </a:tc>
                <a:extLst>
                  <a:ext uri="{0D108BD9-81ED-4DB2-BD59-A6C34878D82A}">
                    <a16:rowId xmlns:a16="http://schemas.microsoft.com/office/drawing/2014/main" val="10000"/>
                  </a:ext>
                </a:extLst>
              </a:tr>
              <a:tr h="3886200">
                <a:tc>
                  <a:txBody>
                    <a:bodyPr/>
                    <a:lstStyle/>
                    <a:p>
                      <a:pPr algn="l">
                        <a:lnSpc>
                          <a:spcPct val="100000"/>
                        </a:lnSpc>
                        <a:spcBef>
                          <a:spcPts val="0"/>
                        </a:spcBef>
                        <a:spcAft>
                          <a:spcPts val="0"/>
                        </a:spcAft>
                      </a:pPr>
                      <a:r>
                        <a:rPr sz="1700" b="0">
                          <a:solidFill>
                            <a:srgbClr val="172C42"/>
                          </a:solidFill>
                          <a:latin typeface="Consolas"/>
                        </a:rPr>
                        <a:t>const upi = { approve(amount) { return amount &gt; 0; } };</a:t>
                      </a:r>
                    </a:p>
                    <a:p>
                      <a:pPr algn="l">
                        <a:lnSpc>
                          <a:spcPct val="100000"/>
                        </a:lnSpc>
                        <a:spcBef>
                          <a:spcPts val="0"/>
                        </a:spcBef>
                        <a:spcAft>
                          <a:spcPts val="0"/>
                        </a:spcAft>
                      </a:pPr>
                      <a:r>
                        <a:rPr sz="1700" b="0">
                          <a:solidFill>
                            <a:srgbClr val="172C42"/>
                          </a:solidFill>
                          <a:latin typeface="Consolas"/>
                        </a:rPr>
                        <a:t>const cash = { approve(amount) { return amount % 10 === 0; } };</a:t>
                      </a:r>
                    </a:p>
                    <a:p>
                      <a:pPr algn="l">
                        <a:lnSpc>
                          <a:spcPct val="100000"/>
                        </a:lnSpc>
                        <a:spcBef>
                          <a:spcPts val="0"/>
                        </a:spcBef>
                        <a:spcAft>
                          <a:spcPts val="0"/>
                        </a:spcAft>
                      </a:pPr>
                      <a:r>
                        <a:rPr sz="1700" b="0">
                          <a:solidFill>
                            <a:srgbClr val="172C42"/>
                          </a:solidFill>
                          <a:latin typeface="Consolas"/>
                        </a:rPr>
                        <a:t>function pay(method, amount) {</a:t>
                      </a:r>
                    </a:p>
                    <a:p>
                      <a:pPr algn="l">
                        <a:lnSpc>
                          <a:spcPct val="100000"/>
                        </a:lnSpc>
                        <a:spcBef>
                          <a:spcPts val="0"/>
                        </a:spcBef>
                        <a:spcAft>
                          <a:spcPts val="0"/>
                        </a:spcAft>
                      </a:pPr>
                      <a:r>
                        <a:rPr sz="1700" b="0">
                          <a:solidFill>
                            <a:srgbClr val="172C42"/>
                          </a:solidFill>
                          <a:latin typeface="Consolas"/>
                        </a:rPr>
                        <a:t>  return method.approve(amount);</a:t>
                      </a:r>
                    </a:p>
                    <a:p>
                      <a:pPr algn="l">
                        <a:lnSpc>
                          <a:spcPct val="100000"/>
                        </a:lnSpc>
                        <a:spcBef>
                          <a:spcPts val="0"/>
                        </a:spcBef>
                        <a:spcAft>
                          <a:spcPts val="0"/>
                        </a:spcAft>
                      </a:pPr>
                      <a:r>
                        <a:rPr sz="1700" b="0">
                          <a:solidFill>
                            <a:srgbClr val="172C42"/>
                          </a:solidFill>
                          <a:latin typeface="Consolas"/>
                        </a:rPr>
                        <a:t>}</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Observer</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One balance-change event notifies every registered listener.</a:t>
            </a:r>
            <a:endParaRPr lang="en-US"/>
          </a:p>
        </p:txBody>
      </p:sp>
      <p:pic>
        <p:nvPicPr>
          <p:cNvPr id="4" name="Picture 3" descr="image-3b214d7b65849e47b7353db93a397de1.jpg"/>
          <p:cNvPicPr>
            <a:picLocks noChangeAspect="1"/>
          </p:cNvPicPr>
          <p:nvPr/>
        </p:nvPicPr>
        <p:blipFill>
          <a:blip r:embed="rId3"/>
          <a:stretch>
            <a:fillRect/>
          </a:stretch>
        </p:blipFill>
        <p:spPr>
          <a:xfrm>
            <a:off x="1030052" y="1828800"/>
            <a:ext cx="6306654" cy="4041648"/>
          </a:xfrm>
          <a:prstGeom prst="rect">
            <a:avLst/>
          </a:prstGeom>
        </p:spPr>
      </p:pic>
      <p:sp>
        <p:nvSpPr>
          <p:cNvPr id="5" name="TextBox 4"/>
          <p:cNvSpPr txBox="1"/>
          <p:nvPr/>
        </p:nvSpPr>
        <p:spPr>
          <a:xfrm>
            <a:off x="8211312" y="201168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Subscribe</a:t>
            </a:r>
          </a:p>
        </p:txBody>
      </p:sp>
      <p:sp>
        <p:nvSpPr>
          <p:cNvPr id="6" name="TextBox 5"/>
          <p:cNvSpPr txBox="1"/>
          <p:nvPr/>
        </p:nvSpPr>
        <p:spPr>
          <a:xfrm>
            <a:off x="8211312" y="244144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onBalanceChange(fn)</a:t>
            </a:r>
          </a:p>
        </p:txBody>
      </p:sp>
      <p:sp>
        <p:nvSpPr>
          <p:cNvPr id="7" name="TextBox 6"/>
          <p:cNvSpPr txBox="1"/>
          <p:nvPr/>
        </p:nvSpPr>
        <p:spPr>
          <a:xfrm>
            <a:off x="8211312" y="320040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Ring the bell</a:t>
            </a:r>
          </a:p>
        </p:txBody>
      </p:sp>
      <p:sp>
        <p:nvSpPr>
          <p:cNvPr id="8" name="TextBox 7"/>
          <p:cNvSpPr txBox="1"/>
          <p:nvPr/>
        </p:nvSpPr>
        <p:spPr>
          <a:xfrm>
            <a:off x="8211312" y="363016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balanceChanged(account)</a:t>
            </a:r>
          </a:p>
        </p:txBody>
      </p:sp>
      <p:sp>
        <p:nvSpPr>
          <p:cNvPr id="9" name="TextBox 8"/>
          <p:cNvSpPr txBox="1"/>
          <p:nvPr/>
        </p:nvSpPr>
        <p:spPr>
          <a:xfrm>
            <a:off x="8211312" y="438912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Notify listeners</a:t>
            </a:r>
          </a:p>
        </p:txBody>
      </p:sp>
      <p:sp>
        <p:nvSpPr>
          <p:cNvPr id="10" name="TextBox 9"/>
          <p:cNvSpPr txBox="1"/>
          <p:nvPr/>
        </p:nvSpPr>
        <p:spPr>
          <a:xfrm>
            <a:off x="8211312" y="481888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Each receives the account</a:t>
            </a:r>
          </a:p>
        </p:txBody>
      </p:sp>
      <p:sp>
        <p:nvSpPr>
          <p:cNvPr id="11" name="TextBox 10"/>
          <p:cNvSpPr txBox="1"/>
          <p:nvPr/>
        </p:nvSpPr>
        <p:spPr>
          <a:xfrm>
            <a:off x="594360" y="6199632"/>
            <a:ext cx="10972800" cy="457200"/>
          </a:xfrm>
          <a:prstGeom prst="rect">
            <a:avLst/>
          </a:prstGeom>
          <a:noFill/>
        </p:spPr>
        <p:txBody>
          <a:bodyPr wrap="square" lIns="0" tIns="0" rIns="0" bIns="0">
            <a:spAutoFit/>
          </a:bodyPr>
          <a:lstStyle/>
          <a:p>
            <a:pPr>
              <a:lnSpc>
                <a:spcPct val="105000"/>
              </a:lnSpc>
              <a:spcBef>
                <a:spcPts val="0"/>
              </a:spcBef>
              <a:spcAft>
                <a:spcPts val="0"/>
              </a:spcAft>
            </a:pPr>
            <a:r>
              <a:rPr sz="2200" b="1">
                <a:solidFill>
                  <a:srgbClr val="007D87"/>
                </a:solidFill>
              </a:rPr>
              <a:t>One bell. Everybody subscribed jumps.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Observer</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After the balance changes, every listener is told.</a:t>
            </a:r>
            <a:endParaRPr lang="en-US"/>
          </a:p>
        </p:txBody>
      </p:sp>
      <p:graphicFrame>
        <p:nvGraphicFramePr>
          <p:cNvPr id="4" name="Table 3"/>
          <p:cNvGraphicFramePr>
            <a:graphicFrameLocks noGrp="1"/>
          </p:cNvGraphicFramePr>
          <p:nvPr/>
        </p:nvGraphicFramePr>
        <p:xfrm>
          <a:off x="594360" y="2194560"/>
          <a:ext cx="11000232" cy="4343400"/>
        </p:xfrm>
        <a:graphic>
          <a:graphicData uri="http://schemas.openxmlformats.org/drawingml/2006/table">
            <a:tbl>
              <a:tblPr firstRow="1" bandRow="1">
                <a:tableStyleId>{5C22544A-7EE6-4342-B048-85BDC9FD1C3A}</a:tableStyleId>
              </a:tblPr>
              <a:tblGrid>
                <a:gridCol w="11000232">
                  <a:extLst>
                    <a:ext uri="{9D8B030D-6E8A-4147-A177-3AD203B41FA5}">
                      <a16:colId xmlns:a16="http://schemas.microsoft.com/office/drawing/2014/main" val="20002"/>
                    </a:ext>
                  </a:extLst>
                </a:gridCol>
              </a:tblGrid>
              <a:tr h="457200">
                <a:tc>
                  <a:txBody>
                    <a:bodyPr/>
                    <a:lstStyle/>
                    <a:p>
                      <a:pPr algn="l">
                        <a:spcAft>
                          <a:spcPts val="400"/>
                        </a:spcAft>
                      </a:pPr>
                      <a:r>
                        <a:rPr sz="1700" b="1">
                          <a:solidFill>
                            <a:srgbClr val="FFFFFF"/>
                          </a:solidFill>
                        </a:rPr>
                        <a:t>balanceChanged</a:t>
                      </a:r>
                    </a:p>
                  </a:txBody>
                  <a:tcPr marL="164592" marR="164592" marT="109728" marB="73152">
                    <a:lnL>
                      <a:noFill/>
                    </a:lnL>
                    <a:lnR>
                      <a:noFill/>
                    </a:lnR>
                    <a:lnT>
                      <a:noFill/>
                    </a:lnT>
                    <a:lnB>
                      <a:noFill/>
                    </a:lnB>
                    <a:solidFill>
                      <a:srgbClr val="172C42"/>
                    </a:solidFill>
                  </a:tcPr>
                </a:tc>
                <a:extLst>
                  <a:ext uri="{0D108BD9-81ED-4DB2-BD59-A6C34878D82A}">
                    <a16:rowId xmlns:a16="http://schemas.microsoft.com/office/drawing/2014/main" val="10000"/>
                  </a:ext>
                </a:extLst>
              </a:tr>
              <a:tr h="3886200">
                <a:tc>
                  <a:txBody>
                    <a:bodyPr/>
                    <a:lstStyle/>
                    <a:p>
                      <a:pPr algn="l">
                        <a:lnSpc>
                          <a:spcPct val="100000"/>
                        </a:lnSpc>
                        <a:spcBef>
                          <a:spcPts val="0"/>
                        </a:spcBef>
                        <a:spcAft>
                          <a:spcPts val="0"/>
                        </a:spcAft>
                      </a:pPr>
                      <a:r>
                        <a:rPr sz="1700" b="0">
                          <a:solidFill>
                            <a:srgbClr val="172C42"/>
                          </a:solidFill>
                          <a:latin typeface="Consolas"/>
                        </a:rPr>
                        <a:t>const listeners = [];</a:t>
                      </a:r>
                    </a:p>
                    <a:p>
                      <a:pPr algn="l">
                        <a:lnSpc>
                          <a:spcPct val="100000"/>
                        </a:lnSpc>
                        <a:spcBef>
                          <a:spcPts val="0"/>
                        </a:spcBef>
                        <a:spcAft>
                          <a:spcPts val="0"/>
                        </a:spcAft>
                      </a:pPr>
                      <a:r>
                        <a:rPr sz="1700" b="0">
                          <a:solidFill>
                            <a:srgbClr val="172C42"/>
                          </a:solidFill>
                          <a:latin typeface="Consolas"/>
                        </a:rPr>
                        <a:t>function onBalanceChange(listener) { listeners.push(listener); }</a:t>
                      </a:r>
                    </a:p>
                    <a:p>
                      <a:pPr algn="l">
                        <a:lnSpc>
                          <a:spcPct val="100000"/>
                        </a:lnSpc>
                        <a:spcBef>
                          <a:spcPts val="0"/>
                        </a:spcBef>
                        <a:spcAft>
                          <a:spcPts val="0"/>
                        </a:spcAft>
                      </a:pPr>
                      <a:r>
                        <a:rPr sz="1700" b="0">
                          <a:solidFill>
                            <a:srgbClr val="172C42"/>
                          </a:solidFill>
                          <a:latin typeface="Consolas"/>
                        </a:rPr>
                        <a:t>function balanceChanged(account) {</a:t>
                      </a:r>
                    </a:p>
                    <a:p>
                      <a:pPr algn="l">
                        <a:lnSpc>
                          <a:spcPct val="100000"/>
                        </a:lnSpc>
                        <a:spcBef>
                          <a:spcPts val="0"/>
                        </a:spcBef>
                        <a:spcAft>
                          <a:spcPts val="0"/>
                        </a:spcAft>
                      </a:pPr>
                      <a:r>
                        <a:rPr sz="1700" b="0">
                          <a:solidFill>
                            <a:srgbClr val="172C42"/>
                          </a:solidFill>
                          <a:latin typeface="Consolas"/>
                        </a:rPr>
                        <a:t>  listeners.forEach((listener) =&gt; listener(account));</a:t>
                      </a:r>
                    </a:p>
                    <a:p>
                      <a:pPr algn="l">
                        <a:lnSpc>
                          <a:spcPct val="100000"/>
                        </a:lnSpc>
                        <a:spcBef>
                          <a:spcPts val="0"/>
                        </a:spcBef>
                        <a:spcAft>
                          <a:spcPts val="0"/>
                        </a:spcAft>
                      </a:pPr>
                      <a:r>
                        <a:rPr sz="1700" b="0">
                          <a:solidFill>
                            <a:srgbClr val="172C42"/>
                          </a:solidFill>
                          <a:latin typeface="Consolas"/>
                        </a:rPr>
                        <a:t>}</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Adapter</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Convert the bank's response into the interface the app expects.</a:t>
            </a:r>
            <a:endParaRPr lang="en-US"/>
          </a:p>
        </p:txBody>
      </p:sp>
      <p:pic>
        <p:nvPicPr>
          <p:cNvPr id="4" name="Picture 3" descr="image-708ef251d1383838017400b3d51b101e.jpg"/>
          <p:cNvPicPr>
            <a:picLocks noChangeAspect="1"/>
          </p:cNvPicPr>
          <p:nvPr/>
        </p:nvPicPr>
        <p:blipFill>
          <a:blip r:embed="rId3"/>
          <a:stretch>
            <a:fillRect/>
          </a:stretch>
        </p:blipFill>
        <p:spPr>
          <a:xfrm>
            <a:off x="502920" y="1868026"/>
            <a:ext cx="7360920" cy="3963194"/>
          </a:xfrm>
          <a:prstGeom prst="rect">
            <a:avLst/>
          </a:prstGeom>
        </p:spPr>
      </p:pic>
      <p:sp>
        <p:nvSpPr>
          <p:cNvPr id="5" name="TextBox 4"/>
          <p:cNvSpPr txBox="1"/>
          <p:nvPr/>
        </p:nvSpPr>
        <p:spPr>
          <a:xfrm>
            <a:off x="8211312" y="201168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Bank output</a:t>
            </a:r>
          </a:p>
        </p:txBody>
      </p:sp>
      <p:sp>
        <p:nvSpPr>
          <p:cNvPr id="6" name="TextBox 5"/>
          <p:cNvSpPr txBox="1"/>
          <p:nvPr/>
        </p:nvSpPr>
        <p:spPr>
          <a:xfrm>
            <a:off x="8211312" y="244144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 ok: true }</a:t>
            </a:r>
          </a:p>
        </p:txBody>
      </p:sp>
      <p:sp>
        <p:nvSpPr>
          <p:cNvPr id="7" name="TextBox 6"/>
          <p:cNvSpPr txBox="1"/>
          <p:nvPr/>
        </p:nvSpPr>
        <p:spPr>
          <a:xfrm>
            <a:off x="8211312" y="320040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Adapter</a:t>
            </a:r>
          </a:p>
        </p:txBody>
      </p:sp>
      <p:sp>
        <p:nvSpPr>
          <p:cNvPr id="8" name="TextBox 7"/>
          <p:cNvSpPr txBox="1"/>
          <p:nvPr/>
        </p:nvSpPr>
        <p:spPr>
          <a:xfrm>
            <a:off x="8211312" y="363016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toPaymentResult(...)</a:t>
            </a:r>
          </a:p>
        </p:txBody>
      </p:sp>
      <p:sp>
        <p:nvSpPr>
          <p:cNvPr id="9" name="TextBox 8"/>
          <p:cNvSpPr txBox="1"/>
          <p:nvPr/>
        </p:nvSpPr>
        <p:spPr>
          <a:xfrm>
            <a:off x="8211312" y="438912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App input</a:t>
            </a:r>
          </a:p>
        </p:txBody>
      </p:sp>
      <p:sp>
        <p:nvSpPr>
          <p:cNvPr id="10" name="TextBox 9"/>
          <p:cNvSpPr txBox="1"/>
          <p:nvPr/>
        </p:nvSpPr>
        <p:spPr>
          <a:xfrm>
            <a:off x="8211312" y="481888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 approved: true }</a:t>
            </a:r>
          </a:p>
        </p:txBody>
      </p:sp>
      <p:sp>
        <p:nvSpPr>
          <p:cNvPr id="11" name="TextBox 10"/>
          <p:cNvSpPr txBox="1"/>
          <p:nvPr/>
        </p:nvSpPr>
        <p:spPr>
          <a:xfrm>
            <a:off x="594360" y="6199632"/>
            <a:ext cx="10972800" cy="457200"/>
          </a:xfrm>
          <a:prstGeom prst="rect">
            <a:avLst/>
          </a:prstGeom>
          <a:noFill/>
        </p:spPr>
        <p:txBody>
          <a:bodyPr wrap="square" lIns="0" tIns="0" rIns="0" bIns="0">
            <a:spAutoFit/>
          </a:bodyPr>
          <a:lstStyle/>
          <a:p>
            <a:pPr>
              <a:lnSpc>
                <a:spcPct val="105000"/>
              </a:lnSpc>
              <a:spcBef>
                <a:spcPts val="0"/>
              </a:spcBef>
              <a:spcAft>
                <a:spcPts val="0"/>
              </a:spcAft>
            </a:pPr>
            <a:r>
              <a:rPr sz="2200" b="1">
                <a:solidFill>
                  <a:srgbClr val="007D87"/>
                </a:solidFill>
              </a:rPr>
              <a:t>No new bank. Just a better translator.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Adapter</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The bank says ok. The rest of the app expects approved.</a:t>
            </a:r>
            <a:endParaRPr lang="en-US"/>
          </a:p>
        </p:txBody>
      </p:sp>
      <p:graphicFrame>
        <p:nvGraphicFramePr>
          <p:cNvPr id="4" name="Table 3"/>
          <p:cNvGraphicFramePr>
            <a:graphicFrameLocks noGrp="1"/>
          </p:cNvGraphicFramePr>
          <p:nvPr/>
        </p:nvGraphicFramePr>
        <p:xfrm>
          <a:off x="594360" y="2194560"/>
          <a:ext cx="11000232" cy="4343400"/>
        </p:xfrm>
        <a:graphic>
          <a:graphicData uri="http://schemas.openxmlformats.org/drawingml/2006/table">
            <a:tbl>
              <a:tblPr firstRow="1" bandRow="1">
                <a:tableStyleId>{5C22544A-7EE6-4342-B048-85BDC9FD1C3A}</a:tableStyleId>
              </a:tblPr>
              <a:tblGrid>
                <a:gridCol w="11000232">
                  <a:extLst>
                    <a:ext uri="{9D8B030D-6E8A-4147-A177-3AD203B41FA5}">
                      <a16:colId xmlns:a16="http://schemas.microsoft.com/office/drawing/2014/main" val="20002"/>
                    </a:ext>
                  </a:extLst>
                </a:gridCol>
              </a:tblGrid>
              <a:tr h="457200">
                <a:tc>
                  <a:txBody>
                    <a:bodyPr/>
                    <a:lstStyle/>
                    <a:p>
                      <a:pPr algn="l">
                        <a:spcAft>
                          <a:spcPts val="400"/>
                        </a:spcAft>
                      </a:pPr>
                      <a:r>
                        <a:rPr sz="1700" b="1">
                          <a:solidFill>
                            <a:srgbClr val="FFFFFF"/>
                          </a:solidFill>
                        </a:rPr>
                        <a:t>toPaymentResult</a:t>
                      </a:r>
                    </a:p>
                  </a:txBody>
                  <a:tcPr marL="164592" marR="164592" marT="109728" marB="73152">
                    <a:lnL>
                      <a:noFill/>
                    </a:lnL>
                    <a:lnR>
                      <a:noFill/>
                    </a:lnR>
                    <a:lnT>
                      <a:noFill/>
                    </a:lnT>
                    <a:lnB>
                      <a:noFill/>
                    </a:lnB>
                    <a:solidFill>
                      <a:srgbClr val="172C42"/>
                    </a:solidFill>
                  </a:tcPr>
                </a:tc>
                <a:extLst>
                  <a:ext uri="{0D108BD9-81ED-4DB2-BD59-A6C34878D82A}">
                    <a16:rowId xmlns:a16="http://schemas.microsoft.com/office/drawing/2014/main" val="10000"/>
                  </a:ext>
                </a:extLst>
              </a:tr>
              <a:tr h="3886200">
                <a:tc>
                  <a:txBody>
                    <a:bodyPr/>
                    <a:lstStyle/>
                    <a:p>
                      <a:pPr algn="l">
                        <a:lnSpc>
                          <a:spcPct val="100000"/>
                        </a:lnSpc>
                        <a:spcBef>
                          <a:spcPts val="0"/>
                        </a:spcBef>
                        <a:spcAft>
                          <a:spcPts val="0"/>
                        </a:spcAft>
                      </a:pPr>
                      <a:r>
                        <a:rPr sz="1700" b="0">
                          <a:solidFill>
                            <a:srgbClr val="172C42"/>
                          </a:solidFill>
                          <a:latin typeface="Consolas"/>
                        </a:rPr>
                        <a:t>function toPaymentResult(bankReply) {</a:t>
                      </a:r>
                    </a:p>
                    <a:p>
                      <a:pPr algn="l">
                        <a:lnSpc>
                          <a:spcPct val="100000"/>
                        </a:lnSpc>
                        <a:spcBef>
                          <a:spcPts val="0"/>
                        </a:spcBef>
                        <a:spcAft>
                          <a:spcPts val="0"/>
                        </a:spcAft>
                      </a:pPr>
                      <a:r>
                        <a:rPr sz="1700" b="0">
                          <a:solidFill>
                            <a:srgbClr val="172C42"/>
                          </a:solidFill>
                          <a:latin typeface="Consolas"/>
                        </a:rPr>
                        <a:t>  return { approved: bankReply.ok === true };</a:t>
                      </a:r>
                    </a:p>
                    <a:p>
                      <a:pPr algn="l">
                        <a:lnSpc>
                          <a:spcPct val="100000"/>
                        </a:lnSpc>
                        <a:spcBef>
                          <a:spcPts val="0"/>
                        </a:spcBef>
                        <a:spcAft>
                          <a:spcPts val="0"/>
                        </a:spcAft>
                      </a:pPr>
                      <a:r>
                        <a:rPr sz="1700" b="0">
                          <a:solidFill>
                            <a:srgbClr val="172C42"/>
                          </a:solidFill>
                          <a:latin typeface="Consolas"/>
                        </a:rPr>
                        <a:t>}</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Builder</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Configure one object step by step, then return the finished object.</a:t>
            </a:r>
            <a:endParaRPr lang="en-US"/>
          </a:p>
        </p:txBody>
      </p:sp>
      <p:pic>
        <p:nvPicPr>
          <p:cNvPr id="4" name="Picture 3" descr="image-7b5725d7c6b1132466a693332d191d41.jpg"/>
          <p:cNvPicPr>
            <a:picLocks noChangeAspect="1"/>
          </p:cNvPicPr>
          <p:nvPr/>
        </p:nvPicPr>
        <p:blipFill>
          <a:blip r:embed="rId3"/>
          <a:stretch>
            <a:fillRect/>
          </a:stretch>
        </p:blipFill>
        <p:spPr>
          <a:xfrm>
            <a:off x="1152144" y="1828800"/>
            <a:ext cx="6062472" cy="4041648"/>
          </a:xfrm>
          <a:prstGeom prst="rect">
            <a:avLst/>
          </a:prstGeom>
        </p:spPr>
      </p:pic>
      <p:sp>
        <p:nvSpPr>
          <p:cNvPr id="5" name="TextBox 4"/>
          <p:cNvSpPr txBox="1"/>
          <p:nvPr/>
        </p:nvSpPr>
        <p:spPr>
          <a:xfrm>
            <a:off x="8211312" y="201168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Start one object</a:t>
            </a:r>
          </a:p>
        </p:txBody>
      </p:sp>
      <p:sp>
        <p:nvSpPr>
          <p:cNvPr id="6" name="TextBox 5"/>
          <p:cNvSpPr txBox="1"/>
          <p:nvPr/>
        </p:nvSpPr>
        <p:spPr>
          <a:xfrm>
            <a:off x="8211312" y="244144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new LoanBuilder()</a:t>
            </a:r>
          </a:p>
        </p:txBody>
      </p:sp>
      <p:sp>
        <p:nvSpPr>
          <p:cNvPr id="7" name="TextBox 6"/>
          <p:cNvSpPr txBox="1"/>
          <p:nvPr/>
        </p:nvSpPr>
        <p:spPr>
          <a:xfrm>
            <a:off x="8211312" y="320040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Add the pieces</a:t>
            </a:r>
          </a:p>
        </p:txBody>
      </p:sp>
      <p:sp>
        <p:nvSpPr>
          <p:cNvPr id="8" name="TextBox 7"/>
          <p:cNvSpPr txBox="1"/>
          <p:nvPr/>
        </p:nvSpPr>
        <p:spPr>
          <a:xfrm>
            <a:off x="8211312" y="363016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business(), amount(), document()</a:t>
            </a:r>
          </a:p>
        </p:txBody>
      </p:sp>
      <p:sp>
        <p:nvSpPr>
          <p:cNvPr id="9" name="TextBox 8"/>
          <p:cNvSpPr txBox="1"/>
          <p:nvPr/>
        </p:nvSpPr>
        <p:spPr>
          <a:xfrm>
            <a:off x="8211312" y="4389120"/>
            <a:ext cx="3429000" cy="384048"/>
          </a:xfrm>
          <a:prstGeom prst="rect">
            <a:avLst/>
          </a:prstGeom>
          <a:noFill/>
        </p:spPr>
        <p:txBody>
          <a:bodyPr wrap="square" lIns="0" tIns="0" rIns="0" bIns="0">
            <a:spAutoFit/>
          </a:bodyPr>
          <a:lstStyle/>
          <a:p>
            <a:pPr>
              <a:lnSpc>
                <a:spcPct val="105000"/>
              </a:lnSpc>
              <a:spcBef>
                <a:spcPts val="0"/>
              </a:spcBef>
              <a:spcAft>
                <a:spcPts val="0"/>
              </a:spcAft>
            </a:pPr>
            <a:r>
              <a:rPr sz="2100" b="1">
                <a:solidFill>
                  <a:srgbClr val="172C42"/>
                </a:solidFill>
              </a:rPr>
              <a:t>Return the result</a:t>
            </a:r>
          </a:p>
        </p:txBody>
      </p:sp>
      <p:sp>
        <p:nvSpPr>
          <p:cNvPr id="10" name="TextBox 9"/>
          <p:cNvSpPr txBox="1"/>
          <p:nvPr/>
        </p:nvSpPr>
        <p:spPr>
          <a:xfrm>
            <a:off x="8211312" y="4818888"/>
            <a:ext cx="3429000" cy="694944"/>
          </a:xfrm>
          <a:prstGeom prst="rect">
            <a:avLst/>
          </a:prstGeom>
          <a:noFill/>
        </p:spPr>
        <p:txBody>
          <a:bodyPr wrap="square" lIns="0" tIns="0" rIns="0" bIns="0">
            <a:spAutoFit/>
          </a:bodyPr>
          <a:lstStyle/>
          <a:p>
            <a:pPr>
              <a:lnSpc>
                <a:spcPct val="105000"/>
              </a:lnSpc>
              <a:spcBef>
                <a:spcPts val="0"/>
              </a:spcBef>
              <a:spcAft>
                <a:spcPts val="0"/>
              </a:spcAft>
            </a:pPr>
            <a:r>
              <a:rPr sz="2000" b="0">
                <a:solidFill>
                  <a:srgbClr val="3C4A58"/>
                </a:solidFill>
              </a:rPr>
              <a:t>build()</a:t>
            </a:r>
          </a:p>
        </p:txBody>
      </p:sp>
      <p:sp>
        <p:nvSpPr>
          <p:cNvPr id="11" name="TextBox 10"/>
          <p:cNvSpPr txBox="1"/>
          <p:nvPr/>
        </p:nvSpPr>
        <p:spPr>
          <a:xfrm>
            <a:off x="594360" y="6199632"/>
            <a:ext cx="10972800" cy="457200"/>
          </a:xfrm>
          <a:prstGeom prst="rect">
            <a:avLst/>
          </a:prstGeom>
          <a:noFill/>
        </p:spPr>
        <p:txBody>
          <a:bodyPr wrap="square" lIns="0" tIns="0" rIns="0" bIns="0">
            <a:spAutoFit/>
          </a:bodyPr>
          <a:lstStyle/>
          <a:p>
            <a:pPr>
              <a:lnSpc>
                <a:spcPct val="105000"/>
              </a:lnSpc>
              <a:spcBef>
                <a:spcPts val="0"/>
              </a:spcBef>
              <a:spcAft>
                <a:spcPts val="0"/>
              </a:spcAft>
            </a:pPr>
            <a:r>
              <a:rPr sz="2200" b="1">
                <a:solidFill>
                  <a:srgbClr val="007D87"/>
                </a:solidFill>
              </a:rPr>
              <a:t>Please finish my sandwich before you hand it over.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Builder</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The loan application is filled one piece at a time, then saved.</a:t>
            </a:r>
            <a:endParaRPr lang="en-US"/>
          </a:p>
        </p:txBody>
      </p:sp>
      <p:graphicFrame>
        <p:nvGraphicFramePr>
          <p:cNvPr id="4" name="Table 3"/>
          <p:cNvGraphicFramePr>
            <a:graphicFrameLocks noGrp="1"/>
          </p:cNvGraphicFramePr>
          <p:nvPr/>
        </p:nvGraphicFramePr>
        <p:xfrm>
          <a:off x="594360" y="2194560"/>
          <a:ext cx="11000232" cy="4343400"/>
        </p:xfrm>
        <a:graphic>
          <a:graphicData uri="http://schemas.openxmlformats.org/drawingml/2006/table">
            <a:tbl>
              <a:tblPr firstRow="1" bandRow="1">
                <a:tableStyleId>{5C22544A-7EE6-4342-B048-85BDC9FD1C3A}</a:tableStyleId>
              </a:tblPr>
              <a:tblGrid>
                <a:gridCol w="11000232">
                  <a:extLst>
                    <a:ext uri="{9D8B030D-6E8A-4147-A177-3AD203B41FA5}">
                      <a16:colId xmlns:a16="http://schemas.microsoft.com/office/drawing/2014/main" val="20002"/>
                    </a:ext>
                  </a:extLst>
                </a:gridCol>
              </a:tblGrid>
              <a:tr h="457200">
                <a:tc>
                  <a:txBody>
                    <a:bodyPr/>
                    <a:lstStyle/>
                    <a:p>
                      <a:pPr algn="l">
                        <a:spcAft>
                          <a:spcPts val="400"/>
                        </a:spcAft>
                      </a:pPr>
                      <a:r>
                        <a:rPr sz="1700" b="1">
                          <a:solidFill>
                            <a:srgbClr val="FFFFFF"/>
                          </a:solidFill>
                        </a:rPr>
                        <a:t>LoanBuilder</a:t>
                      </a:r>
                    </a:p>
                  </a:txBody>
                  <a:tcPr marL="164592" marR="164592" marT="109728" marB="73152">
                    <a:lnL>
                      <a:noFill/>
                    </a:lnL>
                    <a:lnR>
                      <a:noFill/>
                    </a:lnR>
                    <a:lnT>
                      <a:noFill/>
                    </a:lnT>
                    <a:lnB>
                      <a:noFill/>
                    </a:lnB>
                    <a:solidFill>
                      <a:srgbClr val="172C42"/>
                    </a:solidFill>
                  </a:tcPr>
                </a:tc>
                <a:extLst>
                  <a:ext uri="{0D108BD9-81ED-4DB2-BD59-A6C34878D82A}">
                    <a16:rowId xmlns:a16="http://schemas.microsoft.com/office/drawing/2014/main" val="10000"/>
                  </a:ext>
                </a:extLst>
              </a:tr>
              <a:tr h="3886200">
                <a:tc>
                  <a:txBody>
                    <a:bodyPr/>
                    <a:lstStyle/>
                    <a:p>
                      <a:pPr algn="l">
                        <a:lnSpc>
                          <a:spcPct val="100000"/>
                        </a:lnSpc>
                        <a:spcBef>
                          <a:spcPts val="0"/>
                        </a:spcBef>
                        <a:spcAft>
                          <a:spcPts val="0"/>
                        </a:spcAft>
                      </a:pPr>
                      <a:r>
                        <a:rPr sz="1700" b="0">
                          <a:solidFill>
                            <a:srgbClr val="172C42"/>
                          </a:solidFill>
                          <a:latin typeface="Consolas"/>
                        </a:rPr>
                        <a:t>class LoanBuilder {</a:t>
                      </a:r>
                    </a:p>
                    <a:p>
                      <a:pPr algn="l">
                        <a:lnSpc>
                          <a:spcPct val="100000"/>
                        </a:lnSpc>
                        <a:spcBef>
                          <a:spcPts val="0"/>
                        </a:spcBef>
                        <a:spcAft>
                          <a:spcPts val="0"/>
                        </a:spcAft>
                      </a:pPr>
                      <a:r>
                        <a:rPr sz="1700" b="0">
                          <a:solidFill>
                            <a:srgbClr val="172C42"/>
                          </a:solidFill>
                          <a:latin typeface="Consolas"/>
                        </a:rPr>
                        <a:t>  constructor() { this.loan = { documents: [] }; }</a:t>
                      </a:r>
                    </a:p>
                    <a:p>
                      <a:pPr algn="l">
                        <a:lnSpc>
                          <a:spcPct val="100000"/>
                        </a:lnSpc>
                        <a:spcBef>
                          <a:spcPts val="0"/>
                        </a:spcBef>
                        <a:spcAft>
                          <a:spcPts val="0"/>
                        </a:spcAft>
                      </a:pPr>
                      <a:r>
                        <a:rPr sz="1700" b="0">
                          <a:solidFill>
                            <a:srgbClr val="172C42"/>
                          </a:solidFill>
                          <a:latin typeface="Consolas"/>
                        </a:rPr>
                        <a:t>  business(name) { this.loan.businessName = name; return this; }</a:t>
                      </a:r>
                    </a:p>
                    <a:p>
                      <a:pPr algn="l">
                        <a:lnSpc>
                          <a:spcPct val="100000"/>
                        </a:lnSpc>
                        <a:spcBef>
                          <a:spcPts val="0"/>
                        </a:spcBef>
                        <a:spcAft>
                          <a:spcPts val="0"/>
                        </a:spcAft>
                      </a:pPr>
                      <a:r>
                        <a:rPr sz="1700" b="0">
                          <a:solidFill>
                            <a:srgbClr val="172C42"/>
                          </a:solidFill>
                          <a:latin typeface="Consolas"/>
                        </a:rPr>
                        <a:t>  amount(cents) { this.loan.amountCents = cents; return this; }</a:t>
                      </a:r>
                    </a:p>
                    <a:p>
                      <a:pPr algn="l">
                        <a:lnSpc>
                          <a:spcPct val="100000"/>
                        </a:lnSpc>
                        <a:spcBef>
                          <a:spcPts val="0"/>
                        </a:spcBef>
                        <a:spcAft>
                          <a:spcPts val="0"/>
                        </a:spcAft>
                      </a:pPr>
                      <a:r>
                        <a:rPr sz="1700" b="0">
                          <a:solidFill>
                            <a:srgbClr val="172C42"/>
                          </a:solidFill>
                          <a:latin typeface="Consolas"/>
                        </a:rPr>
                        <a:t>  document(name) { this.loan.documents.push(name); return this; }</a:t>
                      </a:r>
                    </a:p>
                    <a:p>
                      <a:pPr algn="l">
                        <a:lnSpc>
                          <a:spcPct val="100000"/>
                        </a:lnSpc>
                        <a:spcBef>
                          <a:spcPts val="0"/>
                        </a:spcBef>
                        <a:spcAft>
                          <a:spcPts val="0"/>
                        </a:spcAft>
                      </a:pPr>
                      <a:r>
                        <a:rPr sz="1700" b="0">
                          <a:solidFill>
                            <a:srgbClr val="172C42"/>
                          </a:solidFill>
                          <a:latin typeface="Consolas"/>
                        </a:rPr>
                        <a:t>  build() { return this.loan; }</a:t>
                      </a:r>
                    </a:p>
                    <a:p>
                      <a:pPr algn="l">
                        <a:lnSpc>
                          <a:spcPct val="100000"/>
                        </a:lnSpc>
                        <a:spcBef>
                          <a:spcPts val="0"/>
                        </a:spcBef>
                        <a:spcAft>
                          <a:spcPts val="0"/>
                        </a:spcAft>
                      </a:pPr>
                      <a:r>
                        <a:rPr sz="1700" b="0">
                          <a:solidFill>
                            <a:srgbClr val="172C42"/>
                          </a:solidFill>
                          <a:latin typeface="Consolas"/>
                        </a:rPr>
                        <a:t>}</a:t>
                      </a:r>
                    </a:p>
                    <a:p>
                      <a:pPr algn="l">
                        <a:lnSpc>
                          <a:spcPct val="100000"/>
                        </a:lnSpc>
                        <a:spcBef>
                          <a:spcPts val="0"/>
                        </a:spcBef>
                        <a:spcAft>
                          <a:spcPts val="0"/>
                        </a:spcAft>
                      </a:pPr>
                      <a:r>
                        <a:rPr sz="1700" b="0">
                          <a:solidFill>
                            <a:srgbClr val="172C42"/>
                          </a:solidFill>
                          <a:latin typeface="Consolas"/>
                        </a:rPr>
                        <a:t>const loan = new LoanBuilder()</a:t>
                      </a:r>
                    </a:p>
                    <a:p>
                      <a:pPr algn="l">
                        <a:lnSpc>
                          <a:spcPct val="100000"/>
                        </a:lnSpc>
                        <a:spcBef>
                          <a:spcPts val="0"/>
                        </a:spcBef>
                        <a:spcAft>
                          <a:spcPts val="0"/>
                        </a:spcAft>
                      </a:pPr>
                      <a:r>
                        <a:rPr sz="1700" b="0">
                          <a:solidFill>
                            <a:srgbClr val="172C42"/>
                          </a:solidFill>
                          <a:latin typeface="Consolas"/>
                        </a:rPr>
                        <a:t>  .business('Synthetic Shop')</a:t>
                      </a:r>
                    </a:p>
                    <a:p>
                      <a:pPr algn="l">
                        <a:lnSpc>
                          <a:spcPct val="100000"/>
                        </a:lnSpc>
                        <a:spcBef>
                          <a:spcPts val="0"/>
                        </a:spcBef>
                        <a:spcAft>
                          <a:spcPts val="0"/>
                        </a:spcAft>
                      </a:pPr>
                      <a:r>
                        <a:rPr sz="1700" b="0">
                          <a:solidFill>
                            <a:srgbClr val="172C42"/>
                          </a:solidFill>
                          <a:latin typeface="Consolas"/>
                        </a:rPr>
                        <a:t>  .amount(5000000)</a:t>
                      </a:r>
                    </a:p>
                    <a:p>
                      <a:pPr algn="l">
                        <a:lnSpc>
                          <a:spcPct val="100000"/>
                        </a:lnSpc>
                        <a:spcBef>
                          <a:spcPts val="0"/>
                        </a:spcBef>
                        <a:spcAft>
                          <a:spcPts val="0"/>
                        </a:spcAft>
                      </a:pPr>
                      <a:r>
                        <a:rPr sz="1700" b="0">
                          <a:solidFill>
                            <a:srgbClr val="172C42"/>
                          </a:solidFill>
                          <a:latin typeface="Consolas"/>
                        </a:rPr>
                        <a:t>  .document('Shop license')</a:t>
                      </a:r>
                    </a:p>
                    <a:p>
                      <a:pPr algn="l">
                        <a:lnSpc>
                          <a:spcPct val="100000"/>
                        </a:lnSpc>
                        <a:spcBef>
                          <a:spcPts val="0"/>
                        </a:spcBef>
                        <a:spcAft>
                          <a:spcPts val="0"/>
                        </a:spcAft>
                      </a:pPr>
                      <a:r>
                        <a:rPr sz="1700" b="0">
                          <a:solidFill>
                            <a:srgbClr val="172C42"/>
                          </a:solidFill>
                          <a:latin typeface="Consolas"/>
                        </a:rPr>
                        <a:t>  .build();</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Design patterns in the app</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A design pattern is a known shape for a common problem. You reuse the shape so the code stays easier to follow. These are the ones this app already follows.</a:t>
            </a:r>
            <a:endParaRPr lang="en-US"/>
          </a:p>
        </p:txBody>
      </p:sp>
      <p:graphicFrame>
        <p:nvGraphicFramePr>
          <p:cNvPr id="4" name="Table 3"/>
          <p:cNvGraphicFramePr>
            <a:graphicFrameLocks noGrp="1"/>
          </p:cNvGraphicFramePr>
          <p:nvPr/>
        </p:nvGraphicFramePr>
        <p:xfrm>
          <a:off x="594360" y="2194560"/>
          <a:ext cx="11000232" cy="4069080"/>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gridCol w="5696712">
                  <a:extLst>
                    <a:ext uri="{9D8B030D-6E8A-4147-A177-3AD203B41FA5}">
                      <a16:colId xmlns:a16="http://schemas.microsoft.com/office/drawing/2014/main" val="20002"/>
                    </a:ext>
                  </a:extLst>
                </a:gridCol>
              </a:tblGrid>
              <a:tr h="502920">
                <a:tc>
                  <a:txBody>
                    <a:bodyPr/>
                    <a:lstStyle/>
                    <a:p>
                      <a:pPr algn="l">
                        <a:spcAft>
                          <a:spcPts val="400"/>
                        </a:spcAft>
                      </a:pPr>
                      <a:r>
                        <a:rPr sz="1700" b="1">
                          <a:solidFill>
                            <a:srgbClr val="FFFFFF"/>
                          </a:solidFill>
                        </a:rPr>
                        <a:t>Pattern</a:t>
                      </a:r>
                    </a:p>
                  </a:txBody>
                  <a:tcPr marL="164592" marR="164592" marT="109728" marB="73152">
                    <a:lnL>
                      <a:noFill/>
                    </a:lnL>
                    <a:lnR>
                      <a:noFill/>
                    </a:lnR>
                    <a:lnT>
                      <a:noFill/>
                    </a:lnT>
                    <a:lnB>
                      <a:noFill/>
                    </a:lnB>
                    <a:solidFill>
                      <a:srgbClr val="172C42"/>
                    </a:solidFill>
                  </a:tcPr>
                </a:tc>
                <a:tc>
                  <a:txBody>
                    <a:bodyPr/>
                    <a:lstStyle/>
                    <a:p>
                      <a:pPr algn="l">
                        <a:spcAft>
                          <a:spcPts val="400"/>
                        </a:spcAft>
                      </a:pPr>
                      <a:r>
                        <a:rPr sz="1700" b="1">
                          <a:solidFill>
                            <a:srgbClr val="FFFFFF"/>
                          </a:solidFill>
                        </a:rPr>
                        <a:t>Plain meaning</a:t>
                      </a:r>
                    </a:p>
                  </a:txBody>
                  <a:tcPr marL="164592" marR="164592" marT="109728" marB="73152">
                    <a:lnL>
                      <a:noFill/>
                    </a:lnL>
                    <a:lnR>
                      <a:noFill/>
                    </a:lnR>
                    <a:lnT>
                      <a:noFill/>
                    </a:lnT>
                    <a:lnB>
                      <a:noFill/>
                    </a:lnB>
                    <a:solidFill>
                      <a:srgbClr val="172C42"/>
                    </a:solidFill>
                  </a:tcPr>
                </a:tc>
                <a:tc>
                  <a:txBody>
                    <a:bodyPr/>
                    <a:lstStyle/>
                    <a:p>
                      <a:pPr algn="l">
                        <a:spcAft>
                          <a:spcPts val="400"/>
                        </a:spcAft>
                      </a:pPr>
                      <a:r>
                        <a:rPr sz="1700" b="1">
                          <a:solidFill>
                            <a:srgbClr val="FFFFFF"/>
                          </a:solidFill>
                        </a:rPr>
                        <a:t>Where it shows up</a:t>
                      </a:r>
                    </a:p>
                  </a:txBody>
                  <a:tcPr marL="164592" marR="164592" marT="109728" marB="73152">
                    <a:lnL>
                      <a:noFill/>
                    </a:lnL>
                    <a:lnR>
                      <a:noFill/>
                    </a:lnR>
                    <a:lnT>
                      <a:noFill/>
                    </a:lnT>
                    <a:lnB>
                      <a:noFill/>
                    </a:lnB>
                    <a:solidFill>
                      <a:srgbClr val="172C42"/>
                    </a:solidFill>
                  </a:tcPr>
                </a:tc>
                <a:extLst>
                  <a:ext uri="{0D108BD9-81ED-4DB2-BD59-A6C34878D82A}">
                    <a16:rowId xmlns:a16="http://schemas.microsoft.com/office/drawing/2014/main" val="10000"/>
                  </a:ext>
                </a:extLst>
              </a:tr>
              <a:tr h="1417320">
                <a:tc>
                  <a:txBody>
                    <a:bodyPr/>
                    <a:lstStyle/>
                    <a:p>
                      <a:pPr algn="l">
                        <a:spcAft>
                          <a:spcPts val="400"/>
                        </a:spcAft>
                      </a:pPr>
                      <a:r>
                        <a:rPr sz="1800" b="1">
                          <a:solidFill>
                            <a:srgbClr val="172C42"/>
                          </a:solidFill>
                        </a:rPr>
                        <a:t>Model, view, controller</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Split the screen, the rules, and the stored facts</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React is the screen. server/index.js receives the click. server/banking.js holds the rules. MongoDB stores the accounts.</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1"/>
                  </a:ext>
                </a:extLst>
              </a:tr>
              <a:tr h="960120">
                <a:tc>
                  <a:txBody>
                    <a:bodyPr/>
                    <a:lstStyle/>
                    <a:p>
                      <a:pPr algn="l">
                        <a:spcAft>
                          <a:spcPts val="400"/>
                        </a:spcAft>
                      </a:pPr>
                      <a:r>
                        <a:rPr sz="1800" b="1">
                          <a:solidFill>
                            <a:srgbClr val="172C42"/>
                          </a:solidFill>
                        </a:rPr>
                        <a:t>Single connection</a:t>
                      </a:r>
                    </a:p>
                  </a:txBody>
                  <a:tcPr marL="164592" marR="164592" marT="109728" marB="73152">
                    <a:lnL>
                      <a:noFill/>
                    </a:lnL>
                    <a:lnR>
                      <a:noFill/>
                    </a:lnR>
                    <a:lnT>
                      <a:noFill/>
                    </a:lnT>
                    <a:lnB>
                      <a:noFill/>
                    </a:lnB>
                    <a:solidFill>
                      <a:srgbClr val="FFFFFF"/>
                    </a:solidFill>
                  </a:tcPr>
                </a:tc>
                <a:tc>
                  <a:txBody>
                    <a:bodyPr/>
                    <a:lstStyle/>
                    <a:p>
                      <a:pPr algn="l">
                        <a:spcAft>
                          <a:spcPts val="400"/>
                        </a:spcAft>
                      </a:pPr>
                      <a:r>
                        <a:rPr sz="1800" b="0">
                          <a:solidFill>
                            <a:srgbClr val="172C42"/>
                          </a:solidFill>
                        </a:rPr>
                        <a:t>Open the filing cabinet once and reuse it</a:t>
                      </a:r>
                    </a:p>
                  </a:txBody>
                  <a:tcPr marL="164592" marR="164592" marT="109728" marB="73152">
                    <a:lnL>
                      <a:noFill/>
                    </a:lnL>
                    <a:lnR>
                      <a:noFill/>
                    </a:lnR>
                    <a:lnT>
                      <a:noFill/>
                    </a:lnT>
                    <a:lnB>
                      <a:noFill/>
                    </a:lnB>
                    <a:solidFill>
                      <a:srgbClr val="FFFFFF"/>
                    </a:solidFill>
                  </a:tcPr>
                </a:tc>
                <a:tc>
                  <a:txBody>
                    <a:bodyPr/>
                    <a:lstStyle/>
                    <a:p>
                      <a:pPr algn="l">
                        <a:spcAft>
                          <a:spcPts val="400"/>
                        </a:spcAft>
                      </a:pPr>
                      <a:r>
                        <a:rPr sz="1800" b="0">
                          <a:solidFill>
                            <a:srgbClr val="172C42"/>
                          </a:solidFill>
                        </a:rPr>
                        <a:t>server/db.js keeps one MongoDB connection.</a:t>
                      </a:r>
                    </a:p>
                  </a:txBody>
                  <a:tcPr marL="164592" marR="164592" marT="109728" marB="73152">
                    <a:lnL>
                      <a:noFill/>
                    </a:lnL>
                    <a:lnR>
                      <a:noFill/>
                    </a:lnR>
                    <a:lnT>
                      <a:noFill/>
                    </a:lnT>
                    <a:lnB>
                      <a:noFill/>
                    </a:lnB>
                    <a:solidFill>
                      <a:srgbClr val="FFFFFF"/>
                    </a:solidFill>
                  </a:tcPr>
                </a:tc>
                <a:extLst>
                  <a:ext uri="{0D108BD9-81ED-4DB2-BD59-A6C34878D82A}">
                    <a16:rowId xmlns:a16="http://schemas.microsoft.com/office/drawing/2014/main" val="10002"/>
                  </a:ext>
                </a:extLst>
              </a:tr>
              <a:tr h="1188720">
                <a:tc>
                  <a:txBody>
                    <a:bodyPr/>
                    <a:lstStyle/>
                    <a:p>
                      <a:pPr algn="l">
                        <a:spcAft>
                          <a:spcPts val="400"/>
                        </a:spcAft>
                      </a:pPr>
                      <a:r>
                        <a:rPr sz="1800" b="1">
                          <a:solidFill>
                            <a:srgbClr val="172C42"/>
                          </a:solidFill>
                        </a:rPr>
                        <a:t>Facade</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One counter in front of many small steps</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A route calls transfer. That one function checks the balance, holds a large amount, and writes the history.</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712183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B75D9C-C6C7-7495-C8A5-C9FDEA5CD08D}"/>
              </a:ext>
            </a:extLst>
          </p:cNvPr>
          <p:cNvSpPr>
            <a:spLocks noGrp="1"/>
          </p:cNvSpPr>
          <p:nvPr>
            <p:ph type="title"/>
          </p:nvPr>
        </p:nvSpPr>
        <p:spPr>
          <a:xfrm>
            <a:off x="594360" y="292608"/>
            <a:ext cx="10972800" cy="758952"/>
          </a:xfrm>
        </p:spPr>
        <p:txBody>
          <a:bodyPr vert="horz" wrap="square" lIns="91440" tIns="45720" rIns="91440" bIns="45720" rtlCol="0" anchor="ctr">
            <a:normAutofit/>
          </a:bodyPr>
          <a:lstStyle/>
          <a:p>
            <a:r>
              <a:rPr lang="en-US" sz="4000" b="1">
                <a:solidFill>
                  <a:srgbClr val="FFFFFF"/>
                </a:solidFill>
              </a:rPr>
              <a:t>Who should talk to MongoDB?</a:t>
            </a:r>
          </a:p>
        </p:txBody>
      </p:sp>
      <p:sp>
        <p:nvSpPr>
          <p:cNvPr id="18" name="TextBox 17"/>
          <p:cNvSpPr txBox="1"/>
          <p:nvPr/>
        </p:nvSpPr>
        <p:spPr>
          <a:xfrm>
            <a:off x="594360" y="1188720"/>
            <a:ext cx="5440680" cy="329184"/>
          </a:xfrm>
          <a:prstGeom prst="rect">
            <a:avLst/>
          </a:prstGeom>
          <a:noFill/>
        </p:spPr>
        <p:txBody>
          <a:bodyPr wrap="square" lIns="0" tIns="0" rIns="0" bIns="0">
            <a:spAutoFit/>
          </a:bodyPr>
          <a:lstStyle/>
          <a:p>
            <a:pPr>
              <a:lnSpc>
                <a:spcPct val="100000"/>
              </a:lnSpc>
              <a:spcBef>
                <a:spcPts val="0"/>
              </a:spcBef>
              <a:spcAft>
                <a:spcPts val="0"/>
              </a:spcAft>
            </a:pPr>
            <a:r>
              <a:rPr sz="2000" b="1">
                <a:solidFill>
                  <a:srgbClr val="FFFFFF"/>
                </a:solidFill>
              </a:rPr>
              <a:t>1  Deposit</a:t>
            </a:r>
          </a:p>
        </p:txBody>
      </p:sp>
      <p:sp>
        <p:nvSpPr>
          <p:cNvPr id="19" name="TextBox 18"/>
          <p:cNvSpPr txBox="1"/>
          <p:nvPr/>
        </p:nvSpPr>
        <p:spPr>
          <a:xfrm>
            <a:off x="6355080" y="1188720"/>
            <a:ext cx="5349240" cy="329184"/>
          </a:xfrm>
          <a:prstGeom prst="rect">
            <a:avLst/>
          </a:prstGeom>
          <a:noFill/>
        </p:spPr>
        <p:txBody>
          <a:bodyPr wrap="square" lIns="0" tIns="0" rIns="0" bIns="0">
            <a:spAutoFit/>
          </a:bodyPr>
          <a:lstStyle/>
          <a:p>
            <a:pPr>
              <a:lnSpc>
                <a:spcPct val="100000"/>
              </a:lnSpc>
              <a:spcBef>
                <a:spcPts val="0"/>
              </a:spcBef>
              <a:spcAft>
                <a:spcPts val="0"/>
              </a:spcAft>
            </a:pPr>
            <a:r>
              <a:rPr sz="2000" b="1">
                <a:solidFill>
                  <a:srgbClr val="FFFFFF"/>
                </a:solidFill>
              </a:rPr>
              <a:t>2  Balance and open accounts</a:t>
            </a:r>
          </a:p>
        </p:txBody>
      </p:sp>
      <p:sp>
        <p:nvSpPr>
          <p:cNvPr id="20" name="TextBox 19"/>
          <p:cNvSpPr txBox="1"/>
          <p:nvPr/>
        </p:nvSpPr>
        <p:spPr>
          <a:xfrm>
            <a:off x="594360" y="1719072"/>
            <a:ext cx="5440680" cy="4370832"/>
          </a:xfrm>
          <a:prstGeom prst="rect">
            <a:avLst/>
          </a:prstGeom>
          <a:noFill/>
        </p:spPr>
        <p:txBody>
          <a:bodyPr wrap="square" lIns="0" tIns="0" rIns="0" bIns="0">
            <a:spAutoFit/>
          </a:bodyPr>
          <a:lstStyle/>
          <a:p>
            <a:pPr>
              <a:lnSpc>
                <a:spcPts val="1800"/>
              </a:lnSpc>
              <a:spcBef>
                <a:spcPts val="0"/>
              </a:spcBef>
              <a:spcAft>
                <a:spcPts val="0"/>
              </a:spcAft>
            </a:pPr>
            <a:r>
              <a:rPr sz="1750" b="0">
                <a:solidFill>
                  <a:srgbClr val="172C42"/>
                </a:solidFill>
                <a:latin typeface="Consolas"/>
              </a:rPr>
              <a:t>async function deposit(</a:t>
            </a:r>
          </a:p>
          <a:p>
            <a:pPr>
              <a:lnSpc>
                <a:spcPts val="1800"/>
              </a:lnSpc>
              <a:spcBef>
                <a:spcPts val="0"/>
              </a:spcBef>
              <a:spcAft>
                <a:spcPts val="0"/>
              </a:spcAft>
            </a:pPr>
            <a:r>
              <a:rPr sz="1750" b="0">
                <a:solidFill>
                  <a:srgbClr val="172C42"/>
                </a:solidFill>
                <a:latin typeface="Consolas"/>
              </a:rPr>
              <a:t>  db, accountNumber, amountCents</a:t>
            </a:r>
          </a:p>
          <a:p>
            <a:pPr>
              <a:lnSpc>
                <a:spcPts val="1800"/>
              </a:lnSpc>
              <a:spcBef>
                <a:spcPts val="0"/>
              </a:spcBef>
              <a:spcAft>
                <a:spcPts val="0"/>
              </a:spcAft>
            </a:pPr>
            <a:r>
              <a:rPr sz="1750" b="0">
                <a:solidFill>
                  <a:srgbClr val="172C42"/>
                </a:solidFill>
                <a:latin typeface="Consolas"/>
              </a:rPr>
              <a:t>) {</a:t>
            </a:r>
          </a:p>
          <a:p>
            <a:pPr>
              <a:lnSpc>
                <a:spcPts val="1800"/>
              </a:lnSpc>
              <a:spcBef>
                <a:spcPts val="0"/>
              </a:spcBef>
              <a:spcAft>
                <a:spcPts val="0"/>
              </a:spcAft>
            </a:pPr>
            <a:r>
              <a:rPr sz="1750" b="0">
                <a:solidFill>
                  <a:srgbClr val="172C42"/>
                </a:solidFill>
                <a:latin typeface="Consolas"/>
              </a:rPr>
              <a:t>  const account = await db</a:t>
            </a:r>
          </a:p>
          <a:p>
            <a:pPr>
              <a:lnSpc>
                <a:spcPts val="1800"/>
              </a:lnSpc>
              <a:spcBef>
                <a:spcPts val="0"/>
              </a:spcBef>
              <a:spcAft>
                <a:spcPts val="0"/>
              </a:spcAft>
            </a:pPr>
            <a:r>
              <a:rPr sz="1750" b="0">
                <a:solidFill>
                  <a:srgbClr val="172C42"/>
                </a:solidFill>
                <a:latin typeface="Consolas"/>
              </a:rPr>
              <a:t>    .collection('accounts')</a:t>
            </a:r>
          </a:p>
          <a:p>
            <a:pPr>
              <a:lnSpc>
                <a:spcPts val="1800"/>
              </a:lnSpc>
              <a:spcBef>
                <a:spcPts val="0"/>
              </a:spcBef>
              <a:spcAft>
                <a:spcPts val="0"/>
              </a:spcAft>
            </a:pPr>
            <a:r>
              <a:rPr sz="1750" b="0">
                <a:solidFill>
                  <a:srgbClr val="172C42"/>
                </a:solidFill>
                <a:latin typeface="Consolas"/>
              </a:rPr>
              <a:t>    .findOne({ accountNumber });</a:t>
            </a:r>
          </a:p>
          <a:p>
            <a:pPr>
              <a:lnSpc>
                <a:spcPts val="1800"/>
              </a:lnSpc>
              <a:spcBef>
                <a:spcPts val="0"/>
              </a:spcBef>
              <a:spcAft>
                <a:spcPts val="0"/>
              </a:spcAft>
            </a:pPr>
            <a:r>
              <a:rPr sz="1750" b="0">
                <a:solidFill>
                  <a:srgbClr val="172C42"/>
                </a:solidFill>
                <a:latin typeface="Consolas"/>
              </a:rPr>
              <a:t>  account.balanceCents += amountCents;</a:t>
            </a:r>
          </a:p>
          <a:p>
            <a:pPr>
              <a:lnSpc>
                <a:spcPts val="1800"/>
              </a:lnSpc>
              <a:spcBef>
                <a:spcPts val="0"/>
              </a:spcBef>
              <a:spcAft>
                <a:spcPts val="0"/>
              </a:spcAft>
            </a:pPr>
            <a:r>
              <a:rPr sz="1750" b="0">
                <a:solidFill>
                  <a:srgbClr val="172C42"/>
                </a:solidFill>
                <a:latin typeface="Consolas"/>
              </a:rPr>
              <a:t>  await db.collection('accounts')</a:t>
            </a:r>
          </a:p>
          <a:p>
            <a:pPr>
              <a:lnSpc>
                <a:spcPts val="1800"/>
              </a:lnSpc>
              <a:spcBef>
                <a:spcPts val="0"/>
              </a:spcBef>
              <a:spcAft>
                <a:spcPts val="0"/>
              </a:spcAft>
            </a:pPr>
            <a:r>
              <a:rPr sz="1750" b="0">
                <a:solidFill>
                  <a:srgbClr val="172C42"/>
                </a:solidFill>
                <a:latin typeface="Consolas"/>
              </a:rPr>
              <a:t>    .updateOne(</a:t>
            </a:r>
          </a:p>
          <a:p>
            <a:pPr>
              <a:lnSpc>
                <a:spcPts val="1800"/>
              </a:lnSpc>
              <a:spcBef>
                <a:spcPts val="0"/>
              </a:spcBef>
              <a:spcAft>
                <a:spcPts val="0"/>
              </a:spcAft>
            </a:pPr>
            <a:r>
              <a:rPr sz="1750" b="0">
                <a:solidFill>
                  <a:srgbClr val="172C42"/>
                </a:solidFill>
                <a:latin typeface="Consolas"/>
              </a:rPr>
              <a:t>    { accountNumber },</a:t>
            </a:r>
          </a:p>
          <a:p>
            <a:pPr>
              <a:lnSpc>
                <a:spcPts val="1800"/>
              </a:lnSpc>
              <a:spcBef>
                <a:spcPts val="0"/>
              </a:spcBef>
              <a:spcAft>
                <a:spcPts val="0"/>
              </a:spcAft>
            </a:pPr>
            <a:r>
              <a:rPr sz="1750" b="0">
                <a:solidFill>
                  <a:srgbClr val="172C42"/>
                </a:solidFill>
                <a:latin typeface="Consolas"/>
              </a:rPr>
              <a:t>    { $set: {</a:t>
            </a:r>
          </a:p>
          <a:p>
            <a:pPr>
              <a:lnSpc>
                <a:spcPts val="1800"/>
              </a:lnSpc>
              <a:spcBef>
                <a:spcPts val="0"/>
              </a:spcBef>
              <a:spcAft>
                <a:spcPts val="0"/>
              </a:spcAft>
            </a:pPr>
            <a:r>
              <a:rPr sz="1750" b="0">
                <a:solidFill>
                  <a:srgbClr val="172C42"/>
                </a:solidFill>
                <a:latin typeface="Consolas"/>
              </a:rPr>
              <a:t>        balanceCents: account.balanceCents</a:t>
            </a:r>
          </a:p>
          <a:p>
            <a:pPr>
              <a:lnSpc>
                <a:spcPts val="1800"/>
              </a:lnSpc>
              <a:spcBef>
                <a:spcPts val="0"/>
              </a:spcBef>
              <a:spcAft>
                <a:spcPts val="0"/>
              </a:spcAft>
            </a:pPr>
            <a:r>
              <a:rPr sz="1750" b="0">
                <a:solidFill>
                  <a:srgbClr val="172C42"/>
                </a:solidFill>
                <a:latin typeface="Consolas"/>
              </a:rPr>
              <a:t>    } }</a:t>
            </a:r>
          </a:p>
          <a:p>
            <a:pPr>
              <a:lnSpc>
                <a:spcPts val="1800"/>
              </a:lnSpc>
              <a:spcBef>
                <a:spcPts val="0"/>
              </a:spcBef>
              <a:spcAft>
                <a:spcPts val="0"/>
              </a:spcAft>
            </a:pPr>
            <a:r>
              <a:rPr sz="1750" b="0">
                <a:solidFill>
                  <a:srgbClr val="172C42"/>
                </a:solidFill>
                <a:latin typeface="Consolas"/>
              </a:rPr>
              <a:t>  );</a:t>
            </a:r>
          </a:p>
          <a:p>
            <a:pPr>
              <a:lnSpc>
                <a:spcPts val="1800"/>
              </a:lnSpc>
              <a:spcBef>
                <a:spcPts val="0"/>
              </a:spcBef>
              <a:spcAft>
                <a:spcPts val="0"/>
              </a:spcAft>
            </a:pPr>
            <a:r>
              <a:rPr sz="1750" b="0">
                <a:solidFill>
                  <a:srgbClr val="172C42"/>
                </a:solidFill>
                <a:latin typeface="Consolas"/>
              </a:rPr>
              <a:t>  return account;</a:t>
            </a:r>
          </a:p>
          <a:p>
            <a:pPr>
              <a:lnSpc>
                <a:spcPts val="1800"/>
              </a:lnSpc>
              <a:spcBef>
                <a:spcPts val="0"/>
              </a:spcBef>
              <a:spcAft>
                <a:spcPts val="0"/>
              </a:spcAft>
            </a:pPr>
            <a:r>
              <a:rPr sz="1750" b="0">
                <a:solidFill>
                  <a:srgbClr val="172C42"/>
                </a:solidFill>
                <a:latin typeface="Consolas"/>
              </a:rPr>
              <a:t>}</a:t>
            </a:r>
          </a:p>
        </p:txBody>
      </p:sp>
      <p:sp>
        <p:nvSpPr>
          <p:cNvPr id="21" name="TextBox 20"/>
          <p:cNvSpPr txBox="1"/>
          <p:nvPr/>
        </p:nvSpPr>
        <p:spPr>
          <a:xfrm>
            <a:off x="6355080" y="1719072"/>
            <a:ext cx="5349240" cy="2926080"/>
          </a:xfrm>
          <a:prstGeom prst="rect">
            <a:avLst/>
          </a:prstGeom>
          <a:noFill/>
        </p:spPr>
        <p:txBody>
          <a:bodyPr wrap="square" lIns="0" tIns="0" rIns="0" bIns="0">
            <a:spAutoFit/>
          </a:bodyPr>
          <a:lstStyle/>
          <a:p>
            <a:pPr>
              <a:lnSpc>
                <a:spcPts val="1800"/>
              </a:lnSpc>
              <a:spcBef>
                <a:spcPts val="0"/>
              </a:spcBef>
              <a:spcAft>
                <a:spcPts val="0"/>
              </a:spcAft>
            </a:pPr>
            <a:r>
              <a:rPr sz="1750" b="0">
                <a:solidFill>
                  <a:srgbClr val="172C42"/>
                </a:solidFill>
                <a:latin typeface="Consolas"/>
              </a:rPr>
              <a:t>async function getBalance(</a:t>
            </a:r>
          </a:p>
          <a:p>
            <a:pPr>
              <a:lnSpc>
                <a:spcPts val="1800"/>
              </a:lnSpc>
              <a:spcBef>
                <a:spcPts val="0"/>
              </a:spcBef>
              <a:spcAft>
                <a:spcPts val="0"/>
              </a:spcAft>
            </a:pPr>
            <a:r>
              <a:rPr sz="1750" b="0">
                <a:solidFill>
                  <a:srgbClr val="172C42"/>
                </a:solidFill>
                <a:latin typeface="Consolas"/>
              </a:rPr>
              <a:t>  db, accountNumber</a:t>
            </a:r>
          </a:p>
          <a:p>
            <a:pPr>
              <a:lnSpc>
                <a:spcPts val="1800"/>
              </a:lnSpc>
              <a:spcBef>
                <a:spcPts val="0"/>
              </a:spcBef>
              <a:spcAft>
                <a:spcPts val="0"/>
              </a:spcAft>
            </a:pPr>
            <a:r>
              <a:rPr sz="1750" b="0">
                <a:solidFill>
                  <a:srgbClr val="172C42"/>
                </a:solidFill>
                <a:latin typeface="Consolas"/>
              </a:rPr>
              <a:t>) {</a:t>
            </a:r>
          </a:p>
          <a:p>
            <a:pPr>
              <a:lnSpc>
                <a:spcPts val="1800"/>
              </a:lnSpc>
              <a:spcBef>
                <a:spcPts val="0"/>
              </a:spcBef>
              <a:spcAft>
                <a:spcPts val="0"/>
              </a:spcAft>
            </a:pPr>
            <a:r>
              <a:rPr sz="1750" b="0">
                <a:solidFill>
                  <a:srgbClr val="172C42"/>
                </a:solidFill>
                <a:latin typeface="Consolas"/>
              </a:rPr>
              <a:t>  const row = await db</a:t>
            </a:r>
          </a:p>
          <a:p>
            <a:pPr>
              <a:lnSpc>
                <a:spcPts val="1800"/>
              </a:lnSpc>
              <a:spcBef>
                <a:spcPts val="0"/>
              </a:spcBef>
              <a:spcAft>
                <a:spcPts val="0"/>
              </a:spcAft>
            </a:pPr>
            <a:r>
              <a:rPr sz="1750" b="0">
                <a:solidFill>
                  <a:srgbClr val="172C42"/>
                </a:solidFill>
                <a:latin typeface="Consolas"/>
              </a:rPr>
              <a:t>    .collection('accounts')</a:t>
            </a:r>
          </a:p>
          <a:p>
            <a:pPr>
              <a:lnSpc>
                <a:spcPts val="1800"/>
              </a:lnSpc>
              <a:spcBef>
                <a:spcPts val="0"/>
              </a:spcBef>
              <a:spcAft>
                <a:spcPts val="0"/>
              </a:spcAft>
            </a:pPr>
            <a:r>
              <a:rPr sz="1750" b="0">
                <a:solidFill>
                  <a:srgbClr val="172C42"/>
                </a:solidFill>
                <a:latin typeface="Consolas"/>
              </a:rPr>
              <a:t>    .findOne({ accountNumber });</a:t>
            </a:r>
          </a:p>
          <a:p>
            <a:pPr>
              <a:lnSpc>
                <a:spcPts val="1800"/>
              </a:lnSpc>
              <a:spcBef>
                <a:spcPts val="0"/>
              </a:spcBef>
              <a:spcAft>
                <a:spcPts val="0"/>
              </a:spcAft>
            </a:pPr>
            <a:r>
              <a:rPr sz="1750" b="0">
                <a:solidFill>
                  <a:srgbClr val="172C42"/>
                </a:solidFill>
                <a:latin typeface="Consolas"/>
              </a:rPr>
              <a:t>  return row.balanceCents;</a:t>
            </a:r>
          </a:p>
          <a:p>
            <a:pPr>
              <a:lnSpc>
                <a:spcPts val="1800"/>
              </a:lnSpc>
              <a:spcBef>
                <a:spcPts val="0"/>
              </a:spcBef>
              <a:spcAft>
                <a:spcPts val="0"/>
              </a:spcAft>
            </a:pPr>
            <a:r>
              <a:rPr sz="1750" b="0">
                <a:solidFill>
                  <a:srgbClr val="172C42"/>
                </a:solidFill>
                <a:latin typeface="Consolas"/>
              </a:rPr>
              <a:t>}</a:t>
            </a:r>
          </a:p>
          <a:p>
            <a:pPr>
              <a:lnSpc>
                <a:spcPts val="1800"/>
              </a:lnSpc>
              <a:spcBef>
                <a:spcPts val="0"/>
              </a:spcBef>
              <a:spcAft>
                <a:spcPts val="0"/>
              </a:spcAft>
            </a:pPr>
            <a:endParaRPr sz="1750" b="0">
              <a:solidFill>
                <a:srgbClr val="172C42"/>
              </a:solidFill>
              <a:latin typeface="Consolas"/>
            </a:endParaRPr>
          </a:p>
          <a:p>
            <a:pPr>
              <a:lnSpc>
                <a:spcPts val="1800"/>
              </a:lnSpc>
              <a:spcBef>
                <a:spcPts val="0"/>
              </a:spcBef>
              <a:spcAft>
                <a:spcPts val="0"/>
              </a:spcAft>
            </a:pPr>
            <a:r>
              <a:rPr sz="1750" b="0">
                <a:solidFill>
                  <a:srgbClr val="172C42"/>
                </a:solidFill>
                <a:latin typeface="Consolas"/>
              </a:rPr>
              <a:t>async function listOpenAccounts(db) {</a:t>
            </a:r>
          </a:p>
          <a:p>
            <a:pPr>
              <a:lnSpc>
                <a:spcPts val="1800"/>
              </a:lnSpc>
              <a:spcBef>
                <a:spcPts val="0"/>
              </a:spcBef>
              <a:spcAft>
                <a:spcPts val="0"/>
              </a:spcAft>
            </a:pPr>
            <a:r>
              <a:rPr sz="1750" b="0">
                <a:solidFill>
                  <a:srgbClr val="172C42"/>
                </a:solidFill>
                <a:latin typeface="Consolas"/>
              </a:rPr>
              <a:t>  return db.collection('accounts')</a:t>
            </a:r>
          </a:p>
          <a:p>
            <a:pPr>
              <a:lnSpc>
                <a:spcPts val="1800"/>
              </a:lnSpc>
              <a:spcBef>
                <a:spcPts val="0"/>
              </a:spcBef>
              <a:spcAft>
                <a:spcPts val="0"/>
              </a:spcAft>
            </a:pPr>
            <a:r>
              <a:rPr sz="1750" b="0">
                <a:solidFill>
                  <a:srgbClr val="172C42"/>
                </a:solidFill>
                <a:latin typeface="Consolas"/>
              </a:rPr>
              <a:t>    .find({ status: 'open' }).toArray();</a:t>
            </a:r>
          </a:p>
          <a:p>
            <a:pPr>
              <a:lnSpc>
                <a:spcPts val="1800"/>
              </a:lnSpc>
              <a:spcBef>
                <a:spcPts val="0"/>
              </a:spcBef>
              <a:spcAft>
                <a:spcPts val="0"/>
              </a:spcAft>
            </a:pPr>
            <a:r>
              <a:rPr sz="1750" b="0">
                <a:solidFill>
                  <a:srgbClr val="172C42"/>
                </a:solidFill>
                <a:latin typeface="Consolas"/>
              </a:rPr>
              <a:t>}</a:t>
            </a:r>
          </a:p>
        </p:txBody>
      </p:sp>
      <p:sp>
        <p:nvSpPr>
          <p:cNvPr id="23" name="TextBox 22"/>
          <p:cNvSpPr txBox="1"/>
          <p:nvPr/>
        </p:nvSpPr>
        <p:spPr>
          <a:xfrm>
            <a:off x="594360" y="6254496"/>
            <a:ext cx="5440680" cy="438912"/>
          </a:xfrm>
          <a:prstGeom prst="rect">
            <a:avLst/>
          </a:prstGeom>
          <a:noFill/>
        </p:spPr>
        <p:txBody>
          <a:bodyPr wrap="square" lIns="0" tIns="0" rIns="0" bIns="0">
            <a:spAutoFit/>
          </a:bodyPr>
          <a:lstStyle/>
          <a:p>
            <a:pPr>
              <a:lnSpc>
                <a:spcPct val="100000"/>
              </a:lnSpc>
              <a:spcBef>
                <a:spcPts val="0"/>
              </a:spcBef>
              <a:spcAft>
                <a:spcPts val="0"/>
              </a:spcAft>
            </a:pPr>
            <a:r>
              <a:rPr sz="1900" b="0">
                <a:solidFill>
                  <a:srgbClr val="172C42"/>
                </a:solidFill>
              </a:rPr>
              <a:t>Which helper could own all database calls?</a:t>
            </a:r>
          </a:p>
        </p:txBody>
      </p:sp>
      <p:pic>
        <p:nvPicPr>
          <p:cNvPr id="24" name="Picture 23" descr="image-d43ca6491eda91b091f82c82d700d96c.jpg"/>
          <p:cNvPicPr>
            <a:picLocks noChangeAspect="1"/>
          </p:cNvPicPr>
          <p:nvPr/>
        </p:nvPicPr>
        <p:blipFill>
          <a:blip r:embed="rId3"/>
          <a:stretch>
            <a:fillRect/>
          </a:stretch>
        </p:blipFill>
        <p:spPr>
          <a:xfrm>
            <a:off x="8039341" y="4846320"/>
            <a:ext cx="1980717" cy="1097280"/>
          </a:xfrm>
          <a:prstGeom prst="rect">
            <a:avLst/>
          </a:prstGeom>
        </p:spPr>
      </p:pic>
      <p:sp>
        <p:nvSpPr>
          <p:cNvPr id="25" name="TextBox 24"/>
          <p:cNvSpPr txBox="1"/>
          <p:nvPr/>
        </p:nvSpPr>
        <p:spPr>
          <a:xfrm>
            <a:off x="6355080" y="6062472"/>
            <a:ext cx="5349240" cy="320040"/>
          </a:xfrm>
          <a:prstGeom prst="rect">
            <a:avLst/>
          </a:prstGeom>
          <a:noFill/>
        </p:spPr>
        <p:txBody>
          <a:bodyPr wrap="square" lIns="0" tIns="0" rIns="0" bIns="0">
            <a:spAutoFit/>
          </a:bodyPr>
          <a:lstStyle/>
          <a:p>
            <a:pPr>
              <a:lnSpc>
                <a:spcPct val="100000"/>
              </a:lnSpc>
              <a:spcBef>
                <a:spcPts val="0"/>
              </a:spcBef>
              <a:spcAft>
                <a:spcPts val="0"/>
              </a:spcAft>
            </a:pPr>
            <a:r>
              <a:rPr sz="1700" b="1">
                <a:solidFill>
                  <a:srgbClr val="007D87"/>
                </a:solidFill>
              </a:rPr>
              <a:t>Callers  →  AccountRepository  →  MongoDB</a:t>
            </a:r>
          </a:p>
        </p:txBody>
      </p:sp>
      <p:sp>
        <p:nvSpPr>
          <p:cNvPr id="26" name="TextBox 25"/>
          <p:cNvSpPr txBox="1"/>
          <p:nvPr/>
        </p:nvSpPr>
        <p:spPr>
          <a:xfrm>
            <a:off x="6355080" y="6437376"/>
            <a:ext cx="5349240" cy="274320"/>
          </a:xfrm>
          <a:prstGeom prst="rect">
            <a:avLst/>
          </a:prstGeom>
          <a:noFill/>
        </p:spPr>
        <p:txBody>
          <a:bodyPr wrap="square" lIns="0" tIns="0" rIns="0" bIns="0">
            <a:spAutoFit/>
          </a:bodyPr>
          <a:lstStyle/>
          <a:p>
            <a:pPr>
              <a:lnSpc>
                <a:spcPct val="100000"/>
              </a:lnSpc>
              <a:spcBef>
                <a:spcPts val="0"/>
              </a:spcBef>
              <a:spcAft>
                <a:spcPts val="0"/>
              </a:spcAft>
            </a:pPr>
            <a:r>
              <a:rPr sz="1600" b="0">
                <a:solidFill>
                  <a:srgbClr val="172C42"/>
                </a:solidFill>
              </a:rPr>
              <a:t>“Please let the librarian handle the shelves!”</a:t>
            </a:r>
          </a:p>
        </p:txBody>
      </p:sp>
    </p:spTree>
    <p:extLst>
      <p:ext uri="{BB962C8B-B14F-4D97-AF65-F5344CB8AC3E}">
        <p14:creationId xmlns:p14="http://schemas.microsoft.com/office/powerpoint/2010/main" val="30968798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B75D9C-C6C7-7495-C8A5-C9FDEA5CD08D}"/>
              </a:ext>
            </a:extLst>
          </p:cNvPr>
          <p:cNvSpPr>
            <a:spLocks noGrp="1"/>
          </p:cNvSpPr>
          <p:nvPr>
            <p:ph type="title"/>
          </p:nvPr>
        </p:nvSpPr>
        <p:spPr>
          <a:xfrm>
            <a:off x="594360" y="292608"/>
            <a:ext cx="10972800" cy="758952"/>
          </a:xfrm>
        </p:spPr>
        <p:txBody>
          <a:bodyPr vert="horz" wrap="square" lIns="91440" tIns="45720" rIns="91440" bIns="45720" rtlCol="0" anchor="ctr">
            <a:normAutofit/>
          </a:bodyPr>
          <a:lstStyle/>
          <a:p>
            <a:r>
              <a:rPr lang="en-US" sz="4000" b="1">
                <a:solidFill>
                  <a:srgbClr val="FFFFFF"/>
                </a:solidFill>
              </a:rPr>
              <a:t>Good Design: Repository</a:t>
            </a:r>
          </a:p>
        </p:txBody>
      </p:sp>
      <p:sp>
        <p:nvSpPr>
          <p:cNvPr id="18" name="TextBox 17"/>
          <p:cNvSpPr txBox="1"/>
          <p:nvPr/>
        </p:nvSpPr>
        <p:spPr>
          <a:xfrm>
            <a:off x="594360" y="1188720"/>
            <a:ext cx="5440680" cy="329184"/>
          </a:xfrm>
          <a:prstGeom prst="rect">
            <a:avLst/>
          </a:prstGeom>
          <a:noFill/>
        </p:spPr>
        <p:txBody>
          <a:bodyPr wrap="square" lIns="0" tIns="0" rIns="0" bIns="0">
            <a:spAutoFit/>
          </a:bodyPr>
          <a:lstStyle/>
          <a:p>
            <a:pPr>
              <a:lnSpc>
                <a:spcPct val="100000"/>
              </a:lnSpc>
              <a:spcBef>
                <a:spcPts val="0"/>
              </a:spcBef>
              <a:spcAft>
                <a:spcPts val="0"/>
              </a:spcAft>
            </a:pPr>
            <a:r>
              <a:rPr sz="2000" b="1">
                <a:solidFill>
                  <a:srgbClr val="FFFFFF"/>
                </a:solidFill>
              </a:rPr>
              <a:t>1  Repository owns database access</a:t>
            </a:r>
          </a:p>
        </p:txBody>
      </p:sp>
      <p:sp>
        <p:nvSpPr>
          <p:cNvPr id="19" name="TextBox 18"/>
          <p:cNvSpPr txBox="1"/>
          <p:nvPr/>
        </p:nvSpPr>
        <p:spPr>
          <a:xfrm>
            <a:off x="6355080" y="1188720"/>
            <a:ext cx="5349240" cy="329184"/>
          </a:xfrm>
          <a:prstGeom prst="rect">
            <a:avLst/>
          </a:prstGeom>
          <a:noFill/>
        </p:spPr>
        <p:txBody>
          <a:bodyPr wrap="square" lIns="0" tIns="0" rIns="0" bIns="0">
            <a:spAutoFit/>
          </a:bodyPr>
          <a:lstStyle/>
          <a:p>
            <a:pPr>
              <a:lnSpc>
                <a:spcPct val="100000"/>
              </a:lnSpc>
              <a:spcBef>
                <a:spcPts val="0"/>
              </a:spcBef>
              <a:spcAft>
                <a:spcPts val="0"/>
              </a:spcAft>
            </a:pPr>
            <a:r>
              <a:rPr sz="2000" b="1">
                <a:solidFill>
                  <a:srgbClr val="FFFFFF"/>
                </a:solidFill>
              </a:rPr>
              <a:t>2  Deposit uses the repository</a:t>
            </a:r>
          </a:p>
        </p:txBody>
      </p:sp>
      <p:sp>
        <p:nvSpPr>
          <p:cNvPr id="20" name="TextBox 19"/>
          <p:cNvSpPr txBox="1"/>
          <p:nvPr/>
        </p:nvSpPr>
        <p:spPr>
          <a:xfrm>
            <a:off x="594360" y="1719072"/>
            <a:ext cx="5623560" cy="4937760"/>
          </a:xfrm>
          <a:prstGeom prst="rect">
            <a:avLst/>
          </a:prstGeom>
          <a:noFill/>
        </p:spPr>
        <p:txBody>
          <a:bodyPr wrap="square" lIns="0" tIns="0" rIns="0" bIns="0">
            <a:spAutoFit/>
          </a:bodyPr>
          <a:lstStyle/>
          <a:p>
            <a:pPr>
              <a:lnSpc>
                <a:spcPts val="1800"/>
              </a:lnSpc>
              <a:spcBef>
                <a:spcPts val="0"/>
              </a:spcBef>
              <a:spcAft>
                <a:spcPts val="0"/>
              </a:spcAft>
            </a:pPr>
            <a:r>
              <a:rPr sz="1750" b="0">
                <a:solidFill>
                  <a:srgbClr val="172C42"/>
                </a:solidFill>
                <a:latin typeface="Consolas"/>
              </a:rPr>
              <a:t>class AccountRepository {</a:t>
            </a:r>
          </a:p>
          <a:p>
            <a:pPr>
              <a:lnSpc>
                <a:spcPts val="1800"/>
              </a:lnSpc>
              <a:spcBef>
                <a:spcPts val="0"/>
              </a:spcBef>
              <a:spcAft>
                <a:spcPts val="0"/>
              </a:spcAft>
            </a:pPr>
            <a:r>
              <a:rPr sz="1750" b="0">
                <a:solidFill>
                  <a:srgbClr val="172C42"/>
                </a:solidFill>
                <a:latin typeface="Consolas"/>
              </a:rPr>
              <a:t>  constructor(db) {</a:t>
            </a:r>
          </a:p>
          <a:p>
            <a:pPr>
              <a:lnSpc>
                <a:spcPts val="1800"/>
              </a:lnSpc>
              <a:spcBef>
                <a:spcPts val="0"/>
              </a:spcBef>
              <a:spcAft>
                <a:spcPts val="0"/>
              </a:spcAft>
            </a:pPr>
            <a:r>
              <a:rPr sz="1750" b="0">
                <a:solidFill>
                  <a:srgbClr val="172C42"/>
                </a:solidFill>
                <a:latin typeface="Consolas"/>
              </a:rPr>
              <a:t>    this.accounts = db.collection('accounts');</a:t>
            </a:r>
          </a:p>
          <a:p>
            <a:pPr>
              <a:lnSpc>
                <a:spcPts val="1800"/>
              </a:lnSpc>
              <a:spcBef>
                <a:spcPts val="0"/>
              </a:spcBef>
              <a:spcAft>
                <a:spcPts val="0"/>
              </a:spcAft>
            </a:pPr>
            <a:r>
              <a:rPr sz="1750" b="0">
                <a:solidFill>
                  <a:srgbClr val="172C42"/>
                </a:solidFill>
                <a:latin typeface="Consolas"/>
              </a:rPr>
              <a:t>  }</a:t>
            </a:r>
          </a:p>
          <a:p>
            <a:pPr>
              <a:lnSpc>
                <a:spcPts val="1800"/>
              </a:lnSpc>
              <a:spcBef>
                <a:spcPts val="0"/>
              </a:spcBef>
              <a:spcAft>
                <a:spcPts val="0"/>
              </a:spcAft>
            </a:pPr>
            <a:r>
              <a:rPr sz="1750" b="0">
                <a:solidFill>
                  <a:srgbClr val="172C42"/>
                </a:solidFill>
                <a:latin typeface="Consolas"/>
              </a:rPr>
              <a:t>  find(accountNumber) {</a:t>
            </a:r>
          </a:p>
          <a:p>
            <a:pPr>
              <a:lnSpc>
                <a:spcPts val="1800"/>
              </a:lnSpc>
              <a:spcBef>
                <a:spcPts val="0"/>
              </a:spcBef>
              <a:spcAft>
                <a:spcPts val="0"/>
              </a:spcAft>
            </a:pPr>
            <a:r>
              <a:rPr sz="1750" b="0">
                <a:solidFill>
                  <a:srgbClr val="172C42"/>
                </a:solidFill>
                <a:latin typeface="Consolas"/>
              </a:rPr>
              <a:t>    return this.accounts</a:t>
            </a:r>
          </a:p>
          <a:p>
            <a:pPr>
              <a:lnSpc>
                <a:spcPts val="1800"/>
              </a:lnSpc>
              <a:spcBef>
                <a:spcPts val="0"/>
              </a:spcBef>
              <a:spcAft>
                <a:spcPts val="0"/>
              </a:spcAft>
            </a:pPr>
            <a:r>
              <a:rPr sz="1750" b="0">
                <a:solidFill>
                  <a:srgbClr val="172C42"/>
                </a:solidFill>
                <a:latin typeface="Consolas"/>
              </a:rPr>
              <a:t>      .findOne({ accountNumber });</a:t>
            </a:r>
          </a:p>
          <a:p>
            <a:pPr>
              <a:lnSpc>
                <a:spcPts val="1800"/>
              </a:lnSpc>
              <a:spcBef>
                <a:spcPts val="0"/>
              </a:spcBef>
              <a:spcAft>
                <a:spcPts val="0"/>
              </a:spcAft>
            </a:pPr>
            <a:r>
              <a:rPr sz="1750" b="0">
                <a:solidFill>
                  <a:srgbClr val="172C42"/>
                </a:solidFill>
                <a:latin typeface="Consolas"/>
              </a:rPr>
              <a:t>  }</a:t>
            </a:r>
          </a:p>
          <a:p>
            <a:pPr>
              <a:lnSpc>
                <a:spcPts val="1800"/>
              </a:lnSpc>
              <a:spcBef>
                <a:spcPts val="0"/>
              </a:spcBef>
              <a:spcAft>
                <a:spcPts val="0"/>
              </a:spcAft>
            </a:pPr>
            <a:r>
              <a:rPr sz="1750" b="0">
                <a:solidFill>
                  <a:srgbClr val="172C42"/>
                </a:solidFill>
                <a:latin typeface="Consolas"/>
              </a:rPr>
              <a:t>  save(account) {</a:t>
            </a:r>
          </a:p>
          <a:p>
            <a:pPr>
              <a:lnSpc>
                <a:spcPts val="1800"/>
              </a:lnSpc>
              <a:spcBef>
                <a:spcPts val="0"/>
              </a:spcBef>
              <a:spcAft>
                <a:spcPts val="0"/>
              </a:spcAft>
            </a:pPr>
            <a:r>
              <a:rPr sz="1750" b="0">
                <a:solidFill>
                  <a:srgbClr val="172C42"/>
                </a:solidFill>
                <a:latin typeface="Consolas"/>
              </a:rPr>
              <a:t>    return this.accounts.updateOne(</a:t>
            </a:r>
          </a:p>
          <a:p>
            <a:pPr>
              <a:lnSpc>
                <a:spcPts val="1800"/>
              </a:lnSpc>
              <a:spcBef>
                <a:spcPts val="0"/>
              </a:spcBef>
              <a:spcAft>
                <a:spcPts val="0"/>
              </a:spcAft>
            </a:pPr>
            <a:r>
              <a:rPr sz="1750" b="0">
                <a:solidFill>
                  <a:srgbClr val="172C42"/>
                </a:solidFill>
                <a:latin typeface="Consolas"/>
              </a:rPr>
              <a:t>      { accountNumber:</a:t>
            </a:r>
          </a:p>
          <a:p>
            <a:pPr>
              <a:lnSpc>
                <a:spcPts val="1800"/>
              </a:lnSpc>
              <a:spcBef>
                <a:spcPts val="0"/>
              </a:spcBef>
              <a:spcAft>
                <a:spcPts val="0"/>
              </a:spcAft>
            </a:pPr>
            <a:r>
              <a:rPr sz="1750" b="0">
                <a:solidFill>
                  <a:srgbClr val="172C42"/>
                </a:solidFill>
                <a:latin typeface="Consolas"/>
              </a:rPr>
              <a:t>          account.accountNumber },</a:t>
            </a:r>
          </a:p>
          <a:p>
            <a:pPr>
              <a:lnSpc>
                <a:spcPts val="1800"/>
              </a:lnSpc>
              <a:spcBef>
                <a:spcPts val="0"/>
              </a:spcBef>
              <a:spcAft>
                <a:spcPts val="0"/>
              </a:spcAft>
            </a:pPr>
            <a:r>
              <a:rPr sz="1750" b="0">
                <a:solidFill>
                  <a:srgbClr val="172C42"/>
                </a:solidFill>
                <a:latin typeface="Consolas"/>
              </a:rPr>
              <a:t>      { $set: {</a:t>
            </a:r>
          </a:p>
          <a:p>
            <a:pPr>
              <a:lnSpc>
                <a:spcPts val="1800"/>
              </a:lnSpc>
              <a:spcBef>
                <a:spcPts val="0"/>
              </a:spcBef>
              <a:spcAft>
                <a:spcPts val="0"/>
              </a:spcAft>
            </a:pPr>
            <a:r>
              <a:rPr sz="1750" b="0">
                <a:solidFill>
                  <a:srgbClr val="172C42"/>
                </a:solidFill>
                <a:latin typeface="Consolas"/>
              </a:rPr>
              <a:t>          balanceCents: account.balanceCents</a:t>
            </a:r>
          </a:p>
          <a:p>
            <a:pPr>
              <a:lnSpc>
                <a:spcPts val="1800"/>
              </a:lnSpc>
              <a:spcBef>
                <a:spcPts val="0"/>
              </a:spcBef>
              <a:spcAft>
                <a:spcPts val="0"/>
              </a:spcAft>
            </a:pPr>
            <a:r>
              <a:rPr sz="1750" b="0">
                <a:solidFill>
                  <a:srgbClr val="172C42"/>
                </a:solidFill>
                <a:latin typeface="Consolas"/>
              </a:rPr>
              <a:t>      } }</a:t>
            </a:r>
          </a:p>
          <a:p>
            <a:pPr>
              <a:lnSpc>
                <a:spcPts val="1800"/>
              </a:lnSpc>
              <a:spcBef>
                <a:spcPts val="0"/>
              </a:spcBef>
              <a:spcAft>
                <a:spcPts val="0"/>
              </a:spcAft>
            </a:pPr>
            <a:r>
              <a:rPr sz="1750" b="0">
                <a:solidFill>
                  <a:srgbClr val="172C42"/>
                </a:solidFill>
                <a:latin typeface="Consolas"/>
              </a:rPr>
              <a:t>    );</a:t>
            </a:r>
          </a:p>
          <a:p>
            <a:pPr>
              <a:lnSpc>
                <a:spcPts val="1800"/>
              </a:lnSpc>
              <a:spcBef>
                <a:spcPts val="0"/>
              </a:spcBef>
              <a:spcAft>
                <a:spcPts val="0"/>
              </a:spcAft>
            </a:pPr>
            <a:r>
              <a:rPr sz="1750" b="0">
                <a:solidFill>
                  <a:srgbClr val="172C42"/>
                </a:solidFill>
                <a:latin typeface="Consolas"/>
              </a:rPr>
              <a:t>  }</a:t>
            </a:r>
          </a:p>
          <a:p>
            <a:pPr>
              <a:lnSpc>
                <a:spcPts val="1800"/>
              </a:lnSpc>
              <a:spcBef>
                <a:spcPts val="0"/>
              </a:spcBef>
              <a:spcAft>
                <a:spcPts val="0"/>
              </a:spcAft>
            </a:pPr>
            <a:r>
              <a:rPr sz="1750" b="0">
                <a:solidFill>
                  <a:srgbClr val="172C42"/>
                </a:solidFill>
                <a:latin typeface="Consolas"/>
              </a:rPr>
              <a:t>  listOpen() {</a:t>
            </a:r>
          </a:p>
          <a:p>
            <a:pPr>
              <a:lnSpc>
                <a:spcPts val="1800"/>
              </a:lnSpc>
              <a:spcBef>
                <a:spcPts val="0"/>
              </a:spcBef>
              <a:spcAft>
                <a:spcPts val="0"/>
              </a:spcAft>
            </a:pPr>
            <a:r>
              <a:rPr sz="1750" b="0">
                <a:solidFill>
                  <a:srgbClr val="172C42"/>
                </a:solidFill>
                <a:latin typeface="Consolas"/>
              </a:rPr>
              <a:t>    return this.accounts</a:t>
            </a:r>
          </a:p>
          <a:p>
            <a:pPr>
              <a:lnSpc>
                <a:spcPts val="1800"/>
              </a:lnSpc>
              <a:spcBef>
                <a:spcPts val="0"/>
              </a:spcBef>
              <a:spcAft>
                <a:spcPts val="0"/>
              </a:spcAft>
            </a:pPr>
            <a:r>
              <a:rPr sz="1750" b="0">
                <a:solidFill>
                  <a:srgbClr val="172C42"/>
                </a:solidFill>
                <a:latin typeface="Consolas"/>
              </a:rPr>
              <a:t>      .find({ status: 'open' }).toArray();</a:t>
            </a:r>
          </a:p>
          <a:p>
            <a:pPr>
              <a:lnSpc>
                <a:spcPts val="1800"/>
              </a:lnSpc>
              <a:spcBef>
                <a:spcPts val="0"/>
              </a:spcBef>
              <a:spcAft>
                <a:spcPts val="0"/>
              </a:spcAft>
            </a:pPr>
            <a:r>
              <a:rPr sz="1750" b="0">
                <a:solidFill>
                  <a:srgbClr val="172C42"/>
                </a:solidFill>
                <a:latin typeface="Consolas"/>
              </a:rPr>
              <a:t>  }</a:t>
            </a:r>
          </a:p>
          <a:p>
            <a:pPr>
              <a:lnSpc>
                <a:spcPts val="1800"/>
              </a:lnSpc>
              <a:spcBef>
                <a:spcPts val="0"/>
              </a:spcBef>
              <a:spcAft>
                <a:spcPts val="0"/>
              </a:spcAft>
            </a:pPr>
            <a:r>
              <a:rPr sz="1750" b="0">
                <a:solidFill>
                  <a:srgbClr val="172C42"/>
                </a:solidFill>
                <a:latin typeface="Consolas"/>
              </a:rPr>
              <a:t>}</a:t>
            </a:r>
          </a:p>
        </p:txBody>
      </p:sp>
      <p:sp>
        <p:nvSpPr>
          <p:cNvPr id="21" name="TextBox 20"/>
          <p:cNvSpPr txBox="1"/>
          <p:nvPr/>
        </p:nvSpPr>
        <p:spPr>
          <a:xfrm>
            <a:off x="6355080" y="1719072"/>
            <a:ext cx="5349240" cy="2926080"/>
          </a:xfrm>
          <a:prstGeom prst="rect">
            <a:avLst/>
          </a:prstGeom>
          <a:noFill/>
        </p:spPr>
        <p:txBody>
          <a:bodyPr wrap="square" lIns="0" tIns="0" rIns="0" bIns="0">
            <a:spAutoFit/>
          </a:bodyPr>
          <a:lstStyle/>
          <a:p>
            <a:pPr>
              <a:lnSpc>
                <a:spcPts val="1800"/>
              </a:lnSpc>
              <a:spcBef>
                <a:spcPts val="0"/>
              </a:spcBef>
              <a:spcAft>
                <a:spcPts val="0"/>
              </a:spcAft>
            </a:pPr>
            <a:r>
              <a:rPr sz="1750" b="0">
                <a:solidFill>
                  <a:srgbClr val="172C42"/>
                </a:solidFill>
                <a:latin typeface="Consolas"/>
              </a:rPr>
              <a:t>async function deposit(</a:t>
            </a:r>
          </a:p>
          <a:p>
            <a:pPr>
              <a:lnSpc>
                <a:spcPts val="1800"/>
              </a:lnSpc>
              <a:spcBef>
                <a:spcPts val="0"/>
              </a:spcBef>
              <a:spcAft>
                <a:spcPts val="0"/>
              </a:spcAft>
            </a:pPr>
            <a:r>
              <a:rPr sz="1750" b="0">
                <a:solidFill>
                  <a:srgbClr val="172C42"/>
                </a:solidFill>
                <a:latin typeface="Consolas"/>
              </a:rPr>
              <a:t>  accounts, accountNumber, amountCents</a:t>
            </a:r>
          </a:p>
          <a:p>
            <a:pPr>
              <a:lnSpc>
                <a:spcPts val="1800"/>
              </a:lnSpc>
              <a:spcBef>
                <a:spcPts val="0"/>
              </a:spcBef>
              <a:spcAft>
                <a:spcPts val="0"/>
              </a:spcAft>
            </a:pPr>
            <a:r>
              <a:rPr sz="1750" b="0">
                <a:solidFill>
                  <a:srgbClr val="172C42"/>
                </a:solidFill>
                <a:latin typeface="Consolas"/>
              </a:rPr>
              <a:t>) {</a:t>
            </a:r>
          </a:p>
          <a:p>
            <a:pPr>
              <a:lnSpc>
                <a:spcPts val="1800"/>
              </a:lnSpc>
              <a:spcBef>
                <a:spcPts val="0"/>
              </a:spcBef>
              <a:spcAft>
                <a:spcPts val="0"/>
              </a:spcAft>
            </a:pPr>
            <a:r>
              <a:rPr sz="1750" b="0">
                <a:solidFill>
                  <a:srgbClr val="172C42"/>
                </a:solidFill>
                <a:latin typeface="Consolas"/>
              </a:rPr>
              <a:t>  const account = await accounts</a:t>
            </a:r>
          </a:p>
          <a:p>
            <a:pPr>
              <a:lnSpc>
                <a:spcPts val="1800"/>
              </a:lnSpc>
              <a:spcBef>
                <a:spcPts val="0"/>
              </a:spcBef>
              <a:spcAft>
                <a:spcPts val="0"/>
              </a:spcAft>
            </a:pPr>
            <a:r>
              <a:rPr sz="1750" b="0">
                <a:solidFill>
                  <a:srgbClr val="172C42"/>
                </a:solidFill>
                <a:latin typeface="Consolas"/>
              </a:rPr>
              <a:t>    .find(accountNumber);</a:t>
            </a:r>
          </a:p>
          <a:p>
            <a:pPr>
              <a:lnSpc>
                <a:spcPts val="1800"/>
              </a:lnSpc>
              <a:spcBef>
                <a:spcPts val="0"/>
              </a:spcBef>
              <a:spcAft>
                <a:spcPts val="0"/>
              </a:spcAft>
            </a:pPr>
            <a:r>
              <a:rPr sz="1750" b="0">
                <a:solidFill>
                  <a:srgbClr val="172C42"/>
                </a:solidFill>
                <a:latin typeface="Consolas"/>
              </a:rPr>
              <a:t>  account.balanceCents += amountCents;</a:t>
            </a:r>
          </a:p>
          <a:p>
            <a:pPr>
              <a:lnSpc>
                <a:spcPts val="1800"/>
              </a:lnSpc>
              <a:spcBef>
                <a:spcPts val="0"/>
              </a:spcBef>
              <a:spcAft>
                <a:spcPts val="0"/>
              </a:spcAft>
            </a:pPr>
            <a:r>
              <a:rPr sz="1750" b="0">
                <a:solidFill>
                  <a:srgbClr val="172C42"/>
                </a:solidFill>
                <a:latin typeface="Consolas"/>
              </a:rPr>
              <a:t>  await accounts.save(account);</a:t>
            </a:r>
          </a:p>
          <a:p>
            <a:pPr>
              <a:lnSpc>
                <a:spcPts val="1800"/>
              </a:lnSpc>
              <a:spcBef>
                <a:spcPts val="0"/>
              </a:spcBef>
              <a:spcAft>
                <a:spcPts val="0"/>
              </a:spcAft>
            </a:pPr>
            <a:r>
              <a:rPr sz="1750" b="0">
                <a:solidFill>
                  <a:srgbClr val="172C42"/>
                </a:solidFill>
                <a:latin typeface="Consolas"/>
              </a:rPr>
              <a:t>  return account;</a:t>
            </a:r>
          </a:p>
          <a:p>
            <a:pPr>
              <a:lnSpc>
                <a:spcPts val="1800"/>
              </a:lnSpc>
              <a:spcBef>
                <a:spcPts val="0"/>
              </a:spcBef>
              <a:spcAft>
                <a:spcPts val="0"/>
              </a:spcAft>
            </a:pPr>
            <a:r>
              <a:rPr sz="1750" b="0">
                <a:solidFill>
                  <a:srgbClr val="172C42"/>
                </a:solidFill>
                <a:latin typeface="Consolas"/>
              </a:rPr>
              <a:t>}</a:t>
            </a:r>
          </a:p>
        </p:txBody>
      </p:sp>
      <p:sp>
        <p:nvSpPr>
          <p:cNvPr id="23" name="TextBox 22"/>
          <p:cNvSpPr txBox="1"/>
          <p:nvPr/>
        </p:nvSpPr>
        <p:spPr>
          <a:xfrm>
            <a:off x="6355080" y="4709160"/>
            <a:ext cx="5349240" cy="1005840"/>
          </a:xfrm>
          <a:prstGeom prst="rect">
            <a:avLst/>
          </a:prstGeom>
          <a:noFill/>
        </p:spPr>
        <p:txBody>
          <a:bodyPr wrap="square" lIns="0" tIns="0" rIns="0" bIns="0">
            <a:spAutoFit/>
          </a:bodyPr>
          <a:lstStyle/>
          <a:p>
            <a:pPr>
              <a:lnSpc>
                <a:spcPct val="100000"/>
              </a:lnSpc>
              <a:spcBef>
                <a:spcPts val="0"/>
              </a:spcBef>
              <a:spcAft>
                <a:spcPts val="0"/>
              </a:spcAft>
            </a:pPr>
            <a:r>
              <a:rPr sz="1900" b="0">
                <a:solidFill>
                  <a:srgbClr val="172C42"/>
                </a:solidFill>
              </a:rPr>
              <a:t>deposit() calls find() and save().</a:t>
            </a:r>
          </a:p>
          <a:p>
            <a:pPr>
              <a:lnSpc>
                <a:spcPct val="100000"/>
              </a:lnSpc>
              <a:spcBef>
                <a:spcPts val="0"/>
              </a:spcBef>
              <a:spcAft>
                <a:spcPts val="0"/>
              </a:spcAft>
            </a:pPr>
            <a:r>
              <a:rPr sz="1900" b="0">
                <a:solidFill>
                  <a:srgbClr val="172C42"/>
                </a:solidFill>
              </a:rPr>
              <a:t>AccountRepository keeps the MongoDB details.</a:t>
            </a:r>
          </a:p>
        </p:txBody>
      </p:sp>
    </p:spTree>
    <p:extLst>
      <p:ext uri="{BB962C8B-B14F-4D97-AF65-F5344CB8AC3E}">
        <p14:creationId xmlns:p14="http://schemas.microsoft.com/office/powerpoint/2010/main" val="4178090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B75D9C-C6C7-7495-C8A5-C9FDEA5CD08D}"/>
              </a:ext>
            </a:extLst>
          </p:cNvPr>
          <p:cNvSpPr>
            <a:spLocks noGrp="1"/>
          </p:cNvSpPr>
          <p:nvPr>
            <p:ph type="title"/>
          </p:nvPr>
        </p:nvSpPr>
        <p:spPr>
          <a:xfrm>
            <a:off x="699715" y="288404"/>
            <a:ext cx="7170656" cy="977442"/>
          </a:xfrm>
        </p:spPr>
        <p:txBody>
          <a:bodyPr vert="horz" lIns="91440" tIns="45720" rIns="91440" bIns="45720" rtlCol="0" anchor="ctr">
            <a:normAutofit/>
          </a:bodyPr>
          <a:lstStyle/>
          <a:p>
            <a:r>
              <a:rPr lang="en-US" sz="4000" b="1">
                <a:solidFill>
                  <a:srgbClr val="FFFFFF"/>
                </a:solidFill>
              </a:rPr>
              <a:t>Is it Good Design</a:t>
            </a:r>
          </a:p>
        </p:txBody>
      </p:sp>
      <p:sp>
        <p:nvSpPr>
          <p:cNvPr id="4" name="TextBox 3"/>
          <p:cNvSpPr txBox="1"/>
          <p:nvPr/>
        </p:nvSpPr>
        <p:spPr>
          <a:xfrm>
            <a:off x="8536577" y="199287"/>
            <a:ext cx="3226526" cy="1155677"/>
          </a:xfrm>
          <a:prstGeom prst="rect">
            <a:avLst/>
          </a:prstGeom>
        </p:spPr>
        <p:txBody>
          <a:bodyPr vert="horz" lIns="91440" tIns="45720" rIns="91440" bIns="45720" rtlCol="0" anchor="ctr">
            <a:normAutofit/>
          </a:bodyPr>
          <a:lstStyle/>
          <a:p>
            <a:pPr>
              <a:lnSpc>
                <a:spcPct val="90000"/>
              </a:lnSpc>
              <a:spcBef>
                <a:spcPts val="1000"/>
              </a:spcBef>
              <a:spcAft>
                <a:spcPts val="0"/>
              </a:spcAft>
            </a:pPr>
            <a:r>
              <a:rPr lang="en-US" sz="2000" b="1" dirty="0">
                <a:solidFill>
                  <a:srgbClr val="FFFFFF"/>
                </a:solidFill>
              </a:rPr>
              <a:t>2  Water branch and calls</a:t>
            </a:r>
          </a:p>
        </p:txBody>
      </p:sp>
      <p:sp>
        <p:nvSpPr>
          <p:cNvPr id="3" name="TextBox 2"/>
          <p:cNvSpPr txBox="1"/>
          <p:nvPr/>
        </p:nvSpPr>
        <p:spPr>
          <a:xfrm>
            <a:off x="594360" y="1143000"/>
            <a:ext cx="5394960" cy="294953"/>
          </a:xfrm>
          <a:prstGeom prst="rect">
            <a:avLst/>
          </a:prstGeom>
          <a:noFill/>
        </p:spPr>
        <p:txBody>
          <a:bodyPr wrap="square" lIns="0" tIns="0" rIns="0" bIns="0" anchor="t">
            <a:spAutoFit/>
          </a:bodyPr>
          <a:lstStyle/>
          <a:p>
            <a:pPr>
              <a:lnSpc>
                <a:spcPts val="2300"/>
              </a:lnSpc>
              <a:spcBef>
                <a:spcPts val="0"/>
              </a:spcBef>
              <a:spcAft>
                <a:spcPts val="600"/>
              </a:spcAft>
            </a:pPr>
            <a:r>
              <a:rPr lang="en-US" b="1" dirty="0">
                <a:solidFill>
                  <a:srgbClr val="172C42"/>
                </a:solidFill>
              </a:rPr>
              <a:t>1  Setup and cola </a:t>
            </a:r>
            <a:r>
              <a:rPr lang="en-US" sz="2000" b="1" dirty="0">
                <a:solidFill>
                  <a:srgbClr val="FFFFFF"/>
                </a:solidFill>
              </a:rPr>
              <a:t>branch</a:t>
            </a:r>
          </a:p>
        </p:txBody>
      </p:sp>
      <p:sp>
        <p:nvSpPr>
          <p:cNvPr id="5" name="TextBox 4"/>
          <p:cNvSpPr txBox="1"/>
          <p:nvPr/>
        </p:nvSpPr>
        <p:spPr>
          <a:xfrm>
            <a:off x="594360" y="1645920"/>
            <a:ext cx="5440680" cy="4983480"/>
          </a:xfrm>
          <a:prstGeom prst="rect">
            <a:avLst/>
          </a:prstGeom>
          <a:noFill/>
        </p:spPr>
        <p:txBody>
          <a:bodyPr wrap="square" lIns="0" tIns="0" rIns="0" bIns="0" anchor="t">
            <a:spAutoFit/>
          </a:bodyPr>
          <a:lstStyle/>
          <a:p>
            <a:pPr>
              <a:lnSpc>
                <a:spcPts val="1950"/>
              </a:lnSpc>
              <a:spcBef>
                <a:spcPts val="0"/>
              </a:spcBef>
              <a:spcAft>
                <a:spcPts val="600"/>
              </a:spcAft>
            </a:pPr>
            <a:r>
              <a:rPr sz="1750" b="1" dirty="0">
                <a:solidFill>
                  <a:srgbClr val="6B3FA0"/>
                </a:solidFill>
                <a:latin typeface="Consolas"/>
              </a:rPr>
              <a:t>var</a:t>
            </a:r>
            <a:r>
              <a:rPr sz="1750" b="0" dirty="0">
                <a:solidFill>
                  <a:srgbClr val="172C42"/>
                </a:solidFill>
                <a:latin typeface="Consolas"/>
              </a:rPr>
              <a:t> stock = </a:t>
            </a:r>
            <a:r>
              <a:rPr sz="1750" b="0" dirty="0">
                <a:solidFill>
                  <a:srgbClr val="175D9A"/>
                </a:solidFill>
                <a:latin typeface="Consolas"/>
              </a:rPr>
              <a:t>1</a:t>
            </a:r>
            <a:r>
              <a:rPr sz="1750" b="0" dirty="0">
                <a:solidFill>
                  <a:srgbClr val="172C42"/>
                </a:solidFill>
                <a:latin typeface="Consolas"/>
              </a:rPr>
              <a:t>;</a:t>
            </a:r>
            <a:endParaRPr lang="en-IN" sz="1750" b="0" dirty="0">
              <a:solidFill>
                <a:srgbClr val="172C42"/>
              </a:solidFill>
              <a:latin typeface="Consolas"/>
            </a:endParaRPr>
          </a:p>
          <a:p>
            <a:pPr>
              <a:lnSpc>
                <a:spcPts val="1950"/>
              </a:lnSpc>
              <a:spcBef>
                <a:spcPts val="0"/>
              </a:spcBef>
              <a:spcAft>
                <a:spcPts val="600"/>
              </a:spcAft>
            </a:pPr>
            <a:r>
              <a:rPr sz="1750" b="1" dirty="0">
                <a:solidFill>
                  <a:srgbClr val="6B3FA0"/>
                </a:solidFill>
                <a:latin typeface="Consolas"/>
              </a:rPr>
              <a:t>var</a:t>
            </a:r>
            <a:r>
              <a:rPr sz="1750" b="0" dirty="0">
                <a:solidFill>
                  <a:srgbClr val="172C42"/>
                </a:solidFill>
                <a:latin typeface="Consolas"/>
              </a:rPr>
              <a:t> earnings = </a:t>
            </a:r>
            <a:r>
              <a:rPr sz="1750" b="0" dirty="0">
                <a:solidFill>
                  <a:srgbClr val="175D9A"/>
                </a:solidFill>
                <a:latin typeface="Consolas"/>
              </a:rPr>
              <a:t>0</a:t>
            </a:r>
            <a:r>
              <a:rPr sz="1750" b="0" dirty="0">
                <a:solidFill>
                  <a:srgbClr val="172C42"/>
                </a:solidFill>
                <a:latin typeface="Consolas"/>
              </a:rPr>
              <a:t>;</a:t>
            </a:r>
            <a:endParaRPr lang="en-IN" sz="1750" b="0" dirty="0">
              <a:solidFill>
                <a:srgbClr val="172C42"/>
              </a:solidFill>
              <a:latin typeface="Consolas"/>
            </a:endParaRPr>
          </a:p>
          <a:p>
            <a:pPr>
              <a:lnSpc>
                <a:spcPts val="1950"/>
              </a:lnSpc>
              <a:spcBef>
                <a:spcPts val="0"/>
              </a:spcBef>
              <a:spcAft>
                <a:spcPts val="600"/>
              </a:spcAft>
            </a:pPr>
            <a:r>
              <a:rPr sz="1750" b="1" dirty="0">
                <a:solidFill>
                  <a:srgbClr val="6B3FA0"/>
                </a:solidFill>
                <a:latin typeface="Consolas"/>
              </a:rPr>
              <a:t>function</a:t>
            </a:r>
            <a:r>
              <a:rPr sz="1750" b="0" dirty="0">
                <a:solidFill>
                  <a:srgbClr val="172C42"/>
                </a:solidFill>
                <a:latin typeface="Consolas"/>
              </a:rPr>
              <a:t> </a:t>
            </a:r>
            <a:r>
              <a:rPr sz="1750" b="0" dirty="0" err="1">
                <a:solidFill>
                  <a:srgbClr val="172C42"/>
                </a:solidFill>
                <a:latin typeface="Consolas"/>
              </a:rPr>
              <a:t>buyDrink</a:t>
            </a:r>
            <a:r>
              <a:rPr sz="1750" b="0" dirty="0">
                <a:solidFill>
                  <a:srgbClr val="172C42"/>
                </a:solidFill>
                <a:latin typeface="Consolas"/>
              </a:rPr>
              <a:t>(drink, </a:t>
            </a:r>
            <a:r>
              <a:rPr sz="1750" b="0" dirty="0" err="1">
                <a:solidFill>
                  <a:srgbClr val="172C42"/>
                </a:solidFill>
                <a:latin typeface="Consolas"/>
              </a:rPr>
              <a:t>upiPin</a:t>
            </a:r>
            <a:r>
              <a:rPr sz="1750" b="0" dirty="0">
                <a:solidFill>
                  <a:srgbClr val="172C42"/>
                </a:solidFill>
                <a:latin typeface="Consolas"/>
              </a:rPr>
              <a:t>) {</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a:t>
            </a:r>
            <a:r>
              <a:rPr sz="1750" b="1" dirty="0">
                <a:solidFill>
                  <a:srgbClr val="6B3FA0"/>
                </a:solidFill>
                <a:latin typeface="Consolas"/>
              </a:rPr>
              <a:t>if</a:t>
            </a:r>
            <a:r>
              <a:rPr sz="1750" b="0" dirty="0">
                <a:solidFill>
                  <a:srgbClr val="172C42"/>
                </a:solidFill>
                <a:latin typeface="Consolas"/>
              </a:rPr>
              <a:t> (drink == </a:t>
            </a:r>
            <a:r>
              <a:rPr sz="1750" b="0" dirty="0">
                <a:solidFill>
                  <a:srgbClr val="2B6B4A"/>
                </a:solidFill>
                <a:latin typeface="Consolas"/>
              </a:rPr>
              <a:t>"cola"</a:t>
            </a:r>
            <a:r>
              <a:rPr sz="1750" b="0" dirty="0">
                <a:solidFill>
                  <a:srgbClr val="172C42"/>
                </a:solidFill>
                <a:latin typeface="Consolas"/>
              </a:rPr>
              <a:t>) {</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a:t>
            </a:r>
            <a:r>
              <a:rPr sz="1750" b="1" dirty="0">
                <a:solidFill>
                  <a:srgbClr val="6B3FA0"/>
                </a:solidFill>
                <a:latin typeface="Consolas"/>
              </a:rPr>
              <a:t>if</a:t>
            </a:r>
            <a:r>
              <a:rPr sz="1750" b="0" dirty="0">
                <a:solidFill>
                  <a:srgbClr val="172C42"/>
                </a:solidFill>
                <a:latin typeface="Consolas"/>
              </a:rPr>
              <a:t> (stock &gt; </a:t>
            </a:r>
            <a:r>
              <a:rPr sz="1750" b="0" dirty="0">
                <a:solidFill>
                  <a:srgbClr val="175D9A"/>
                </a:solidFill>
                <a:latin typeface="Consolas"/>
              </a:rPr>
              <a:t>0</a:t>
            </a:r>
            <a:r>
              <a:rPr sz="1750" b="0" dirty="0">
                <a:solidFill>
                  <a:srgbClr val="172C42"/>
                </a:solidFill>
                <a:latin typeface="Consolas"/>
              </a:rPr>
              <a:t>) {</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a:t>
            </a:r>
            <a:r>
              <a:rPr sz="1750" b="1" dirty="0">
                <a:solidFill>
                  <a:srgbClr val="6B3FA0"/>
                </a:solidFill>
                <a:latin typeface="Consolas"/>
              </a:rPr>
              <a:t>if</a:t>
            </a:r>
            <a:r>
              <a:rPr sz="1750" b="0" dirty="0">
                <a:solidFill>
                  <a:srgbClr val="172C42"/>
                </a:solidFill>
                <a:latin typeface="Consolas"/>
              </a:rPr>
              <a:t> (</a:t>
            </a:r>
            <a:r>
              <a:rPr sz="1750" b="0" dirty="0" err="1">
                <a:solidFill>
                  <a:srgbClr val="172C42"/>
                </a:solidFill>
                <a:latin typeface="Consolas"/>
              </a:rPr>
              <a:t>upiPin</a:t>
            </a:r>
            <a:r>
              <a:rPr sz="1750" b="0" dirty="0">
                <a:solidFill>
                  <a:srgbClr val="172C42"/>
                </a:solidFill>
                <a:latin typeface="Consolas"/>
              </a:rPr>
              <a:t> == </a:t>
            </a:r>
            <a:r>
              <a:rPr sz="1750" b="0" dirty="0">
                <a:solidFill>
                  <a:srgbClr val="2B6B4A"/>
                </a:solidFill>
                <a:latin typeface="Consolas"/>
              </a:rPr>
              <a:t>"1234"</a:t>
            </a:r>
            <a:r>
              <a:rPr sz="1750" b="0" dirty="0">
                <a:solidFill>
                  <a:srgbClr val="172C42"/>
                </a:solidFill>
                <a:latin typeface="Consolas"/>
              </a:rPr>
              <a:t>) {</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stock = stock - </a:t>
            </a:r>
            <a:r>
              <a:rPr sz="1750" b="0" dirty="0">
                <a:solidFill>
                  <a:srgbClr val="175D9A"/>
                </a:solidFill>
                <a:latin typeface="Consolas"/>
              </a:rPr>
              <a:t>1</a:t>
            </a:r>
            <a:r>
              <a:rPr sz="1750" b="0" dirty="0">
                <a:solidFill>
                  <a:srgbClr val="172C42"/>
                </a:solidFill>
                <a:latin typeface="Consolas"/>
              </a:rPr>
              <a:t>;</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earnings = earnings + </a:t>
            </a:r>
            <a:r>
              <a:rPr sz="1750" b="0" dirty="0">
                <a:solidFill>
                  <a:srgbClr val="175D9A"/>
                </a:solidFill>
                <a:latin typeface="Consolas"/>
              </a:rPr>
              <a:t>20</a:t>
            </a:r>
            <a:r>
              <a:rPr sz="1750" b="0" dirty="0">
                <a:solidFill>
                  <a:srgbClr val="172C42"/>
                </a:solidFill>
                <a:latin typeface="Consolas"/>
              </a:rPr>
              <a:t>;</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console.log(</a:t>
            </a:r>
            <a:r>
              <a:rPr sz="1750" b="0" dirty="0">
                <a:solidFill>
                  <a:srgbClr val="2B6B4A"/>
                </a:solidFill>
                <a:latin typeface="Consolas"/>
              </a:rPr>
              <a:t>"take cola"</a:t>
            </a:r>
            <a:r>
              <a:rPr sz="1750" b="0" dirty="0">
                <a:solidFill>
                  <a:srgbClr val="172C42"/>
                </a:solidFill>
                <a:latin typeface="Consolas"/>
              </a:rPr>
              <a:t>);</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 </a:t>
            </a:r>
            <a:r>
              <a:rPr sz="1750" b="1" dirty="0">
                <a:solidFill>
                  <a:srgbClr val="6B3FA0"/>
                </a:solidFill>
                <a:latin typeface="Consolas"/>
              </a:rPr>
              <a:t>else</a:t>
            </a:r>
            <a:r>
              <a:rPr sz="1750" b="0" dirty="0">
                <a:solidFill>
                  <a:srgbClr val="172C42"/>
                </a:solidFill>
                <a:latin typeface="Consolas"/>
              </a:rPr>
              <a:t> {</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console.log(</a:t>
            </a:r>
            <a:r>
              <a:rPr sz="1750" b="0" dirty="0">
                <a:solidFill>
                  <a:srgbClr val="2B6B4A"/>
                </a:solidFill>
                <a:latin typeface="Consolas"/>
              </a:rPr>
              <a:t>"fail"</a:t>
            </a:r>
            <a:r>
              <a:rPr sz="1750" b="0" dirty="0">
                <a:solidFill>
                  <a:srgbClr val="172C42"/>
                </a:solidFill>
                <a:latin typeface="Consolas"/>
              </a:rPr>
              <a:t>);</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 </a:t>
            </a:r>
            <a:r>
              <a:rPr sz="1750" b="1" dirty="0">
                <a:solidFill>
                  <a:srgbClr val="6B3FA0"/>
                </a:solidFill>
                <a:latin typeface="Consolas"/>
              </a:rPr>
              <a:t>else</a:t>
            </a:r>
            <a:r>
              <a:rPr sz="1750" b="0" dirty="0">
                <a:solidFill>
                  <a:srgbClr val="172C42"/>
                </a:solidFill>
                <a:latin typeface="Consolas"/>
              </a:rPr>
              <a:t> {</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console.log(</a:t>
            </a:r>
            <a:r>
              <a:rPr sz="1750" b="0" dirty="0">
                <a:solidFill>
                  <a:srgbClr val="2B6B4A"/>
                </a:solidFill>
                <a:latin typeface="Consolas"/>
              </a:rPr>
              <a:t>"sold out"</a:t>
            </a:r>
            <a:r>
              <a:rPr sz="1750" b="0" dirty="0">
                <a:solidFill>
                  <a:srgbClr val="172C42"/>
                </a:solidFill>
                <a:latin typeface="Consolas"/>
              </a:rPr>
              <a:t>);</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a:t>
            </a:r>
            <a:endParaRPr lang="en-IN" sz="1750" b="0" dirty="0">
              <a:solidFill>
                <a:srgbClr val="172C42"/>
              </a:solidFill>
              <a:latin typeface="Consolas"/>
            </a:endParaRPr>
          </a:p>
        </p:txBody>
      </p:sp>
      <p:sp>
        <p:nvSpPr>
          <p:cNvPr id="6" name="TextBox 5"/>
          <p:cNvSpPr txBox="1"/>
          <p:nvPr/>
        </p:nvSpPr>
        <p:spPr>
          <a:xfrm>
            <a:off x="6355080" y="1645920"/>
            <a:ext cx="5349240" cy="6591548"/>
          </a:xfrm>
          <a:prstGeom prst="rect">
            <a:avLst/>
          </a:prstGeom>
          <a:noFill/>
        </p:spPr>
        <p:txBody>
          <a:bodyPr wrap="square" lIns="0" tIns="0" rIns="0" bIns="0" anchor="t">
            <a:spAutoFit/>
          </a:bodyPr>
          <a:lstStyle/>
          <a:p>
            <a:pPr>
              <a:lnSpc>
                <a:spcPts val="1950"/>
              </a:lnSpc>
              <a:spcBef>
                <a:spcPts val="0"/>
              </a:spcBef>
              <a:spcAft>
                <a:spcPts val="600"/>
              </a:spcAft>
            </a:pPr>
            <a:r>
              <a:rPr sz="1750" b="0" dirty="0">
                <a:solidFill>
                  <a:srgbClr val="172C42"/>
                </a:solidFill>
                <a:latin typeface="Consolas"/>
              </a:rPr>
              <a:t>  } </a:t>
            </a:r>
            <a:r>
              <a:rPr sz="1750" b="1" dirty="0">
                <a:solidFill>
                  <a:srgbClr val="6B3FA0"/>
                </a:solidFill>
                <a:latin typeface="Consolas"/>
              </a:rPr>
              <a:t>else</a:t>
            </a:r>
            <a:r>
              <a:rPr sz="1750" b="0" dirty="0">
                <a:solidFill>
                  <a:srgbClr val="172C42"/>
                </a:solidFill>
                <a:latin typeface="Consolas"/>
              </a:rPr>
              <a:t> </a:t>
            </a:r>
            <a:r>
              <a:rPr sz="1750" b="1" dirty="0">
                <a:solidFill>
                  <a:srgbClr val="6B3FA0"/>
                </a:solidFill>
                <a:latin typeface="Consolas"/>
              </a:rPr>
              <a:t>if</a:t>
            </a:r>
            <a:r>
              <a:rPr sz="1750" b="0" dirty="0">
                <a:solidFill>
                  <a:srgbClr val="172C42"/>
                </a:solidFill>
                <a:latin typeface="Consolas"/>
              </a:rPr>
              <a:t> (drink == </a:t>
            </a:r>
            <a:r>
              <a:rPr sz="1750" b="0" dirty="0">
                <a:solidFill>
                  <a:srgbClr val="2B6B4A"/>
                </a:solidFill>
                <a:latin typeface="Consolas"/>
              </a:rPr>
              <a:t>"water"</a:t>
            </a:r>
            <a:r>
              <a:rPr sz="1750" b="0" dirty="0">
                <a:solidFill>
                  <a:srgbClr val="172C42"/>
                </a:solidFill>
                <a:latin typeface="Consolas"/>
              </a:rPr>
              <a:t>) {</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a:t>
            </a:r>
            <a:r>
              <a:rPr sz="1750" b="1" dirty="0">
                <a:solidFill>
                  <a:srgbClr val="6B3FA0"/>
                </a:solidFill>
                <a:latin typeface="Consolas"/>
              </a:rPr>
              <a:t>if</a:t>
            </a:r>
            <a:r>
              <a:rPr sz="1750" b="0" dirty="0">
                <a:solidFill>
                  <a:srgbClr val="172C42"/>
                </a:solidFill>
                <a:latin typeface="Consolas"/>
              </a:rPr>
              <a:t> (stock &gt; </a:t>
            </a:r>
            <a:r>
              <a:rPr sz="1750" b="0" dirty="0">
                <a:solidFill>
                  <a:srgbClr val="175D9A"/>
                </a:solidFill>
                <a:latin typeface="Consolas"/>
              </a:rPr>
              <a:t>0</a:t>
            </a:r>
            <a:r>
              <a:rPr sz="1750" b="0" dirty="0">
                <a:solidFill>
                  <a:srgbClr val="172C42"/>
                </a:solidFill>
                <a:latin typeface="Consolas"/>
              </a:rPr>
              <a:t>) {</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a:t>
            </a:r>
            <a:r>
              <a:rPr sz="1750" b="1" dirty="0">
                <a:solidFill>
                  <a:srgbClr val="6B3FA0"/>
                </a:solidFill>
                <a:latin typeface="Consolas"/>
              </a:rPr>
              <a:t>if</a:t>
            </a:r>
            <a:r>
              <a:rPr sz="1750" b="0" dirty="0">
                <a:solidFill>
                  <a:srgbClr val="172C42"/>
                </a:solidFill>
                <a:latin typeface="Consolas"/>
              </a:rPr>
              <a:t> (</a:t>
            </a:r>
            <a:r>
              <a:rPr sz="1750" b="0" dirty="0" err="1">
                <a:solidFill>
                  <a:srgbClr val="172C42"/>
                </a:solidFill>
                <a:latin typeface="Consolas"/>
              </a:rPr>
              <a:t>upiPin</a:t>
            </a:r>
            <a:r>
              <a:rPr sz="1750" b="0" dirty="0">
                <a:solidFill>
                  <a:srgbClr val="172C42"/>
                </a:solidFill>
                <a:latin typeface="Consolas"/>
              </a:rPr>
              <a:t> == </a:t>
            </a:r>
            <a:r>
              <a:rPr sz="1750" b="0" dirty="0">
                <a:solidFill>
                  <a:srgbClr val="2B6B4A"/>
                </a:solidFill>
                <a:latin typeface="Consolas"/>
              </a:rPr>
              <a:t>"1234"</a:t>
            </a:r>
            <a:r>
              <a:rPr sz="1750" b="0" dirty="0">
                <a:solidFill>
                  <a:srgbClr val="172C42"/>
                </a:solidFill>
                <a:latin typeface="Consolas"/>
              </a:rPr>
              <a:t>) {</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stock = stock - </a:t>
            </a:r>
            <a:r>
              <a:rPr sz="1750" b="0" dirty="0">
                <a:solidFill>
                  <a:srgbClr val="175D9A"/>
                </a:solidFill>
                <a:latin typeface="Consolas"/>
              </a:rPr>
              <a:t>1</a:t>
            </a:r>
            <a:r>
              <a:rPr sz="1750" b="0" dirty="0">
                <a:solidFill>
                  <a:srgbClr val="172C42"/>
                </a:solidFill>
                <a:latin typeface="Consolas"/>
              </a:rPr>
              <a:t>;</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earnings = earnings + </a:t>
            </a:r>
            <a:r>
              <a:rPr sz="1750" b="0" dirty="0">
                <a:solidFill>
                  <a:srgbClr val="175D9A"/>
                </a:solidFill>
                <a:latin typeface="Consolas"/>
              </a:rPr>
              <a:t>20</a:t>
            </a:r>
            <a:r>
              <a:rPr sz="1750" b="0" dirty="0">
                <a:solidFill>
                  <a:srgbClr val="172C42"/>
                </a:solidFill>
                <a:latin typeface="Consolas"/>
              </a:rPr>
              <a:t>;</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console.log(</a:t>
            </a:r>
            <a:r>
              <a:rPr sz="1750" b="0" dirty="0">
                <a:solidFill>
                  <a:srgbClr val="2B6B4A"/>
                </a:solidFill>
                <a:latin typeface="Consolas"/>
              </a:rPr>
              <a:t>"take water"</a:t>
            </a:r>
            <a:r>
              <a:rPr sz="1750" b="0" dirty="0">
                <a:solidFill>
                  <a:srgbClr val="172C42"/>
                </a:solidFill>
                <a:latin typeface="Consolas"/>
              </a:rPr>
              <a:t>);</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 </a:t>
            </a:r>
            <a:r>
              <a:rPr sz="1750" b="1" dirty="0">
                <a:solidFill>
                  <a:srgbClr val="6B3FA0"/>
                </a:solidFill>
                <a:latin typeface="Consolas"/>
              </a:rPr>
              <a:t>else</a:t>
            </a:r>
            <a:r>
              <a:rPr sz="1750" b="0" dirty="0">
                <a:solidFill>
                  <a:srgbClr val="172C42"/>
                </a:solidFill>
                <a:latin typeface="Consolas"/>
              </a:rPr>
              <a:t> {</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console.log(</a:t>
            </a:r>
            <a:r>
              <a:rPr sz="1750" b="0" dirty="0">
                <a:solidFill>
                  <a:srgbClr val="2B6B4A"/>
                </a:solidFill>
                <a:latin typeface="Consolas"/>
              </a:rPr>
              <a:t>"fail"</a:t>
            </a:r>
            <a:r>
              <a:rPr sz="1750" b="0" dirty="0">
                <a:solidFill>
                  <a:srgbClr val="172C42"/>
                </a:solidFill>
                <a:latin typeface="Consolas"/>
              </a:rPr>
              <a:t>);</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 </a:t>
            </a:r>
            <a:r>
              <a:rPr sz="1750" b="1" dirty="0">
                <a:solidFill>
                  <a:srgbClr val="6B3FA0"/>
                </a:solidFill>
                <a:latin typeface="Consolas"/>
              </a:rPr>
              <a:t>else</a:t>
            </a:r>
            <a:r>
              <a:rPr sz="1750" b="0" dirty="0">
                <a:solidFill>
                  <a:srgbClr val="172C42"/>
                </a:solidFill>
                <a:latin typeface="Consolas"/>
              </a:rPr>
              <a:t> {</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console.log(</a:t>
            </a:r>
            <a:r>
              <a:rPr sz="1750" b="0" dirty="0">
                <a:solidFill>
                  <a:srgbClr val="2B6B4A"/>
                </a:solidFill>
                <a:latin typeface="Consolas"/>
              </a:rPr>
              <a:t>"sold out"</a:t>
            </a:r>
            <a:r>
              <a:rPr sz="1750" b="0" dirty="0">
                <a:solidFill>
                  <a:srgbClr val="172C42"/>
                </a:solidFill>
                <a:latin typeface="Consolas"/>
              </a:rPr>
              <a:t>);</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 </a:t>
            </a:r>
            <a:r>
              <a:rPr sz="1750" b="1" dirty="0">
                <a:solidFill>
                  <a:srgbClr val="6B3FA0"/>
                </a:solidFill>
                <a:latin typeface="Consolas"/>
              </a:rPr>
              <a:t>else</a:t>
            </a:r>
            <a:r>
              <a:rPr sz="1750" b="0" dirty="0">
                <a:solidFill>
                  <a:srgbClr val="172C42"/>
                </a:solidFill>
                <a:latin typeface="Consolas"/>
              </a:rPr>
              <a:t> {</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console.log(</a:t>
            </a:r>
            <a:r>
              <a:rPr sz="1750" b="0" dirty="0">
                <a:solidFill>
                  <a:srgbClr val="2B6B4A"/>
                </a:solidFill>
                <a:latin typeface="Consolas"/>
              </a:rPr>
              <a:t>"fail"</a:t>
            </a:r>
            <a:r>
              <a:rPr sz="1750" b="0" dirty="0">
                <a:solidFill>
                  <a:srgbClr val="172C42"/>
                </a:solidFill>
                <a:latin typeface="Consolas"/>
              </a:rPr>
              <a:t>);</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a:t>
            </a:r>
            <a:endParaRPr lang="en-IN" sz="1750" b="0" dirty="0">
              <a:solidFill>
                <a:srgbClr val="172C42"/>
              </a:solidFill>
              <a:latin typeface="Consolas"/>
            </a:endParaRPr>
          </a:p>
          <a:p>
            <a:pPr>
              <a:lnSpc>
                <a:spcPts val="1950"/>
              </a:lnSpc>
              <a:spcBef>
                <a:spcPts val="0"/>
              </a:spcBef>
              <a:spcAft>
                <a:spcPts val="600"/>
              </a:spcAft>
            </a:pPr>
            <a:r>
              <a:rPr sz="1750" b="0" dirty="0" err="1">
                <a:solidFill>
                  <a:srgbClr val="172C42"/>
                </a:solidFill>
                <a:latin typeface="Consolas"/>
              </a:rPr>
              <a:t>buyDrink</a:t>
            </a:r>
            <a:r>
              <a:rPr sz="1750" b="0" dirty="0">
                <a:solidFill>
                  <a:srgbClr val="172C42"/>
                </a:solidFill>
                <a:latin typeface="Consolas"/>
              </a:rPr>
              <a:t>(</a:t>
            </a:r>
            <a:r>
              <a:rPr sz="1750" b="0" dirty="0">
                <a:solidFill>
                  <a:srgbClr val="2B6B4A"/>
                </a:solidFill>
                <a:latin typeface="Consolas"/>
              </a:rPr>
              <a:t>"cola"</a:t>
            </a:r>
            <a:r>
              <a:rPr sz="1750" b="0" dirty="0">
                <a:solidFill>
                  <a:srgbClr val="172C42"/>
                </a:solidFill>
                <a:latin typeface="Consolas"/>
              </a:rPr>
              <a:t>, </a:t>
            </a:r>
            <a:r>
              <a:rPr sz="1750" b="0" dirty="0">
                <a:solidFill>
                  <a:srgbClr val="2B6B4A"/>
                </a:solidFill>
                <a:latin typeface="Consolas"/>
              </a:rPr>
              <a:t>"1234"</a:t>
            </a:r>
            <a:r>
              <a:rPr sz="1750" b="0" dirty="0">
                <a:solidFill>
                  <a:srgbClr val="172C42"/>
                </a:solidFill>
                <a:latin typeface="Consolas"/>
              </a:rPr>
              <a:t>);</a:t>
            </a:r>
            <a:endParaRPr lang="en-IN" sz="1750" b="0" dirty="0">
              <a:solidFill>
                <a:srgbClr val="172C42"/>
              </a:solidFill>
              <a:latin typeface="Consolas"/>
            </a:endParaRPr>
          </a:p>
          <a:p>
            <a:pPr>
              <a:lnSpc>
                <a:spcPts val="1950"/>
              </a:lnSpc>
              <a:spcBef>
                <a:spcPts val="0"/>
              </a:spcBef>
              <a:spcAft>
                <a:spcPts val="600"/>
              </a:spcAft>
            </a:pPr>
            <a:r>
              <a:rPr sz="1750" b="0" dirty="0" err="1">
                <a:solidFill>
                  <a:srgbClr val="172C42"/>
                </a:solidFill>
                <a:latin typeface="Consolas"/>
              </a:rPr>
              <a:t>buyDrink</a:t>
            </a:r>
            <a:r>
              <a:rPr sz="1750" b="0" dirty="0">
                <a:solidFill>
                  <a:srgbClr val="172C42"/>
                </a:solidFill>
                <a:latin typeface="Consolas"/>
              </a:rPr>
              <a:t>(</a:t>
            </a:r>
            <a:r>
              <a:rPr sz="1750" b="0" dirty="0">
                <a:solidFill>
                  <a:srgbClr val="2B6B4A"/>
                </a:solidFill>
                <a:latin typeface="Consolas"/>
              </a:rPr>
              <a:t>"water"</a:t>
            </a:r>
            <a:r>
              <a:rPr sz="1750" b="0" dirty="0">
                <a:solidFill>
                  <a:srgbClr val="172C42"/>
                </a:solidFill>
                <a:latin typeface="Consolas"/>
              </a:rPr>
              <a:t>, </a:t>
            </a:r>
            <a:r>
              <a:rPr sz="1750" b="0" dirty="0">
                <a:solidFill>
                  <a:srgbClr val="2B6B4A"/>
                </a:solidFill>
                <a:latin typeface="Consolas"/>
              </a:rPr>
              <a:t>"0000"</a:t>
            </a:r>
            <a:r>
              <a:rPr sz="1750" b="0" dirty="0">
                <a:solidFill>
                  <a:srgbClr val="172C42"/>
                </a:solidFill>
                <a:latin typeface="Consolas"/>
              </a:rPr>
              <a:t>);</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console.log(</a:t>
            </a:r>
            <a:r>
              <a:rPr sz="1750" b="0" dirty="0">
                <a:solidFill>
                  <a:srgbClr val="2B6B4A"/>
                </a:solidFill>
                <a:latin typeface="Consolas"/>
              </a:rPr>
              <a:t>"stock"</a:t>
            </a:r>
            <a:r>
              <a:rPr sz="1750" b="0" dirty="0">
                <a:solidFill>
                  <a:srgbClr val="172C42"/>
                </a:solidFill>
                <a:latin typeface="Consolas"/>
              </a:rPr>
              <a:t>, stock,</a:t>
            </a:r>
            <a:endParaRPr lang="en-IN" sz="1750" b="0" dirty="0">
              <a:solidFill>
                <a:srgbClr val="172C42"/>
              </a:solidFill>
              <a:latin typeface="Consolas"/>
            </a:endParaRPr>
          </a:p>
          <a:p>
            <a:pPr>
              <a:lnSpc>
                <a:spcPts val="1950"/>
              </a:lnSpc>
              <a:spcBef>
                <a:spcPts val="0"/>
              </a:spcBef>
              <a:spcAft>
                <a:spcPts val="600"/>
              </a:spcAft>
            </a:pPr>
            <a:r>
              <a:rPr sz="1750" b="0" dirty="0">
                <a:solidFill>
                  <a:srgbClr val="172C42"/>
                </a:solidFill>
                <a:latin typeface="Consolas"/>
              </a:rPr>
              <a:t>  </a:t>
            </a:r>
            <a:r>
              <a:rPr sz="1750" b="0" dirty="0">
                <a:solidFill>
                  <a:srgbClr val="2B6B4A"/>
                </a:solidFill>
                <a:latin typeface="Consolas"/>
              </a:rPr>
              <a:t>"earnings"</a:t>
            </a:r>
            <a:r>
              <a:rPr sz="1750" b="0" dirty="0">
                <a:solidFill>
                  <a:srgbClr val="172C42"/>
                </a:solidFill>
                <a:latin typeface="Consolas"/>
              </a:rPr>
              <a:t>, earnings);</a:t>
            </a:r>
            <a:endParaRPr lang="en-IN" sz="1750" b="0" dirty="0">
              <a:solidFill>
                <a:srgbClr val="172C42"/>
              </a:solidFill>
              <a:latin typeface="Consolas"/>
            </a:endParaRPr>
          </a:p>
        </p:txBody>
      </p:sp>
    </p:spTree>
    <p:extLst>
      <p:ext uri="{BB962C8B-B14F-4D97-AF65-F5344CB8AC3E}">
        <p14:creationId xmlns:p14="http://schemas.microsoft.com/office/powerpoint/2010/main" val="34253708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Design-pattern clue: Strategy</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How could buyDrink() use a different payment method without changing its purchase logic?</a:t>
            </a:r>
            <a:endParaRPr lang="en-US"/>
          </a:p>
        </p:txBody>
      </p:sp>
      <p:sp>
        <p:nvSpPr>
          <p:cNvPr id="4" name="TextBox 3"/>
          <p:cNvSpPr txBox="1"/>
          <p:nvPr/>
        </p:nvSpPr>
        <p:spPr>
          <a:xfrm>
            <a:off x="594360" y="2011680"/>
            <a:ext cx="6629400" cy="376065"/>
          </a:xfrm>
          <a:prstGeom prst="rect">
            <a:avLst/>
          </a:prstGeom>
          <a:noFill/>
        </p:spPr>
        <p:txBody>
          <a:bodyPr wrap="square" lIns="0" tIns="0" rIns="0" bIns="0">
            <a:spAutoFit/>
          </a:bodyPr>
          <a:lstStyle/>
          <a:p>
            <a:pPr>
              <a:lnSpc>
                <a:spcPct val="105000"/>
              </a:lnSpc>
              <a:spcAft>
                <a:spcPts val="0"/>
              </a:spcAft>
            </a:pPr>
            <a:r>
              <a:rPr lang="en-IN" sz="2400" b="1">
                <a:solidFill>
                  <a:srgbClr val="007D87"/>
                </a:solidFill>
              </a:rPr>
              <a:t>Same machine. Different cashier.</a:t>
            </a:r>
          </a:p>
        </p:txBody>
      </p:sp>
      <p:pic>
        <p:nvPicPr>
          <p:cNvPr id="5" name="Picture 4" descr="image-b56bae997bd1570ddbfeac91140a75a4.jpg"/>
          <p:cNvPicPr>
            <a:picLocks noChangeAspect="1"/>
          </p:cNvPicPr>
          <p:nvPr/>
        </p:nvPicPr>
        <p:blipFill>
          <a:blip r:embed="rId3"/>
          <a:stretch>
            <a:fillRect/>
          </a:stretch>
        </p:blipFill>
        <p:spPr>
          <a:xfrm>
            <a:off x="859502" y="2651759"/>
            <a:ext cx="6099115" cy="3337560"/>
          </a:xfrm>
          <a:prstGeom prst="rect">
            <a:avLst/>
          </a:prstGeom>
        </p:spPr>
      </p:pic>
      <p:sp>
        <p:nvSpPr>
          <p:cNvPr id="6" name="TextBox 5"/>
          <p:cNvSpPr txBox="1"/>
          <p:nvPr/>
        </p:nvSpPr>
        <p:spPr>
          <a:xfrm>
            <a:off x="7498079" y="2011680"/>
            <a:ext cx="4069080" cy="266420"/>
          </a:xfrm>
          <a:prstGeom prst="rect">
            <a:avLst/>
          </a:prstGeom>
          <a:noFill/>
        </p:spPr>
        <p:txBody>
          <a:bodyPr wrap="square" lIns="0" tIns="0" rIns="0" bIns="0">
            <a:spAutoFit/>
          </a:bodyPr>
          <a:lstStyle/>
          <a:p>
            <a:pPr>
              <a:lnSpc>
                <a:spcPct val="105000"/>
              </a:lnSpc>
              <a:spcAft>
                <a:spcPts val="0"/>
              </a:spcAft>
            </a:pPr>
            <a:r>
              <a:rPr lang="en-IN" sz="1700" b="1">
                <a:solidFill>
                  <a:srgbClr val="007D87"/>
                </a:solidFill>
              </a:rPr>
              <a:t>CONTEXT</a:t>
            </a:r>
          </a:p>
        </p:txBody>
      </p:sp>
      <p:sp>
        <p:nvSpPr>
          <p:cNvPr id="7" name="TextBox 6"/>
          <p:cNvSpPr txBox="1"/>
          <p:nvPr/>
        </p:nvSpPr>
        <p:spPr>
          <a:xfrm>
            <a:off x="7498079" y="2423160"/>
            <a:ext cx="4069080" cy="700256"/>
          </a:xfrm>
          <a:prstGeom prst="rect">
            <a:avLst/>
          </a:prstGeom>
          <a:noFill/>
        </p:spPr>
        <p:txBody>
          <a:bodyPr wrap="square" lIns="0" tIns="0" rIns="0" bIns="0">
            <a:spAutoFit/>
          </a:bodyPr>
          <a:lstStyle/>
          <a:p>
            <a:pPr>
              <a:lnSpc>
                <a:spcPct val="105000"/>
              </a:lnSpc>
              <a:spcAft>
                <a:spcPts val="0"/>
              </a:spcAft>
            </a:pPr>
            <a:r>
              <a:rPr lang="en-IN" sz="2200" b="1">
                <a:solidFill>
                  <a:srgbClr val="172C42"/>
                </a:solidFill>
              </a:rPr>
              <a:t>VendingMachine delegates
payment approval.</a:t>
            </a:r>
          </a:p>
        </p:txBody>
      </p:sp>
      <p:sp>
        <p:nvSpPr>
          <p:cNvPr id="8" name="TextBox 7"/>
          <p:cNvSpPr txBox="1"/>
          <p:nvPr/>
        </p:nvSpPr>
        <p:spPr>
          <a:xfrm>
            <a:off x="7498079" y="3337560"/>
            <a:ext cx="4069080" cy="266420"/>
          </a:xfrm>
          <a:prstGeom prst="rect">
            <a:avLst/>
          </a:prstGeom>
          <a:noFill/>
        </p:spPr>
        <p:txBody>
          <a:bodyPr wrap="square" lIns="0" tIns="0" rIns="0" bIns="0">
            <a:spAutoFit/>
          </a:bodyPr>
          <a:lstStyle/>
          <a:p>
            <a:pPr>
              <a:lnSpc>
                <a:spcPct val="105000"/>
              </a:lnSpc>
              <a:spcAft>
                <a:spcPts val="0"/>
              </a:spcAft>
            </a:pPr>
            <a:r>
              <a:rPr lang="en-IN" sz="1700" b="1">
                <a:solidFill>
                  <a:srgbClr val="007D87"/>
                </a:solidFill>
              </a:rPr>
              <a:t>COMMON CONTRACT</a:t>
            </a:r>
          </a:p>
        </p:txBody>
      </p:sp>
      <p:sp>
        <p:nvSpPr>
          <p:cNvPr id="9" name="TextBox 8"/>
          <p:cNvSpPr txBox="1"/>
          <p:nvPr/>
        </p:nvSpPr>
        <p:spPr>
          <a:xfrm>
            <a:off x="7498079" y="3730752"/>
            <a:ext cx="4069080" cy="457200"/>
          </a:xfrm>
          <a:prstGeom prst="rect">
            <a:avLst/>
          </a:prstGeom>
          <a:noFill/>
        </p:spPr>
        <p:txBody>
          <a:bodyPr wrap="square" lIns="0" tIns="0" rIns="0" bIns="0">
            <a:spAutoFit/>
          </a:bodyPr>
          <a:lstStyle/>
          <a:p>
            <a:pPr>
              <a:lnSpc>
                <a:spcPct val="105000"/>
              </a:lnSpc>
              <a:spcAft>
                <a:spcPts val="0"/>
              </a:spcAft>
            </a:pPr>
            <a:r>
              <a:rPr sz="2300" b="0">
                <a:solidFill>
                  <a:srgbClr val="172C42"/>
                </a:solidFill>
                <a:latin typeface="Consolas"/>
              </a:rPr>
              <a:t>approve(request)</a:t>
            </a:r>
          </a:p>
        </p:txBody>
      </p:sp>
      <p:sp>
        <p:nvSpPr>
          <p:cNvPr id="10" name="TextBox 9"/>
          <p:cNvSpPr txBox="1"/>
          <p:nvPr/>
        </p:nvSpPr>
        <p:spPr>
          <a:xfrm>
            <a:off x="7498079" y="4507992"/>
            <a:ext cx="4069080" cy="266420"/>
          </a:xfrm>
          <a:prstGeom prst="rect">
            <a:avLst/>
          </a:prstGeom>
          <a:noFill/>
        </p:spPr>
        <p:txBody>
          <a:bodyPr wrap="square" lIns="0" tIns="0" rIns="0" bIns="0">
            <a:spAutoFit/>
          </a:bodyPr>
          <a:lstStyle/>
          <a:p>
            <a:pPr>
              <a:lnSpc>
                <a:spcPct val="105000"/>
              </a:lnSpc>
              <a:spcAft>
                <a:spcPts val="0"/>
              </a:spcAft>
            </a:pPr>
            <a:r>
              <a:rPr lang="en-IN" sz="1700" b="1">
                <a:solidFill>
                  <a:srgbClr val="007D87"/>
                </a:solidFill>
              </a:rPr>
              <a:t>INTERCHANGEABLE STRATEGIES</a:t>
            </a:r>
          </a:p>
        </p:txBody>
      </p:sp>
      <p:sp>
        <p:nvSpPr>
          <p:cNvPr id="11" name="TextBox 10"/>
          <p:cNvSpPr txBox="1"/>
          <p:nvPr/>
        </p:nvSpPr>
        <p:spPr>
          <a:xfrm>
            <a:off x="7498079" y="4919472"/>
            <a:ext cx="4069080" cy="329064"/>
          </a:xfrm>
          <a:prstGeom prst="rect">
            <a:avLst/>
          </a:prstGeom>
          <a:noFill/>
        </p:spPr>
        <p:txBody>
          <a:bodyPr wrap="square" lIns="0" tIns="0" rIns="0" bIns="0">
            <a:spAutoFit/>
          </a:bodyPr>
          <a:lstStyle/>
          <a:p>
            <a:pPr>
              <a:lnSpc>
                <a:spcPct val="105000"/>
              </a:lnSpc>
              <a:spcAft>
                <a:spcPts val="0"/>
              </a:spcAft>
            </a:pPr>
            <a:r>
              <a:rPr lang="en-IN" sz="2100" b="1">
                <a:solidFill>
                  <a:srgbClr val="172C42"/>
                </a:solidFill>
              </a:rPr>
              <a:t>UpiPayment or CashPayment</a:t>
            </a:r>
          </a:p>
        </p:txBody>
      </p:sp>
      <p:sp>
        <p:nvSpPr>
          <p:cNvPr id="12" name="TextBox 11"/>
          <p:cNvSpPr txBox="1"/>
          <p:nvPr/>
        </p:nvSpPr>
        <p:spPr>
          <a:xfrm>
            <a:off x="7498079" y="5495544"/>
            <a:ext cx="4069080" cy="266420"/>
          </a:xfrm>
          <a:prstGeom prst="rect">
            <a:avLst/>
          </a:prstGeom>
          <a:noFill/>
        </p:spPr>
        <p:txBody>
          <a:bodyPr wrap="square" lIns="0" tIns="0" rIns="0" bIns="0">
            <a:spAutoFit/>
          </a:bodyPr>
          <a:lstStyle/>
          <a:p>
            <a:pPr>
              <a:lnSpc>
                <a:spcPct val="105000"/>
              </a:lnSpc>
              <a:spcAft>
                <a:spcPts val="0"/>
              </a:spcAft>
            </a:pPr>
            <a:r>
              <a:rPr lang="en-US" sz="1700" b="0">
                <a:solidFill>
                  <a:srgbClr val="3C4A58"/>
                </a:solidFill>
              </a:rPr>
              <a:t>CashPayment is a possible extension.</a:t>
            </a:r>
          </a:p>
        </p:txBody>
      </p:sp>
      <p:sp>
        <p:nvSpPr>
          <p:cNvPr id="13" name="TextBox 12"/>
          <p:cNvSpPr txBox="1"/>
          <p:nvPr/>
        </p:nvSpPr>
        <p:spPr>
          <a:xfrm>
            <a:off x="594360" y="6327648"/>
            <a:ext cx="10972800" cy="365760"/>
          </a:xfrm>
          <a:prstGeom prst="rect">
            <a:avLst/>
          </a:prstGeom>
          <a:noFill/>
        </p:spPr>
        <p:txBody>
          <a:bodyPr wrap="square" lIns="0" tIns="0" rIns="0" bIns="0">
            <a:spAutoFit/>
          </a:bodyPr>
          <a:lstStyle/>
          <a:p>
            <a:pPr>
              <a:lnSpc>
                <a:spcPct val="105000"/>
              </a:lnSpc>
              <a:spcAft>
                <a:spcPts val="0"/>
              </a:spcAft>
            </a:pPr>
            <a:r>
              <a:rPr sz="2200" b="1">
                <a:solidFill>
                  <a:srgbClr val="007D87"/>
                </a:solidFill>
              </a:rPr>
              <a:t>Your move: which part of slide 43 belongs inside a payment strategy?</a:t>
            </a:r>
          </a:p>
        </p:txBody>
      </p:sp>
    </p:spTree>
    <p:extLst>
      <p:ext uri="{BB962C8B-B14F-4D97-AF65-F5344CB8AC3E}">
        <p14:creationId xmlns:p14="http://schemas.microsoft.com/office/powerpoint/2010/main" val="30937311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Vending machine: weak and repaired design</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The repair separates payment behavior and gives the machine ownership of its state.</a:t>
            </a:r>
            <a:endParaRPr lang="en-US"/>
          </a:p>
        </p:txBody>
      </p:sp>
      <p:graphicFrame>
        <p:nvGraphicFramePr>
          <p:cNvPr id="4" name="Table 3"/>
          <p:cNvGraphicFramePr>
            <a:graphicFrameLocks noGrp="1"/>
          </p:cNvGraphicFramePr>
          <p:nvPr>
            <p:extLst>
              <p:ext uri="{D42A27DB-BD31-4B8C-83A1-F6EECF244321}">
                <p14:modId xmlns:p14="http://schemas.microsoft.com/office/powerpoint/2010/main" val="3582586473"/>
              </p:ext>
            </p:extLst>
          </p:nvPr>
        </p:nvGraphicFramePr>
        <p:xfrm>
          <a:off x="594360" y="1938528"/>
          <a:ext cx="11000232" cy="310896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599432">
                  <a:extLst>
                    <a:ext uri="{9D8B030D-6E8A-4147-A177-3AD203B41FA5}">
                      <a16:colId xmlns:a16="http://schemas.microsoft.com/office/drawing/2014/main" val="20002"/>
                    </a:ext>
                  </a:extLst>
                </a:gridCol>
              </a:tblGrid>
              <a:tr h="713232">
                <a:tc>
                  <a:txBody>
                    <a:bodyPr/>
                    <a:lstStyle/>
                    <a:p>
                      <a:pPr algn="l">
                        <a:spcAft>
                          <a:spcPts val="400"/>
                        </a:spcAft>
                      </a:pPr>
                      <a:r>
                        <a:rPr sz="1700" b="1">
                          <a:solidFill>
                            <a:srgbClr val="FFFFFF"/>
                          </a:solidFill>
                        </a:rPr>
                        <a:t>Pattern / approach</a:t>
                      </a:r>
                    </a:p>
                  </a:txBody>
                  <a:tcPr marL="164592" marR="164592" marT="109728" marB="73152">
                    <a:lnL>
                      <a:noFill/>
                    </a:lnL>
                    <a:lnR>
                      <a:noFill/>
                    </a:lnR>
                    <a:lnT>
                      <a:noFill/>
                    </a:lnT>
                    <a:lnB>
                      <a:noFill/>
                    </a:lnB>
                    <a:solidFill>
                      <a:srgbClr val="172C42"/>
                    </a:solidFill>
                  </a:tcPr>
                </a:tc>
                <a:tc>
                  <a:txBody>
                    <a:bodyPr/>
                    <a:lstStyle/>
                    <a:p>
                      <a:pPr algn="l">
                        <a:spcAft>
                          <a:spcPts val="400"/>
                        </a:spcAft>
                      </a:pPr>
                      <a:r>
                        <a:rPr sz="1700" b="1">
                          <a:solidFill>
                            <a:srgbClr val="FFFFFF"/>
                          </a:solidFill>
                        </a:rPr>
                        <a:t>Weak file</a:t>
                      </a:r>
                    </a:p>
                  </a:txBody>
                  <a:tcPr marL="164592" marR="164592" marT="109728" marB="73152">
                    <a:lnL>
                      <a:noFill/>
                    </a:lnL>
                    <a:lnR>
                      <a:noFill/>
                    </a:lnR>
                    <a:lnT>
                      <a:noFill/>
                    </a:lnT>
                    <a:lnB>
                      <a:noFill/>
                    </a:lnB>
                    <a:solidFill>
                      <a:srgbClr val="172C42"/>
                    </a:solidFill>
                  </a:tcPr>
                </a:tc>
                <a:tc>
                  <a:txBody>
                    <a:bodyPr/>
                    <a:lstStyle/>
                    <a:p>
                      <a:pPr algn="l">
                        <a:spcAft>
                          <a:spcPts val="400"/>
                        </a:spcAft>
                      </a:pPr>
                      <a:r>
                        <a:rPr sz="1700" b="1">
                          <a:solidFill>
                            <a:srgbClr val="FFFFFF"/>
                          </a:solidFill>
                        </a:rPr>
                        <a:t>Repaired file</a:t>
                      </a:r>
                    </a:p>
                  </a:txBody>
                  <a:tcPr marL="164592" marR="164592" marT="109728" marB="73152">
                    <a:lnL>
                      <a:noFill/>
                    </a:lnL>
                    <a:lnR>
                      <a:noFill/>
                    </a:lnR>
                    <a:lnT>
                      <a:noFill/>
                    </a:lnT>
                    <a:lnB>
                      <a:noFill/>
                    </a:lnB>
                    <a:solidFill>
                      <a:srgbClr val="172C42"/>
                    </a:solidFill>
                  </a:tcPr>
                </a:tc>
                <a:extLst>
                  <a:ext uri="{0D108BD9-81ED-4DB2-BD59-A6C34878D82A}">
                    <a16:rowId xmlns:a16="http://schemas.microsoft.com/office/drawing/2014/main" val="10000"/>
                  </a:ext>
                </a:extLst>
              </a:tr>
              <a:tr h="1298448">
                <a:tc>
                  <a:txBody>
                    <a:bodyPr/>
                    <a:lstStyle/>
                    <a:p>
                      <a:pPr algn="l">
                        <a:spcAft>
                          <a:spcPts val="400"/>
                        </a:spcAft>
                      </a:pPr>
                      <a:r>
                        <a:rPr sz="1800" b="1">
                          <a:solidFill>
                            <a:srgbClr val="172C42"/>
                          </a:solidFill>
                        </a:rPr>
                        <a:t>Facade-like entry point</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buyDrink is one long pile of if blocks for stock, PIN, price, and the screen message.</a:t>
                      </a:r>
                    </a:p>
                  </a:txBody>
                  <a:tcPr marL="164592" marR="164592" marT="109728" marB="73152">
                    <a:lnL>
                      <a:noFill/>
                    </a:lnL>
                    <a:lnR>
                      <a:noFill/>
                    </a:lnR>
                    <a:lnT>
                      <a:noFill/>
                    </a:lnT>
                    <a:lnB>
                      <a:noFill/>
                    </a:lnB>
                    <a:solidFill>
                      <a:srgbClr val="EEF2F5"/>
                    </a:solidFill>
                  </a:tcPr>
                </a:tc>
                <a:tc>
                  <a:txBody>
                    <a:bodyPr/>
                    <a:lstStyle/>
                    <a:p>
                      <a:pPr algn="l">
                        <a:spcAft>
                          <a:spcPts val="400"/>
                        </a:spcAft>
                      </a:pPr>
                      <a:r>
                        <a:rPr sz="1800" b="0">
                          <a:solidFill>
                            <a:srgbClr val="172C42"/>
                          </a:solidFill>
                        </a:rPr>
                        <a:t>VendingMachine.buy is the one door. It checks stock, asks for payment, then updates the machine.</a:t>
                      </a:r>
                    </a:p>
                  </a:txBody>
                  <a:tcPr marL="164592" marR="164592" marT="109728" marB="73152">
                    <a:lnL>
                      <a:noFill/>
                    </a:lnL>
                    <a:lnR>
                      <a:noFill/>
                    </a:lnR>
                    <a:lnT>
                      <a:noFill/>
                    </a:lnT>
                    <a:lnB>
                      <a:noFill/>
                    </a:lnB>
                    <a:solidFill>
                      <a:srgbClr val="EEF2F5"/>
                    </a:solidFill>
                  </a:tcPr>
                </a:tc>
                <a:extLst>
                  <a:ext uri="{0D108BD9-81ED-4DB2-BD59-A6C34878D82A}">
                    <a16:rowId xmlns:a16="http://schemas.microsoft.com/office/drawing/2014/main" val="10001"/>
                  </a:ext>
                </a:extLst>
              </a:tr>
              <a:tr h="1097280">
                <a:tc>
                  <a:txBody>
                    <a:bodyPr/>
                    <a:lstStyle/>
                    <a:p>
                      <a:pPr algn="l">
                        <a:spcAft>
                          <a:spcPts val="400"/>
                        </a:spcAft>
                      </a:pPr>
                      <a:r>
                        <a:rPr sz="1800" b="1">
                          <a:solidFill>
                            <a:srgbClr val="172C42"/>
                          </a:solidFill>
                        </a:rPr>
                        <a:t>Strategy</a:t>
                      </a:r>
                    </a:p>
                  </a:txBody>
                  <a:tcPr marL="164592" marR="164592" marT="109728" marB="73152">
                    <a:lnL>
                      <a:noFill/>
                    </a:lnL>
                    <a:lnR>
                      <a:noFill/>
                    </a:lnR>
                    <a:lnT>
                      <a:noFill/>
                    </a:lnT>
                    <a:lnB>
                      <a:noFill/>
                    </a:lnB>
                    <a:solidFill>
                      <a:srgbClr val="FFFFFF"/>
                    </a:solidFill>
                  </a:tcPr>
                </a:tc>
                <a:tc>
                  <a:txBody>
                    <a:bodyPr/>
                    <a:lstStyle/>
                    <a:p>
                      <a:pPr algn="l">
                        <a:spcAft>
                          <a:spcPts val="400"/>
                        </a:spcAft>
                      </a:pPr>
                      <a:r>
                        <a:rPr sz="1800" b="0">
                          <a:solidFill>
                            <a:srgbClr val="172C42"/>
                          </a:solidFill>
                        </a:rPr>
                        <a:t>The UPI PIN "1234" is checked inside buyDrink.</a:t>
                      </a:r>
                    </a:p>
                  </a:txBody>
                  <a:tcPr marL="164592" marR="164592" marT="109728" marB="73152">
                    <a:lnL>
                      <a:noFill/>
                    </a:lnL>
                    <a:lnR>
                      <a:noFill/>
                    </a:lnR>
                    <a:lnT>
                      <a:noFill/>
                    </a:lnT>
                    <a:lnB>
                      <a:noFill/>
                    </a:lnB>
                    <a:solidFill>
                      <a:srgbClr val="FFFFFF"/>
                    </a:solidFill>
                  </a:tcPr>
                </a:tc>
                <a:tc>
                  <a:txBody>
                    <a:bodyPr/>
                    <a:lstStyle/>
                    <a:p>
                      <a:pPr algn="l">
                        <a:spcAft>
                          <a:spcPts val="400"/>
                        </a:spcAft>
                      </a:pPr>
                      <a:r>
                        <a:rPr sz="1800" b="0" dirty="0" err="1">
                          <a:solidFill>
                            <a:srgbClr val="172C42"/>
                          </a:solidFill>
                        </a:rPr>
                        <a:t>UpiPayment.approve</a:t>
                      </a:r>
                      <a:r>
                        <a:rPr sz="1800" b="0" dirty="0">
                          <a:solidFill>
                            <a:srgbClr val="172C42"/>
                          </a:solidFill>
                        </a:rPr>
                        <a:t> does the payment check. The machine only calls approve.</a:t>
                      </a:r>
                    </a:p>
                  </a:txBody>
                  <a:tcPr marL="164592" marR="164592" marT="109728" marB="73152">
                    <a:lnL>
                      <a:noFill/>
                    </a:lnL>
                    <a:lnR>
                      <a:noFill/>
                    </a:lnR>
                    <a:lnT>
                      <a:noFill/>
                    </a:lnT>
                    <a:lnB>
                      <a:noFill/>
                    </a:lnB>
                    <a:solidFill>
                      <a:srgbClr val="FFFFFF"/>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594360" y="6391656"/>
            <a:ext cx="10972800" cy="292608"/>
          </a:xfrm>
          <a:prstGeom prst="rect">
            <a:avLst/>
          </a:prstGeom>
          <a:noFill/>
        </p:spPr>
        <p:txBody>
          <a:bodyPr wrap="square" lIns="0" tIns="0" rIns="0" bIns="0">
            <a:spAutoFit/>
          </a:bodyPr>
          <a:lstStyle/>
          <a:p>
            <a:r>
              <a:rPr sz="1600">
                <a:solidFill>
                  <a:srgbClr val="3C4A58"/>
                </a:solidFill>
              </a:rPr>
              <a:t>One reused instance does not enforce Singleton. Here, buy() provides a facade-like entry point.</a:t>
            </a:r>
          </a:p>
        </p:txBody>
      </p:sp>
    </p:spTree>
    <p:extLst>
      <p:ext uri="{BB962C8B-B14F-4D97-AF65-F5344CB8AC3E}">
        <p14:creationId xmlns:p14="http://schemas.microsoft.com/office/powerpoint/2010/main" val="3022824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713232" y="365760"/>
            <a:ext cx="10972800" cy="594360"/>
          </a:xfrm>
          <a:prstGeom prst="rect">
            <a:avLst/>
          </a:prstGeom>
          <a:noFill/>
        </p:spPr>
        <p:txBody>
          <a:bodyPr wrap="square" lIns="0" tIns="0" rIns="0" bIns="0" anchor="t">
            <a:spAutoFit/>
          </a:bodyPr>
          <a:lstStyle/>
          <a:p>
            <a:pPr>
              <a:lnSpc>
                <a:spcPts val="3500"/>
              </a:lnSpc>
              <a:spcBef>
                <a:spcPts val="0"/>
              </a:spcBef>
              <a:spcAft>
                <a:spcPts val="0"/>
              </a:spcAft>
            </a:pPr>
            <a:r>
              <a:rPr sz="3200" b="1">
                <a:solidFill>
                  <a:srgbClr val="FFFFFF"/>
                </a:solidFill>
              </a:rPr>
              <a:t>Can This Be Better</a:t>
            </a:r>
          </a:p>
        </p:txBody>
      </p:sp>
      <p:sp>
        <p:nvSpPr>
          <p:cNvPr id="19" name="TextBox 18"/>
          <p:cNvSpPr txBox="1"/>
          <p:nvPr/>
        </p:nvSpPr>
        <p:spPr>
          <a:xfrm>
            <a:off x="594360" y="1143000"/>
            <a:ext cx="54864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1  Drinks, payment and machine setup</a:t>
            </a:r>
          </a:p>
        </p:txBody>
      </p:sp>
      <p:sp>
        <p:nvSpPr>
          <p:cNvPr id="20" name="TextBox 19"/>
          <p:cNvSpPr txBox="1"/>
          <p:nvPr/>
        </p:nvSpPr>
        <p:spPr>
          <a:xfrm>
            <a:off x="6309360" y="1143000"/>
            <a:ext cx="54864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2  Purchase checks and calls</a:t>
            </a:r>
          </a:p>
        </p:txBody>
      </p:sp>
      <p:sp>
        <p:nvSpPr>
          <p:cNvPr id="21" name="TextBox 20"/>
          <p:cNvSpPr txBox="1"/>
          <p:nvPr/>
        </p:nvSpPr>
        <p:spPr>
          <a:xfrm>
            <a:off x="411480" y="1700784"/>
            <a:ext cx="5715000" cy="4937760"/>
          </a:xfrm>
          <a:prstGeom prst="rect">
            <a:avLst/>
          </a:prstGeom>
          <a:noFill/>
        </p:spPr>
        <p:txBody>
          <a:bodyPr wrap="square" lIns="0" tIns="0" rIns="0" bIns="0" anchor="t">
            <a:spAutoFit/>
          </a:bodyPr>
          <a:lstStyle/>
          <a:p>
            <a:pPr>
              <a:lnSpc>
                <a:spcPts val="1520"/>
              </a:lnSpc>
              <a:spcBef>
                <a:spcPts val="0"/>
              </a:spcBef>
              <a:spcAft>
                <a:spcPts val="0"/>
              </a:spcAft>
            </a:pPr>
            <a:r>
              <a:rPr sz="1450" b="1" dirty="0">
                <a:solidFill>
                  <a:srgbClr val="6B3FA0"/>
                </a:solidFill>
                <a:latin typeface="Consolas"/>
              </a:rPr>
              <a:t>const</a:t>
            </a:r>
            <a:r>
              <a:rPr sz="1450" b="0" dirty="0">
                <a:solidFill>
                  <a:srgbClr val="172C42"/>
                </a:solidFill>
                <a:latin typeface="Consolas"/>
              </a:rPr>
              <a:t> drinks = {</a:t>
            </a:r>
          </a:p>
          <a:p>
            <a:pPr>
              <a:lnSpc>
                <a:spcPts val="1520"/>
              </a:lnSpc>
              <a:spcBef>
                <a:spcPts val="0"/>
              </a:spcBef>
              <a:spcAft>
                <a:spcPts val="0"/>
              </a:spcAft>
            </a:pPr>
            <a:r>
              <a:rPr sz="1450" b="0" dirty="0">
                <a:solidFill>
                  <a:srgbClr val="172C42"/>
                </a:solidFill>
                <a:latin typeface="Consolas"/>
              </a:rPr>
              <a:t>  cola: { name: </a:t>
            </a:r>
            <a:r>
              <a:rPr sz="1450" b="0" dirty="0">
                <a:solidFill>
                  <a:srgbClr val="2B6B4A"/>
                </a:solidFill>
                <a:latin typeface="Consolas"/>
              </a:rPr>
              <a:t>"cola"</a:t>
            </a:r>
            <a:r>
              <a:rPr sz="1450" b="0" dirty="0">
                <a:solidFill>
                  <a:srgbClr val="172C42"/>
                </a:solidFill>
                <a:latin typeface="Consolas"/>
              </a:rPr>
              <a:t>, price: </a:t>
            </a:r>
            <a:r>
              <a:rPr sz="1450" b="0" dirty="0">
                <a:solidFill>
                  <a:srgbClr val="175D9A"/>
                </a:solidFill>
                <a:latin typeface="Consolas"/>
              </a:rPr>
              <a:t>20</a:t>
            </a: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  water: { name: </a:t>
            </a:r>
            <a:r>
              <a:rPr sz="1450" b="0" dirty="0">
                <a:solidFill>
                  <a:srgbClr val="2B6B4A"/>
                </a:solidFill>
                <a:latin typeface="Consolas"/>
              </a:rPr>
              <a:t>"water"</a:t>
            </a:r>
            <a:r>
              <a:rPr sz="1450" b="0" dirty="0">
                <a:solidFill>
                  <a:srgbClr val="172C42"/>
                </a:solidFill>
                <a:latin typeface="Consolas"/>
              </a:rPr>
              <a:t>, price: </a:t>
            </a:r>
            <a:r>
              <a:rPr sz="1450" b="0" dirty="0">
                <a:solidFill>
                  <a:srgbClr val="175D9A"/>
                </a:solidFill>
                <a:latin typeface="Consolas"/>
              </a:rPr>
              <a:t>15</a:t>
            </a: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a:t>
            </a:r>
          </a:p>
          <a:p>
            <a:pPr>
              <a:lnSpc>
                <a:spcPts val="1520"/>
              </a:lnSpc>
              <a:spcBef>
                <a:spcPts val="0"/>
              </a:spcBef>
              <a:spcAft>
                <a:spcPts val="0"/>
              </a:spcAft>
            </a:pPr>
            <a:r>
              <a:rPr sz="1450" b="1" dirty="0">
                <a:solidFill>
                  <a:srgbClr val="6B3FA0"/>
                </a:solidFill>
                <a:latin typeface="Consolas"/>
              </a:rPr>
              <a:t>class</a:t>
            </a:r>
            <a:r>
              <a:rPr sz="1450" b="0" dirty="0">
                <a:solidFill>
                  <a:srgbClr val="172C42"/>
                </a:solidFill>
                <a:latin typeface="Consolas"/>
              </a:rPr>
              <a:t> </a:t>
            </a:r>
            <a:r>
              <a:rPr sz="1450" b="0" dirty="0" err="1">
                <a:solidFill>
                  <a:srgbClr val="172C42"/>
                </a:solidFill>
                <a:latin typeface="Consolas"/>
              </a:rPr>
              <a:t>UpiPayment</a:t>
            </a: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  approve(request) {</a:t>
            </a:r>
          </a:p>
          <a:p>
            <a:pPr>
              <a:lnSpc>
                <a:spcPts val="1520"/>
              </a:lnSpc>
              <a:spcBef>
                <a:spcPts val="0"/>
              </a:spcBef>
              <a:spcAft>
                <a:spcPts val="0"/>
              </a:spcAft>
            </a:pPr>
            <a:r>
              <a:rPr sz="1450" b="0" dirty="0">
                <a:solidFill>
                  <a:srgbClr val="172C42"/>
                </a:solidFill>
                <a:latin typeface="Consolas"/>
              </a:rPr>
              <a:t>    </a:t>
            </a:r>
            <a:r>
              <a:rPr sz="1450" b="1" dirty="0">
                <a:solidFill>
                  <a:srgbClr val="6B3FA0"/>
                </a:solidFill>
                <a:latin typeface="Consolas"/>
              </a:rPr>
              <a:t>if</a:t>
            </a:r>
            <a:r>
              <a:rPr sz="1450" b="0" dirty="0">
                <a:solidFill>
                  <a:srgbClr val="172C42"/>
                </a:solidFill>
                <a:latin typeface="Consolas"/>
              </a:rPr>
              <a:t> (!</a:t>
            </a:r>
            <a:r>
              <a:rPr sz="1450" b="0" dirty="0" err="1">
                <a:solidFill>
                  <a:srgbClr val="172C42"/>
                </a:solidFill>
                <a:latin typeface="Consolas"/>
              </a:rPr>
              <a:t>request.reference</a:t>
            </a:r>
            <a:r>
              <a:rPr sz="1450" b="0" dirty="0">
                <a:solidFill>
                  <a:srgbClr val="172C42"/>
                </a:solidFill>
                <a:latin typeface="Consolas"/>
              </a:rPr>
              <a:t> || </a:t>
            </a:r>
            <a:r>
              <a:rPr sz="1450" b="0" dirty="0" err="1">
                <a:solidFill>
                  <a:srgbClr val="172C42"/>
                </a:solidFill>
                <a:latin typeface="Consolas"/>
              </a:rPr>
              <a:t>request.amount</a:t>
            </a:r>
            <a:r>
              <a:rPr sz="1450" b="0" dirty="0">
                <a:solidFill>
                  <a:srgbClr val="172C42"/>
                </a:solidFill>
                <a:latin typeface="Consolas"/>
              </a:rPr>
              <a:t> &lt;= </a:t>
            </a:r>
            <a:r>
              <a:rPr sz="1450" b="0" dirty="0">
                <a:solidFill>
                  <a:srgbClr val="175D9A"/>
                </a:solidFill>
                <a:latin typeface="Consolas"/>
              </a:rPr>
              <a:t>0</a:t>
            </a: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      </a:t>
            </a:r>
            <a:r>
              <a:rPr sz="1450" b="1" dirty="0">
                <a:solidFill>
                  <a:srgbClr val="6B3FA0"/>
                </a:solidFill>
                <a:latin typeface="Consolas"/>
              </a:rPr>
              <a:t>return</a:t>
            </a:r>
            <a:r>
              <a:rPr sz="1450" b="0" dirty="0">
                <a:solidFill>
                  <a:srgbClr val="172C42"/>
                </a:solidFill>
                <a:latin typeface="Consolas"/>
              </a:rPr>
              <a:t> { approved: </a:t>
            </a:r>
            <a:r>
              <a:rPr sz="1450" b="1" dirty="0">
                <a:solidFill>
                  <a:srgbClr val="6B3FA0"/>
                </a:solidFill>
                <a:latin typeface="Consolas"/>
              </a:rPr>
              <a:t>false</a:t>
            </a:r>
            <a:r>
              <a:rPr sz="1450" b="0" dirty="0">
                <a:solidFill>
                  <a:srgbClr val="172C42"/>
                </a:solidFill>
                <a:latin typeface="Consolas"/>
              </a:rPr>
              <a:t>,</a:t>
            </a:r>
          </a:p>
          <a:p>
            <a:pPr>
              <a:lnSpc>
                <a:spcPts val="1520"/>
              </a:lnSpc>
              <a:spcBef>
                <a:spcPts val="0"/>
              </a:spcBef>
              <a:spcAft>
                <a:spcPts val="0"/>
              </a:spcAft>
            </a:pPr>
            <a:r>
              <a:rPr sz="1450" b="0" dirty="0">
                <a:solidFill>
                  <a:srgbClr val="172C42"/>
                </a:solidFill>
                <a:latin typeface="Consolas"/>
              </a:rPr>
              <a:t>        reason: </a:t>
            </a:r>
            <a:r>
              <a:rPr sz="1450" b="0" dirty="0">
                <a:solidFill>
                  <a:srgbClr val="2B6B4A"/>
                </a:solidFill>
                <a:latin typeface="Consolas"/>
              </a:rPr>
              <a:t>"Payment failed."</a:t>
            </a: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    </a:t>
            </a:r>
            <a:r>
              <a:rPr sz="1450" b="1" dirty="0">
                <a:solidFill>
                  <a:srgbClr val="6B3FA0"/>
                </a:solidFill>
                <a:latin typeface="Consolas"/>
              </a:rPr>
              <a:t>return</a:t>
            </a:r>
            <a:r>
              <a:rPr sz="1450" b="0" dirty="0">
                <a:solidFill>
                  <a:srgbClr val="172C42"/>
                </a:solidFill>
                <a:latin typeface="Consolas"/>
              </a:rPr>
              <a:t> { approved: </a:t>
            </a:r>
            <a:r>
              <a:rPr sz="1450" b="1" dirty="0">
                <a:solidFill>
                  <a:srgbClr val="6B3FA0"/>
                </a:solidFill>
                <a:latin typeface="Consolas"/>
              </a:rPr>
              <a:t>true</a:t>
            </a: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a:t>
            </a:r>
          </a:p>
          <a:p>
            <a:pPr>
              <a:lnSpc>
                <a:spcPts val="1520"/>
              </a:lnSpc>
              <a:spcBef>
                <a:spcPts val="0"/>
              </a:spcBef>
              <a:spcAft>
                <a:spcPts val="0"/>
              </a:spcAft>
            </a:pPr>
            <a:r>
              <a:rPr sz="1450" b="1" dirty="0">
                <a:solidFill>
                  <a:srgbClr val="6B3FA0"/>
                </a:solidFill>
                <a:latin typeface="Consolas"/>
              </a:rPr>
              <a:t>class</a:t>
            </a:r>
            <a:r>
              <a:rPr sz="1450" b="0" dirty="0">
                <a:solidFill>
                  <a:srgbClr val="172C42"/>
                </a:solidFill>
                <a:latin typeface="Consolas"/>
              </a:rPr>
              <a:t> </a:t>
            </a:r>
            <a:r>
              <a:rPr sz="1450" b="0" dirty="0" err="1">
                <a:solidFill>
                  <a:srgbClr val="172C42"/>
                </a:solidFill>
                <a:latin typeface="Consolas"/>
              </a:rPr>
              <a:t>VendingMachine</a:t>
            </a: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  constructor(stock, payment) {</a:t>
            </a:r>
          </a:p>
          <a:p>
            <a:pPr>
              <a:lnSpc>
                <a:spcPts val="1520"/>
              </a:lnSpc>
              <a:spcBef>
                <a:spcPts val="0"/>
              </a:spcBef>
              <a:spcAft>
                <a:spcPts val="0"/>
              </a:spcAft>
            </a:pPr>
            <a:r>
              <a:rPr sz="1450" b="0" dirty="0">
                <a:solidFill>
                  <a:srgbClr val="172C42"/>
                </a:solidFill>
                <a:latin typeface="Consolas"/>
              </a:rPr>
              <a:t>    </a:t>
            </a:r>
            <a:r>
              <a:rPr sz="1450" b="1" dirty="0" err="1">
                <a:solidFill>
                  <a:srgbClr val="6B3FA0"/>
                </a:solidFill>
                <a:latin typeface="Consolas"/>
              </a:rPr>
              <a:t>this</a:t>
            </a:r>
            <a:r>
              <a:rPr sz="1450" b="0" dirty="0" err="1">
                <a:solidFill>
                  <a:srgbClr val="172C42"/>
                </a:solidFill>
                <a:latin typeface="Consolas"/>
              </a:rPr>
              <a:t>.stock</a:t>
            </a:r>
            <a:r>
              <a:rPr sz="1450" b="0" dirty="0">
                <a:solidFill>
                  <a:srgbClr val="172C42"/>
                </a:solidFill>
                <a:latin typeface="Consolas"/>
              </a:rPr>
              <a:t> = { ...stock };</a:t>
            </a:r>
          </a:p>
          <a:p>
            <a:pPr>
              <a:lnSpc>
                <a:spcPts val="1520"/>
              </a:lnSpc>
              <a:spcBef>
                <a:spcPts val="0"/>
              </a:spcBef>
              <a:spcAft>
                <a:spcPts val="0"/>
              </a:spcAft>
            </a:pPr>
            <a:r>
              <a:rPr sz="1450" b="0" dirty="0">
                <a:solidFill>
                  <a:srgbClr val="172C42"/>
                </a:solidFill>
                <a:latin typeface="Consolas"/>
              </a:rPr>
              <a:t>    </a:t>
            </a:r>
            <a:r>
              <a:rPr sz="1450" b="1" dirty="0" err="1">
                <a:solidFill>
                  <a:srgbClr val="6B3FA0"/>
                </a:solidFill>
                <a:latin typeface="Consolas"/>
              </a:rPr>
              <a:t>this</a:t>
            </a:r>
            <a:r>
              <a:rPr sz="1450" b="0" dirty="0" err="1">
                <a:solidFill>
                  <a:srgbClr val="172C42"/>
                </a:solidFill>
                <a:latin typeface="Consolas"/>
              </a:rPr>
              <a:t>.payment</a:t>
            </a:r>
            <a:r>
              <a:rPr sz="1450" b="0" dirty="0">
                <a:solidFill>
                  <a:srgbClr val="172C42"/>
                </a:solidFill>
                <a:latin typeface="Consolas"/>
              </a:rPr>
              <a:t> = payment;</a:t>
            </a:r>
          </a:p>
          <a:p>
            <a:pPr>
              <a:lnSpc>
                <a:spcPts val="1520"/>
              </a:lnSpc>
              <a:spcBef>
                <a:spcPts val="0"/>
              </a:spcBef>
              <a:spcAft>
                <a:spcPts val="0"/>
              </a:spcAft>
            </a:pPr>
            <a:r>
              <a:rPr sz="1450" b="0" dirty="0">
                <a:solidFill>
                  <a:srgbClr val="172C42"/>
                </a:solidFill>
                <a:latin typeface="Consolas"/>
              </a:rPr>
              <a:t>    </a:t>
            </a:r>
            <a:r>
              <a:rPr sz="1450" b="1" dirty="0" err="1">
                <a:solidFill>
                  <a:srgbClr val="6B3FA0"/>
                </a:solidFill>
                <a:latin typeface="Consolas"/>
              </a:rPr>
              <a:t>this</a:t>
            </a:r>
            <a:r>
              <a:rPr sz="1450" b="0" dirty="0" err="1">
                <a:solidFill>
                  <a:srgbClr val="172C42"/>
                </a:solidFill>
                <a:latin typeface="Consolas"/>
              </a:rPr>
              <a:t>.earnings</a:t>
            </a:r>
            <a:r>
              <a:rPr sz="1450" b="0" dirty="0">
                <a:solidFill>
                  <a:srgbClr val="172C42"/>
                </a:solidFill>
                <a:latin typeface="Consolas"/>
              </a:rPr>
              <a:t> = </a:t>
            </a:r>
            <a:r>
              <a:rPr sz="1450" b="0" dirty="0">
                <a:solidFill>
                  <a:srgbClr val="175D9A"/>
                </a:solidFill>
                <a:latin typeface="Consolas"/>
              </a:rPr>
              <a:t>0</a:t>
            </a:r>
            <a:r>
              <a:rPr sz="1450" b="0" dirty="0">
                <a:solidFill>
                  <a:srgbClr val="172C42"/>
                </a:solidFill>
                <a:latin typeface="Consolas"/>
              </a:rPr>
              <a:t>;</a:t>
            </a:r>
          </a:p>
          <a:p>
            <a:pPr>
              <a:lnSpc>
                <a:spcPts val="1520"/>
              </a:lnSpc>
              <a:spcBef>
                <a:spcPts val="0"/>
              </a:spcBef>
              <a:spcAft>
                <a:spcPts val="0"/>
              </a:spcAft>
            </a:pP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  buy(</a:t>
            </a:r>
            <a:r>
              <a:rPr sz="1450" b="0" dirty="0" err="1">
                <a:solidFill>
                  <a:srgbClr val="172C42"/>
                </a:solidFill>
                <a:latin typeface="Consolas"/>
              </a:rPr>
              <a:t>drinkName</a:t>
            </a:r>
            <a:r>
              <a:rPr sz="1450" b="0" dirty="0">
                <a:solidFill>
                  <a:srgbClr val="172C42"/>
                </a:solidFill>
                <a:latin typeface="Consolas"/>
              </a:rPr>
              <a:t>, </a:t>
            </a:r>
            <a:r>
              <a:rPr sz="1450" b="0" dirty="0" err="1">
                <a:solidFill>
                  <a:srgbClr val="172C42"/>
                </a:solidFill>
                <a:latin typeface="Consolas"/>
              </a:rPr>
              <a:t>paymentReference</a:t>
            </a: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    </a:t>
            </a:r>
            <a:r>
              <a:rPr sz="1450" b="1" dirty="0">
                <a:solidFill>
                  <a:srgbClr val="6B3FA0"/>
                </a:solidFill>
                <a:latin typeface="Consolas"/>
              </a:rPr>
              <a:t>const</a:t>
            </a:r>
            <a:r>
              <a:rPr sz="1450" b="0" dirty="0">
                <a:solidFill>
                  <a:srgbClr val="172C42"/>
                </a:solidFill>
                <a:latin typeface="Consolas"/>
              </a:rPr>
              <a:t> drink = drinks[</a:t>
            </a:r>
            <a:r>
              <a:rPr sz="1450" b="0" dirty="0" err="1">
                <a:solidFill>
                  <a:srgbClr val="172C42"/>
                </a:solidFill>
                <a:latin typeface="Consolas"/>
              </a:rPr>
              <a:t>drinkName</a:t>
            </a:r>
            <a:r>
              <a:rPr sz="1450" b="0" dirty="0">
                <a:solidFill>
                  <a:srgbClr val="172C42"/>
                </a:solidFill>
                <a:latin typeface="Consolas"/>
              </a:rPr>
              <a:t>];</a:t>
            </a:r>
          </a:p>
          <a:p>
            <a:pPr>
              <a:lnSpc>
                <a:spcPts val="1520"/>
              </a:lnSpc>
              <a:spcBef>
                <a:spcPts val="0"/>
              </a:spcBef>
              <a:spcAft>
                <a:spcPts val="0"/>
              </a:spcAft>
            </a:pPr>
            <a:r>
              <a:rPr sz="1450" b="0" dirty="0">
                <a:solidFill>
                  <a:srgbClr val="172C42"/>
                </a:solidFill>
                <a:latin typeface="Consolas"/>
              </a:rPr>
              <a:t>    </a:t>
            </a:r>
            <a:r>
              <a:rPr sz="1450" b="1" dirty="0">
                <a:solidFill>
                  <a:srgbClr val="6B3FA0"/>
                </a:solidFill>
                <a:latin typeface="Consolas"/>
              </a:rPr>
              <a:t>if</a:t>
            </a:r>
            <a:r>
              <a:rPr sz="1450" b="0" dirty="0">
                <a:solidFill>
                  <a:srgbClr val="172C42"/>
                </a:solidFill>
                <a:latin typeface="Consolas"/>
              </a:rPr>
              <a:t> (!drink) {</a:t>
            </a:r>
          </a:p>
          <a:p>
            <a:pPr>
              <a:lnSpc>
                <a:spcPts val="1520"/>
              </a:lnSpc>
              <a:spcBef>
                <a:spcPts val="0"/>
              </a:spcBef>
              <a:spcAft>
                <a:spcPts val="0"/>
              </a:spcAft>
            </a:pPr>
            <a:r>
              <a:rPr sz="1450" b="0" dirty="0">
                <a:solidFill>
                  <a:srgbClr val="172C42"/>
                </a:solidFill>
                <a:latin typeface="Consolas"/>
              </a:rPr>
              <a:t>      </a:t>
            </a:r>
            <a:r>
              <a:rPr sz="1450" b="1" dirty="0">
                <a:solidFill>
                  <a:srgbClr val="6B3FA0"/>
                </a:solidFill>
                <a:latin typeface="Consolas"/>
              </a:rPr>
              <a:t>return</a:t>
            </a:r>
            <a:r>
              <a:rPr sz="1450" b="0" dirty="0">
                <a:solidFill>
                  <a:srgbClr val="172C42"/>
                </a:solidFill>
                <a:latin typeface="Consolas"/>
              </a:rPr>
              <a:t> { status: </a:t>
            </a:r>
            <a:r>
              <a:rPr sz="1450" b="0" dirty="0">
                <a:solidFill>
                  <a:srgbClr val="2B6B4A"/>
                </a:solidFill>
                <a:latin typeface="Consolas"/>
              </a:rPr>
              <a:t>"rejected"</a:t>
            </a:r>
            <a:r>
              <a:rPr sz="1450" b="0" dirty="0">
                <a:solidFill>
                  <a:srgbClr val="172C42"/>
                </a:solidFill>
                <a:latin typeface="Consolas"/>
              </a:rPr>
              <a:t>,</a:t>
            </a:r>
          </a:p>
          <a:p>
            <a:pPr>
              <a:lnSpc>
                <a:spcPts val="1520"/>
              </a:lnSpc>
              <a:spcBef>
                <a:spcPts val="0"/>
              </a:spcBef>
              <a:spcAft>
                <a:spcPts val="0"/>
              </a:spcAft>
            </a:pPr>
            <a:r>
              <a:rPr sz="1450" b="0" dirty="0">
                <a:solidFill>
                  <a:srgbClr val="172C42"/>
                </a:solidFill>
                <a:latin typeface="Consolas"/>
              </a:rPr>
              <a:t>        message: </a:t>
            </a:r>
            <a:r>
              <a:rPr sz="1450" b="0" dirty="0">
                <a:solidFill>
                  <a:srgbClr val="2B6B4A"/>
                </a:solidFill>
                <a:latin typeface="Consolas"/>
              </a:rPr>
              <a:t>"That drink is not sold here."</a:t>
            </a: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    }</a:t>
            </a:r>
          </a:p>
        </p:txBody>
      </p:sp>
      <p:sp>
        <p:nvSpPr>
          <p:cNvPr id="22" name="TextBox 21"/>
          <p:cNvSpPr txBox="1"/>
          <p:nvPr/>
        </p:nvSpPr>
        <p:spPr>
          <a:xfrm>
            <a:off x="6309360" y="1700784"/>
            <a:ext cx="5532120" cy="4937760"/>
          </a:xfrm>
          <a:prstGeom prst="rect">
            <a:avLst/>
          </a:prstGeom>
          <a:noFill/>
        </p:spPr>
        <p:txBody>
          <a:bodyPr wrap="square" lIns="0" tIns="0" rIns="0" bIns="0" anchor="t">
            <a:spAutoFit/>
          </a:bodyPr>
          <a:lstStyle/>
          <a:p>
            <a:pPr>
              <a:lnSpc>
                <a:spcPts val="1520"/>
              </a:lnSpc>
              <a:spcBef>
                <a:spcPts val="0"/>
              </a:spcBef>
              <a:spcAft>
                <a:spcPts val="0"/>
              </a:spcAft>
            </a:pPr>
            <a:r>
              <a:rPr sz="1450" b="0" dirty="0">
                <a:solidFill>
                  <a:srgbClr val="172C42"/>
                </a:solidFill>
                <a:latin typeface="Consolas"/>
              </a:rPr>
              <a:t>    </a:t>
            </a:r>
            <a:r>
              <a:rPr sz="1450" b="1" dirty="0">
                <a:solidFill>
                  <a:srgbClr val="6B3FA0"/>
                </a:solidFill>
                <a:latin typeface="Consolas"/>
              </a:rPr>
              <a:t>if</a:t>
            </a:r>
            <a:r>
              <a:rPr sz="1450" b="0" dirty="0">
                <a:solidFill>
                  <a:srgbClr val="172C42"/>
                </a:solidFill>
                <a:latin typeface="Consolas"/>
              </a:rPr>
              <a:t> ((</a:t>
            </a:r>
            <a:r>
              <a:rPr sz="1450" b="1" dirty="0" err="1">
                <a:solidFill>
                  <a:srgbClr val="6B3FA0"/>
                </a:solidFill>
                <a:latin typeface="Consolas"/>
              </a:rPr>
              <a:t>this</a:t>
            </a:r>
            <a:r>
              <a:rPr sz="1450" b="0" dirty="0" err="1">
                <a:solidFill>
                  <a:srgbClr val="172C42"/>
                </a:solidFill>
                <a:latin typeface="Consolas"/>
              </a:rPr>
              <a:t>.stock</a:t>
            </a:r>
            <a:r>
              <a:rPr sz="1450" b="0" dirty="0">
                <a:solidFill>
                  <a:srgbClr val="172C42"/>
                </a:solidFill>
                <a:latin typeface="Consolas"/>
              </a:rPr>
              <a:t>[</a:t>
            </a:r>
            <a:r>
              <a:rPr sz="1450" b="0" dirty="0" err="1">
                <a:solidFill>
                  <a:srgbClr val="172C42"/>
                </a:solidFill>
                <a:latin typeface="Consolas"/>
              </a:rPr>
              <a:t>drinkName</a:t>
            </a:r>
            <a:r>
              <a:rPr sz="1450" b="0" dirty="0">
                <a:solidFill>
                  <a:srgbClr val="172C42"/>
                </a:solidFill>
                <a:latin typeface="Consolas"/>
              </a:rPr>
              <a:t>] || </a:t>
            </a:r>
            <a:r>
              <a:rPr sz="1450" b="0" dirty="0">
                <a:solidFill>
                  <a:srgbClr val="175D9A"/>
                </a:solidFill>
                <a:latin typeface="Consolas"/>
              </a:rPr>
              <a:t>0</a:t>
            </a:r>
            <a:r>
              <a:rPr sz="1450" b="0" dirty="0">
                <a:solidFill>
                  <a:srgbClr val="172C42"/>
                </a:solidFill>
                <a:latin typeface="Consolas"/>
              </a:rPr>
              <a:t>) &lt; </a:t>
            </a:r>
            <a:r>
              <a:rPr sz="1450" b="0" dirty="0">
                <a:solidFill>
                  <a:srgbClr val="175D9A"/>
                </a:solidFill>
                <a:latin typeface="Consolas"/>
              </a:rPr>
              <a:t>1</a:t>
            </a: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      </a:t>
            </a:r>
            <a:r>
              <a:rPr sz="1450" b="1" dirty="0">
                <a:solidFill>
                  <a:srgbClr val="6B3FA0"/>
                </a:solidFill>
                <a:latin typeface="Consolas"/>
              </a:rPr>
              <a:t>return</a:t>
            </a:r>
            <a:r>
              <a:rPr sz="1450" b="0" dirty="0">
                <a:solidFill>
                  <a:srgbClr val="172C42"/>
                </a:solidFill>
                <a:latin typeface="Consolas"/>
              </a:rPr>
              <a:t> { status: </a:t>
            </a:r>
            <a:r>
              <a:rPr sz="1450" b="0" dirty="0">
                <a:solidFill>
                  <a:srgbClr val="2B6B4A"/>
                </a:solidFill>
                <a:latin typeface="Consolas"/>
              </a:rPr>
              <a:t>"</a:t>
            </a:r>
            <a:r>
              <a:rPr sz="1450" b="0" dirty="0" err="1">
                <a:solidFill>
                  <a:srgbClr val="2B6B4A"/>
                </a:solidFill>
                <a:latin typeface="Consolas"/>
              </a:rPr>
              <a:t>sold_out</a:t>
            </a:r>
            <a:r>
              <a:rPr sz="1450" b="0" dirty="0">
                <a:solidFill>
                  <a:srgbClr val="2B6B4A"/>
                </a:solidFill>
                <a:latin typeface="Consolas"/>
              </a:rPr>
              <a:t>"</a:t>
            </a:r>
            <a:r>
              <a:rPr sz="1450" b="0" dirty="0">
                <a:solidFill>
                  <a:srgbClr val="172C42"/>
                </a:solidFill>
                <a:latin typeface="Consolas"/>
              </a:rPr>
              <a:t>,</a:t>
            </a:r>
          </a:p>
          <a:p>
            <a:pPr>
              <a:lnSpc>
                <a:spcPts val="1520"/>
              </a:lnSpc>
              <a:spcBef>
                <a:spcPts val="0"/>
              </a:spcBef>
              <a:spcAft>
                <a:spcPts val="0"/>
              </a:spcAft>
            </a:pPr>
            <a:r>
              <a:rPr sz="1450" b="0" dirty="0">
                <a:solidFill>
                  <a:srgbClr val="172C42"/>
                </a:solidFill>
                <a:latin typeface="Consolas"/>
              </a:rPr>
              <a:t>        message: </a:t>
            </a:r>
            <a:r>
              <a:rPr sz="1450" b="0" dirty="0">
                <a:solidFill>
                  <a:srgbClr val="2B6B4A"/>
                </a:solidFill>
                <a:latin typeface="Consolas"/>
              </a:rPr>
              <a:t>`${drink.name} is sold out.`</a:t>
            </a: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    </a:t>
            </a:r>
            <a:r>
              <a:rPr sz="1450" b="1" dirty="0">
                <a:solidFill>
                  <a:srgbClr val="6B3FA0"/>
                </a:solidFill>
                <a:latin typeface="Consolas"/>
              </a:rPr>
              <a:t>const</a:t>
            </a:r>
            <a:r>
              <a:rPr sz="1450" b="0" dirty="0">
                <a:solidFill>
                  <a:srgbClr val="172C42"/>
                </a:solidFill>
                <a:latin typeface="Consolas"/>
              </a:rPr>
              <a:t> payment = </a:t>
            </a:r>
            <a:r>
              <a:rPr sz="1450" b="1" dirty="0" err="1">
                <a:solidFill>
                  <a:srgbClr val="6B3FA0"/>
                </a:solidFill>
                <a:latin typeface="Consolas"/>
              </a:rPr>
              <a:t>this</a:t>
            </a:r>
            <a:r>
              <a:rPr sz="1450" b="0" dirty="0" err="1">
                <a:solidFill>
                  <a:srgbClr val="172C42"/>
                </a:solidFill>
                <a:latin typeface="Consolas"/>
              </a:rPr>
              <a:t>.payment.approve</a:t>
            </a:r>
            <a:r>
              <a:rPr sz="1450" b="0" dirty="0">
                <a:solidFill>
                  <a:srgbClr val="172C42"/>
                </a:solidFill>
                <a:latin typeface="Consolas"/>
              </a:rPr>
              <a:t>({</a:t>
            </a:r>
          </a:p>
          <a:p>
            <a:pPr>
              <a:lnSpc>
                <a:spcPts val="1520"/>
              </a:lnSpc>
              <a:spcBef>
                <a:spcPts val="0"/>
              </a:spcBef>
              <a:spcAft>
                <a:spcPts val="0"/>
              </a:spcAft>
            </a:pPr>
            <a:r>
              <a:rPr sz="1450" b="0" dirty="0">
                <a:solidFill>
                  <a:srgbClr val="172C42"/>
                </a:solidFill>
                <a:latin typeface="Consolas"/>
              </a:rPr>
              <a:t>      reference: </a:t>
            </a:r>
            <a:r>
              <a:rPr sz="1450" b="0" dirty="0" err="1">
                <a:solidFill>
                  <a:srgbClr val="172C42"/>
                </a:solidFill>
                <a:latin typeface="Consolas"/>
              </a:rPr>
              <a:t>paymentReference</a:t>
            </a:r>
            <a:r>
              <a:rPr sz="1450" b="0" dirty="0">
                <a:solidFill>
                  <a:srgbClr val="172C42"/>
                </a:solidFill>
                <a:latin typeface="Consolas"/>
              </a:rPr>
              <a:t>,</a:t>
            </a:r>
          </a:p>
          <a:p>
            <a:pPr>
              <a:lnSpc>
                <a:spcPts val="1520"/>
              </a:lnSpc>
              <a:spcBef>
                <a:spcPts val="0"/>
              </a:spcBef>
              <a:spcAft>
                <a:spcPts val="0"/>
              </a:spcAft>
            </a:pPr>
            <a:r>
              <a:rPr sz="1450" b="0" dirty="0">
                <a:solidFill>
                  <a:srgbClr val="172C42"/>
                </a:solidFill>
                <a:latin typeface="Consolas"/>
              </a:rPr>
              <a:t>      amount: </a:t>
            </a:r>
            <a:r>
              <a:rPr sz="1450" b="0" dirty="0" err="1">
                <a:solidFill>
                  <a:srgbClr val="172C42"/>
                </a:solidFill>
                <a:latin typeface="Consolas"/>
              </a:rPr>
              <a:t>drink.price</a:t>
            </a:r>
            <a:r>
              <a:rPr sz="1450" b="0" dirty="0">
                <a:solidFill>
                  <a:srgbClr val="172C42"/>
                </a:solidFill>
                <a:latin typeface="Consolas"/>
              </a:rPr>
              <a:t>,</a:t>
            </a:r>
          </a:p>
          <a:p>
            <a:pPr>
              <a:lnSpc>
                <a:spcPts val="1520"/>
              </a:lnSpc>
              <a:spcBef>
                <a:spcPts val="0"/>
              </a:spcBef>
              <a:spcAft>
                <a:spcPts val="0"/>
              </a:spcAft>
            </a:pP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    </a:t>
            </a:r>
            <a:r>
              <a:rPr sz="1450" b="1" dirty="0">
                <a:solidFill>
                  <a:srgbClr val="6B3FA0"/>
                </a:solidFill>
                <a:latin typeface="Consolas"/>
              </a:rPr>
              <a:t>if</a:t>
            </a:r>
            <a:r>
              <a:rPr sz="1450" b="0" dirty="0">
                <a:solidFill>
                  <a:srgbClr val="172C42"/>
                </a:solidFill>
                <a:latin typeface="Consolas"/>
              </a:rPr>
              <a:t> (!</a:t>
            </a:r>
            <a:r>
              <a:rPr sz="1450" b="0" dirty="0" err="1">
                <a:solidFill>
                  <a:srgbClr val="172C42"/>
                </a:solidFill>
                <a:latin typeface="Consolas"/>
              </a:rPr>
              <a:t>payment.approved</a:t>
            </a: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      </a:t>
            </a:r>
            <a:r>
              <a:rPr sz="1450" b="1" dirty="0">
                <a:solidFill>
                  <a:srgbClr val="6B3FA0"/>
                </a:solidFill>
                <a:latin typeface="Consolas"/>
              </a:rPr>
              <a:t>return</a:t>
            </a:r>
            <a:r>
              <a:rPr sz="1450" b="0" dirty="0">
                <a:solidFill>
                  <a:srgbClr val="172C42"/>
                </a:solidFill>
                <a:latin typeface="Consolas"/>
              </a:rPr>
              <a:t> { status: </a:t>
            </a:r>
            <a:r>
              <a:rPr sz="1450" b="0" dirty="0">
                <a:solidFill>
                  <a:srgbClr val="2B6B4A"/>
                </a:solidFill>
                <a:latin typeface="Consolas"/>
              </a:rPr>
              <a:t>"</a:t>
            </a:r>
            <a:r>
              <a:rPr sz="1450" b="0" dirty="0" err="1">
                <a:solidFill>
                  <a:srgbClr val="2B6B4A"/>
                </a:solidFill>
                <a:latin typeface="Consolas"/>
              </a:rPr>
              <a:t>payment_failed</a:t>
            </a:r>
            <a:r>
              <a:rPr sz="1450" b="0" dirty="0">
                <a:solidFill>
                  <a:srgbClr val="2B6B4A"/>
                </a:solidFill>
                <a:latin typeface="Consolas"/>
              </a:rPr>
              <a:t>"</a:t>
            </a:r>
            <a:r>
              <a:rPr sz="1450" b="0" dirty="0">
                <a:solidFill>
                  <a:srgbClr val="172C42"/>
                </a:solidFill>
                <a:latin typeface="Consolas"/>
              </a:rPr>
              <a:t>,</a:t>
            </a:r>
          </a:p>
          <a:p>
            <a:pPr>
              <a:lnSpc>
                <a:spcPts val="1520"/>
              </a:lnSpc>
              <a:spcBef>
                <a:spcPts val="0"/>
              </a:spcBef>
              <a:spcAft>
                <a:spcPts val="0"/>
              </a:spcAft>
            </a:pPr>
            <a:r>
              <a:rPr sz="1450" b="0" dirty="0">
                <a:solidFill>
                  <a:srgbClr val="172C42"/>
                </a:solidFill>
                <a:latin typeface="Consolas"/>
              </a:rPr>
              <a:t>        message: </a:t>
            </a:r>
            <a:r>
              <a:rPr sz="1450" b="0" dirty="0" err="1">
                <a:solidFill>
                  <a:srgbClr val="172C42"/>
                </a:solidFill>
                <a:latin typeface="Consolas"/>
              </a:rPr>
              <a:t>payment.reason</a:t>
            </a: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    </a:t>
            </a:r>
            <a:r>
              <a:rPr sz="1450" b="1" dirty="0" err="1">
                <a:solidFill>
                  <a:srgbClr val="6B3FA0"/>
                </a:solidFill>
                <a:latin typeface="Consolas"/>
              </a:rPr>
              <a:t>this</a:t>
            </a:r>
            <a:r>
              <a:rPr sz="1450" b="0" dirty="0" err="1">
                <a:solidFill>
                  <a:srgbClr val="172C42"/>
                </a:solidFill>
                <a:latin typeface="Consolas"/>
              </a:rPr>
              <a:t>.stock</a:t>
            </a:r>
            <a:r>
              <a:rPr sz="1450" b="0" dirty="0">
                <a:solidFill>
                  <a:srgbClr val="172C42"/>
                </a:solidFill>
                <a:latin typeface="Consolas"/>
              </a:rPr>
              <a:t>[</a:t>
            </a:r>
            <a:r>
              <a:rPr sz="1450" b="0" dirty="0" err="1">
                <a:solidFill>
                  <a:srgbClr val="172C42"/>
                </a:solidFill>
                <a:latin typeface="Consolas"/>
              </a:rPr>
              <a:t>drinkName</a:t>
            </a:r>
            <a:r>
              <a:rPr sz="1450" b="0" dirty="0">
                <a:solidFill>
                  <a:srgbClr val="172C42"/>
                </a:solidFill>
                <a:latin typeface="Consolas"/>
              </a:rPr>
              <a:t>] -= </a:t>
            </a:r>
            <a:r>
              <a:rPr sz="1450" b="0" dirty="0">
                <a:solidFill>
                  <a:srgbClr val="175D9A"/>
                </a:solidFill>
                <a:latin typeface="Consolas"/>
              </a:rPr>
              <a:t>1</a:t>
            </a:r>
            <a:r>
              <a:rPr sz="1450" b="0" dirty="0">
                <a:solidFill>
                  <a:srgbClr val="172C42"/>
                </a:solidFill>
                <a:latin typeface="Consolas"/>
              </a:rPr>
              <a:t>;</a:t>
            </a:r>
          </a:p>
          <a:p>
            <a:pPr>
              <a:lnSpc>
                <a:spcPts val="1520"/>
              </a:lnSpc>
              <a:spcBef>
                <a:spcPts val="0"/>
              </a:spcBef>
              <a:spcAft>
                <a:spcPts val="0"/>
              </a:spcAft>
            </a:pPr>
            <a:r>
              <a:rPr sz="1450" b="0" dirty="0">
                <a:solidFill>
                  <a:srgbClr val="172C42"/>
                </a:solidFill>
                <a:latin typeface="Consolas"/>
              </a:rPr>
              <a:t>    </a:t>
            </a:r>
            <a:r>
              <a:rPr sz="1450" b="1" dirty="0" err="1">
                <a:solidFill>
                  <a:srgbClr val="6B3FA0"/>
                </a:solidFill>
                <a:latin typeface="Consolas"/>
              </a:rPr>
              <a:t>this</a:t>
            </a:r>
            <a:r>
              <a:rPr sz="1450" b="0" dirty="0" err="1">
                <a:solidFill>
                  <a:srgbClr val="172C42"/>
                </a:solidFill>
                <a:latin typeface="Consolas"/>
              </a:rPr>
              <a:t>.earnings</a:t>
            </a:r>
            <a:r>
              <a:rPr sz="1450" b="0" dirty="0">
                <a:solidFill>
                  <a:srgbClr val="172C42"/>
                </a:solidFill>
                <a:latin typeface="Consolas"/>
              </a:rPr>
              <a:t> += </a:t>
            </a:r>
            <a:r>
              <a:rPr sz="1450" b="0" dirty="0" err="1">
                <a:solidFill>
                  <a:srgbClr val="172C42"/>
                </a:solidFill>
                <a:latin typeface="Consolas"/>
              </a:rPr>
              <a:t>drink.price</a:t>
            </a:r>
            <a:r>
              <a:rPr sz="1450" b="0" dirty="0">
                <a:solidFill>
                  <a:srgbClr val="172C42"/>
                </a:solidFill>
                <a:latin typeface="Consolas"/>
              </a:rPr>
              <a:t>;</a:t>
            </a:r>
          </a:p>
          <a:p>
            <a:pPr>
              <a:lnSpc>
                <a:spcPts val="1520"/>
              </a:lnSpc>
              <a:spcBef>
                <a:spcPts val="0"/>
              </a:spcBef>
              <a:spcAft>
                <a:spcPts val="0"/>
              </a:spcAft>
            </a:pPr>
            <a:r>
              <a:rPr sz="1450" b="0" dirty="0">
                <a:solidFill>
                  <a:srgbClr val="172C42"/>
                </a:solidFill>
                <a:latin typeface="Consolas"/>
              </a:rPr>
              <a:t>    </a:t>
            </a:r>
            <a:r>
              <a:rPr sz="1450" b="1" dirty="0">
                <a:solidFill>
                  <a:srgbClr val="6B3FA0"/>
                </a:solidFill>
                <a:latin typeface="Consolas"/>
              </a:rPr>
              <a:t>return</a:t>
            </a:r>
            <a:r>
              <a:rPr sz="1450" b="0" dirty="0">
                <a:solidFill>
                  <a:srgbClr val="172C42"/>
                </a:solidFill>
                <a:latin typeface="Consolas"/>
              </a:rPr>
              <a:t> { status: </a:t>
            </a:r>
            <a:r>
              <a:rPr sz="1450" b="0" dirty="0">
                <a:solidFill>
                  <a:srgbClr val="2B6B4A"/>
                </a:solidFill>
                <a:latin typeface="Consolas"/>
              </a:rPr>
              <a:t>"completed"</a:t>
            </a:r>
            <a:r>
              <a:rPr sz="1450" b="0" dirty="0">
                <a:solidFill>
                  <a:srgbClr val="172C42"/>
                </a:solidFill>
                <a:latin typeface="Consolas"/>
              </a:rPr>
              <a:t>,</a:t>
            </a:r>
          </a:p>
          <a:p>
            <a:pPr>
              <a:lnSpc>
                <a:spcPts val="1520"/>
              </a:lnSpc>
              <a:spcBef>
                <a:spcPts val="0"/>
              </a:spcBef>
              <a:spcAft>
                <a:spcPts val="0"/>
              </a:spcAft>
            </a:pPr>
            <a:r>
              <a:rPr sz="1450" b="0" dirty="0">
                <a:solidFill>
                  <a:srgbClr val="172C42"/>
                </a:solidFill>
                <a:latin typeface="Consolas"/>
              </a:rPr>
              <a:t>      message: </a:t>
            </a:r>
            <a:r>
              <a:rPr sz="1450" b="0" dirty="0">
                <a:solidFill>
                  <a:srgbClr val="2B6B4A"/>
                </a:solidFill>
                <a:latin typeface="Consolas"/>
              </a:rPr>
              <a:t>`Collect your ${drink.name}.`</a:t>
            </a: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  }</a:t>
            </a:r>
          </a:p>
          <a:p>
            <a:pPr>
              <a:lnSpc>
                <a:spcPts val="1520"/>
              </a:lnSpc>
              <a:spcBef>
                <a:spcPts val="0"/>
              </a:spcBef>
              <a:spcAft>
                <a:spcPts val="0"/>
              </a:spcAft>
            </a:pPr>
            <a:r>
              <a:rPr sz="1450" b="0" dirty="0">
                <a:solidFill>
                  <a:srgbClr val="172C42"/>
                </a:solidFill>
                <a:latin typeface="Consolas"/>
              </a:rPr>
              <a:t>}</a:t>
            </a:r>
          </a:p>
          <a:p>
            <a:pPr>
              <a:lnSpc>
                <a:spcPts val="1520"/>
              </a:lnSpc>
              <a:spcBef>
                <a:spcPts val="0"/>
              </a:spcBef>
              <a:spcAft>
                <a:spcPts val="0"/>
              </a:spcAft>
            </a:pPr>
            <a:r>
              <a:rPr sz="1450" b="1" dirty="0">
                <a:solidFill>
                  <a:srgbClr val="6B3FA0"/>
                </a:solidFill>
                <a:latin typeface="Consolas"/>
              </a:rPr>
              <a:t>const</a:t>
            </a:r>
            <a:r>
              <a:rPr sz="1450" b="0" dirty="0">
                <a:solidFill>
                  <a:srgbClr val="172C42"/>
                </a:solidFill>
                <a:latin typeface="Consolas"/>
              </a:rPr>
              <a:t> machine = </a:t>
            </a:r>
            <a:r>
              <a:rPr sz="1450" b="1" dirty="0">
                <a:solidFill>
                  <a:srgbClr val="6B3FA0"/>
                </a:solidFill>
                <a:latin typeface="Consolas"/>
              </a:rPr>
              <a:t>new</a:t>
            </a:r>
            <a:r>
              <a:rPr sz="1450" b="0" dirty="0">
                <a:solidFill>
                  <a:srgbClr val="172C42"/>
                </a:solidFill>
                <a:latin typeface="Consolas"/>
              </a:rPr>
              <a:t> </a:t>
            </a:r>
            <a:r>
              <a:rPr sz="1450" b="0" dirty="0" err="1">
                <a:solidFill>
                  <a:srgbClr val="172C42"/>
                </a:solidFill>
                <a:latin typeface="Consolas"/>
              </a:rPr>
              <a:t>VendingMachine</a:t>
            </a:r>
            <a:r>
              <a:rPr sz="1450" b="0" dirty="0">
                <a:solidFill>
                  <a:srgbClr val="172C42"/>
                </a:solidFill>
                <a:latin typeface="Consolas"/>
              </a:rPr>
              <a:t>(</a:t>
            </a:r>
          </a:p>
          <a:p>
            <a:pPr>
              <a:lnSpc>
                <a:spcPts val="1520"/>
              </a:lnSpc>
              <a:spcBef>
                <a:spcPts val="0"/>
              </a:spcBef>
              <a:spcAft>
                <a:spcPts val="0"/>
              </a:spcAft>
            </a:pPr>
            <a:r>
              <a:rPr sz="1450" b="0" dirty="0">
                <a:solidFill>
                  <a:srgbClr val="172C42"/>
                </a:solidFill>
                <a:latin typeface="Consolas"/>
              </a:rPr>
              <a:t>  { cola: </a:t>
            </a:r>
            <a:r>
              <a:rPr sz="1450" b="0" dirty="0">
                <a:solidFill>
                  <a:srgbClr val="175D9A"/>
                </a:solidFill>
                <a:latin typeface="Consolas"/>
              </a:rPr>
              <a:t>1</a:t>
            </a:r>
            <a:r>
              <a:rPr sz="1450" b="0" dirty="0">
                <a:solidFill>
                  <a:srgbClr val="172C42"/>
                </a:solidFill>
                <a:latin typeface="Consolas"/>
              </a:rPr>
              <a:t>, water: </a:t>
            </a:r>
            <a:r>
              <a:rPr sz="1450" b="0" dirty="0">
                <a:solidFill>
                  <a:srgbClr val="175D9A"/>
                </a:solidFill>
                <a:latin typeface="Consolas"/>
              </a:rPr>
              <a:t>1</a:t>
            </a:r>
            <a:r>
              <a:rPr sz="1450" b="0" dirty="0">
                <a:solidFill>
                  <a:srgbClr val="172C42"/>
                </a:solidFill>
                <a:latin typeface="Consolas"/>
              </a:rPr>
              <a:t> }, </a:t>
            </a:r>
            <a:r>
              <a:rPr sz="1450" b="1" dirty="0">
                <a:solidFill>
                  <a:srgbClr val="6B3FA0"/>
                </a:solidFill>
                <a:latin typeface="Consolas"/>
              </a:rPr>
              <a:t>new</a:t>
            </a:r>
            <a:r>
              <a:rPr sz="1450" b="0" dirty="0">
                <a:solidFill>
                  <a:srgbClr val="172C42"/>
                </a:solidFill>
                <a:latin typeface="Consolas"/>
              </a:rPr>
              <a:t> </a:t>
            </a:r>
            <a:r>
              <a:rPr sz="1450" b="0" dirty="0" err="1">
                <a:solidFill>
                  <a:srgbClr val="172C42"/>
                </a:solidFill>
                <a:latin typeface="Consolas"/>
              </a:rPr>
              <a:t>UpiPayment</a:t>
            </a:r>
            <a:r>
              <a:rPr sz="1450" b="0" dirty="0">
                <a:solidFill>
                  <a:srgbClr val="172C42"/>
                </a:solidFill>
                <a:latin typeface="Consolas"/>
              </a:rPr>
              <a:t>());</a:t>
            </a:r>
          </a:p>
          <a:p>
            <a:pPr>
              <a:lnSpc>
                <a:spcPts val="1520"/>
              </a:lnSpc>
              <a:spcBef>
                <a:spcPts val="0"/>
              </a:spcBef>
              <a:spcAft>
                <a:spcPts val="0"/>
              </a:spcAft>
            </a:pPr>
            <a:r>
              <a:rPr sz="1450" b="0" dirty="0">
                <a:solidFill>
                  <a:srgbClr val="172C42"/>
                </a:solidFill>
                <a:latin typeface="Consolas"/>
              </a:rPr>
              <a:t>console.log(</a:t>
            </a:r>
            <a:r>
              <a:rPr sz="1450" b="0" dirty="0" err="1">
                <a:solidFill>
                  <a:srgbClr val="172C42"/>
                </a:solidFill>
                <a:latin typeface="Consolas"/>
              </a:rPr>
              <a:t>machine.buy</a:t>
            </a:r>
            <a:r>
              <a:rPr sz="1450" b="0" dirty="0">
                <a:solidFill>
                  <a:srgbClr val="172C42"/>
                </a:solidFill>
                <a:latin typeface="Consolas"/>
              </a:rPr>
              <a:t>(</a:t>
            </a:r>
            <a:r>
              <a:rPr sz="1450" b="0" dirty="0">
                <a:solidFill>
                  <a:srgbClr val="2B6B4A"/>
                </a:solidFill>
                <a:latin typeface="Consolas"/>
              </a:rPr>
              <a:t>"cola"</a:t>
            </a:r>
            <a:r>
              <a:rPr sz="1450" b="0" dirty="0">
                <a:solidFill>
                  <a:srgbClr val="172C42"/>
                </a:solidFill>
                <a:latin typeface="Consolas"/>
              </a:rPr>
              <a:t>, </a:t>
            </a:r>
            <a:r>
              <a:rPr sz="1450" b="0" dirty="0">
                <a:solidFill>
                  <a:srgbClr val="2B6B4A"/>
                </a:solidFill>
                <a:latin typeface="Consolas"/>
              </a:rPr>
              <a:t>"upi-ref-1001"</a:t>
            </a:r>
            <a:r>
              <a:rPr sz="1450" b="0" dirty="0">
                <a:solidFill>
                  <a:srgbClr val="172C42"/>
                </a:solidFill>
                <a:latin typeface="Consolas"/>
              </a:rPr>
              <a:t>));</a:t>
            </a:r>
          </a:p>
          <a:p>
            <a:pPr>
              <a:lnSpc>
                <a:spcPts val="1520"/>
              </a:lnSpc>
              <a:spcBef>
                <a:spcPts val="0"/>
              </a:spcBef>
              <a:spcAft>
                <a:spcPts val="0"/>
              </a:spcAft>
            </a:pPr>
            <a:r>
              <a:rPr sz="1450" b="0" dirty="0">
                <a:solidFill>
                  <a:srgbClr val="172C42"/>
                </a:solidFill>
                <a:latin typeface="Consolas"/>
              </a:rPr>
              <a:t>console.log(</a:t>
            </a:r>
            <a:r>
              <a:rPr sz="1450" b="0" dirty="0" err="1">
                <a:solidFill>
                  <a:srgbClr val="172C42"/>
                </a:solidFill>
                <a:latin typeface="Consolas"/>
              </a:rPr>
              <a:t>machine.buy</a:t>
            </a:r>
            <a:r>
              <a:rPr sz="1450" b="0" dirty="0">
                <a:solidFill>
                  <a:srgbClr val="172C42"/>
                </a:solidFill>
                <a:latin typeface="Consolas"/>
              </a:rPr>
              <a:t>(</a:t>
            </a:r>
            <a:r>
              <a:rPr sz="1450" b="0" dirty="0">
                <a:solidFill>
                  <a:srgbClr val="2B6B4A"/>
                </a:solidFill>
                <a:latin typeface="Consolas"/>
              </a:rPr>
              <a:t>"water"</a:t>
            </a:r>
            <a:r>
              <a:rPr sz="1450" b="0" dirty="0">
                <a:solidFill>
                  <a:srgbClr val="172C42"/>
                </a:solidFill>
                <a:latin typeface="Consolas"/>
              </a:rPr>
              <a:t>, </a:t>
            </a:r>
            <a:r>
              <a:rPr sz="1450" b="0" dirty="0">
                <a:solidFill>
                  <a:srgbClr val="2B6B4A"/>
                </a:solidFill>
                <a:latin typeface="Consolas"/>
              </a:rPr>
              <a:t>""</a:t>
            </a:r>
            <a:r>
              <a:rPr sz="1450" b="0" dirty="0">
                <a:solidFill>
                  <a:srgbClr val="172C42"/>
                </a:solidFill>
                <a:latin typeface="Consolas"/>
              </a:rPr>
              <a:t>));</a:t>
            </a:r>
          </a:p>
          <a:p>
            <a:pPr>
              <a:lnSpc>
                <a:spcPts val="1520"/>
              </a:lnSpc>
              <a:spcBef>
                <a:spcPts val="0"/>
              </a:spcBef>
              <a:spcAft>
                <a:spcPts val="0"/>
              </a:spcAft>
            </a:pPr>
            <a:r>
              <a:rPr sz="1450" b="0" dirty="0">
                <a:solidFill>
                  <a:srgbClr val="172C42"/>
                </a:solidFill>
                <a:latin typeface="Consolas"/>
              </a:rPr>
              <a:t>console.log(</a:t>
            </a:r>
            <a:r>
              <a:rPr sz="1450" b="0" dirty="0" err="1">
                <a:solidFill>
                  <a:srgbClr val="172C42"/>
                </a:solidFill>
                <a:latin typeface="Consolas"/>
              </a:rPr>
              <a:t>machine.buy</a:t>
            </a:r>
            <a:r>
              <a:rPr sz="1450" b="0" dirty="0">
                <a:solidFill>
                  <a:srgbClr val="172C42"/>
                </a:solidFill>
                <a:latin typeface="Consolas"/>
              </a:rPr>
              <a:t>(</a:t>
            </a:r>
            <a:r>
              <a:rPr sz="1450" b="0" dirty="0">
                <a:solidFill>
                  <a:srgbClr val="2B6B4A"/>
                </a:solidFill>
                <a:latin typeface="Consolas"/>
              </a:rPr>
              <a:t>"cola"</a:t>
            </a:r>
            <a:r>
              <a:rPr sz="1450" b="0" dirty="0">
                <a:solidFill>
                  <a:srgbClr val="172C42"/>
                </a:solidFill>
                <a:latin typeface="Consolas"/>
              </a:rPr>
              <a:t>, </a:t>
            </a:r>
            <a:r>
              <a:rPr sz="1450" b="0" dirty="0">
                <a:solidFill>
                  <a:srgbClr val="2B6B4A"/>
                </a:solidFill>
                <a:latin typeface="Consolas"/>
              </a:rPr>
              <a:t>"upi-ref-1002"</a:t>
            </a:r>
            <a:r>
              <a:rPr sz="1450" b="0" dirty="0">
                <a:solidFill>
                  <a:srgbClr val="172C42"/>
                </a:solidFill>
                <a:latin typeface="Consolas"/>
              </a:rPr>
              <a:t>));</a:t>
            </a:r>
          </a:p>
        </p:txBody>
      </p:sp>
    </p:spTree>
    <p:extLst>
      <p:ext uri="{BB962C8B-B14F-4D97-AF65-F5344CB8AC3E}">
        <p14:creationId xmlns:p14="http://schemas.microsoft.com/office/powerpoint/2010/main" val="5207229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713232" y="365760"/>
            <a:ext cx="10972800" cy="594360"/>
          </a:xfrm>
          <a:prstGeom prst="rect">
            <a:avLst/>
          </a:prstGeom>
          <a:noFill/>
        </p:spPr>
        <p:txBody>
          <a:bodyPr wrap="square" lIns="0" tIns="0" rIns="0" bIns="0" anchor="t">
            <a:spAutoFit/>
          </a:bodyPr>
          <a:lstStyle/>
          <a:p>
            <a:pPr>
              <a:lnSpc>
                <a:spcPts val="3500"/>
              </a:lnSpc>
              <a:spcBef>
                <a:spcPts val="0"/>
              </a:spcBef>
              <a:spcAft>
                <a:spcPts val="0"/>
              </a:spcAft>
            </a:pPr>
            <a:r>
              <a:rPr sz="3200" b="1">
                <a:solidFill>
                  <a:srgbClr val="FFFFFF"/>
                </a:solidFill>
              </a:rPr>
              <a:t>Another Design Issue</a:t>
            </a:r>
          </a:p>
        </p:txBody>
      </p:sp>
      <p:sp>
        <p:nvSpPr>
          <p:cNvPr id="19" name="TextBox 18"/>
          <p:cNvSpPr txBox="1"/>
          <p:nvPr/>
        </p:nvSpPr>
        <p:spPr>
          <a:xfrm>
            <a:off x="594360" y="1143000"/>
            <a:ext cx="54864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1  Setup, stock and payment checks</a:t>
            </a:r>
          </a:p>
        </p:txBody>
      </p:sp>
      <p:sp>
        <p:nvSpPr>
          <p:cNvPr id="20" name="TextBox 19"/>
          <p:cNvSpPr txBox="1"/>
          <p:nvPr/>
        </p:nvSpPr>
        <p:spPr>
          <a:xfrm>
            <a:off x="6309360" y="1143000"/>
            <a:ext cx="54864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2  Store the purchase and run</a:t>
            </a:r>
          </a:p>
        </p:txBody>
      </p:sp>
      <p:sp>
        <p:nvSpPr>
          <p:cNvPr id="21" name="TextBox 20"/>
          <p:cNvSpPr txBox="1"/>
          <p:nvPr/>
        </p:nvSpPr>
        <p:spPr>
          <a:xfrm>
            <a:off x="411480" y="1700784"/>
            <a:ext cx="5715000" cy="4937760"/>
          </a:xfrm>
          <a:prstGeom prst="rect">
            <a:avLst/>
          </a:prstGeom>
          <a:noFill/>
        </p:spPr>
        <p:txBody>
          <a:bodyPr wrap="square" lIns="0" tIns="0" rIns="0" bIns="0" anchor="t">
            <a:spAutoFit/>
          </a:bodyPr>
          <a:lstStyle/>
          <a:p>
            <a:pPr>
              <a:lnSpc>
                <a:spcPts val="1520"/>
              </a:lnSpc>
              <a:spcBef>
                <a:spcPts val="0"/>
              </a:spcBef>
              <a:spcAft>
                <a:spcPts val="0"/>
              </a:spcAft>
            </a:pPr>
            <a:r>
              <a:rPr sz="1450" b="1">
                <a:solidFill>
                  <a:srgbClr val="6B3FA0"/>
                </a:solidFill>
                <a:latin typeface="Consolas"/>
              </a:rPr>
              <a:t>const</a:t>
            </a:r>
            <a:r>
              <a:rPr sz="1450">
                <a:solidFill>
                  <a:srgbClr val="172C42"/>
                </a:solidFill>
                <a:latin typeface="Consolas"/>
              </a:rPr>
              <a:t> stuff = [];</a:t>
            </a:r>
          </a:p>
          <a:p>
            <a:pPr>
              <a:lnSpc>
                <a:spcPts val="1520"/>
              </a:lnSpc>
              <a:spcBef>
                <a:spcPts val="0"/>
              </a:spcBef>
              <a:spcAft>
                <a:spcPts val="0"/>
              </a:spcAft>
            </a:pPr>
            <a:r>
              <a:rPr sz="1450" b="1">
                <a:solidFill>
                  <a:srgbClr val="6B3FA0"/>
                </a:solidFill>
                <a:latin typeface="Consolas"/>
              </a:rPr>
              <a:t>function</a:t>
            </a:r>
            <a:r>
              <a:rPr sz="1450">
                <a:solidFill>
                  <a:srgbClr val="172C42"/>
                </a:solidFill>
                <a:latin typeface="Consolas"/>
              </a:rPr>
              <a:t> buy(input) {</a:t>
            </a:r>
          </a:p>
          <a:p>
            <a:pPr>
              <a:lnSpc>
                <a:spcPts val="1520"/>
              </a:lnSpc>
              <a:spcBef>
                <a:spcPts val="0"/>
              </a:spcBef>
              <a:spcAft>
                <a:spcPts val="0"/>
              </a:spcAft>
            </a:pPr>
            <a:r>
              <a:rPr sz="1450">
                <a:solidFill>
                  <a:srgbClr val="172C42"/>
                </a:solidFill>
                <a:latin typeface="Consolas"/>
              </a:rPr>
              <a:t>  </a:t>
            </a:r>
            <a:r>
              <a:rPr sz="1450" b="1">
                <a:solidFill>
                  <a:srgbClr val="6B3FA0"/>
                </a:solidFill>
                <a:latin typeface="Consolas"/>
              </a:rPr>
              <a:t>const</a:t>
            </a:r>
            <a:r>
              <a:rPr sz="1450">
                <a:solidFill>
                  <a:srgbClr val="172C42"/>
                </a:solidFill>
                <a:latin typeface="Consolas"/>
              </a:rPr>
              <a:t> connection = { id: Math.random() };</a:t>
            </a:r>
          </a:p>
          <a:p>
            <a:pPr>
              <a:lnSpc>
                <a:spcPts val="1520"/>
              </a:lnSpc>
              <a:spcBef>
                <a:spcPts val="0"/>
              </a:spcBef>
              <a:spcAft>
                <a:spcPts val="0"/>
              </a:spcAft>
            </a:pPr>
            <a:r>
              <a:rPr sz="1450">
                <a:solidFill>
                  <a:srgbClr val="172C42"/>
                </a:solidFill>
                <a:latin typeface="Consolas"/>
              </a:rPr>
              <a:t>  </a:t>
            </a:r>
            <a:r>
              <a:rPr sz="1450" b="1">
                <a:solidFill>
                  <a:srgbClr val="6B3FA0"/>
                </a:solidFill>
                <a:latin typeface="Consolas"/>
              </a:rPr>
              <a:t>const</a:t>
            </a:r>
            <a:r>
              <a:rPr sz="1450">
                <a:solidFill>
                  <a:srgbClr val="172C42"/>
                </a:solidFill>
                <a:latin typeface="Consolas"/>
              </a:rPr>
              <a:t> machine = { stock: </a:t>
            </a:r>
            <a:r>
              <a:rPr sz="1450">
                <a:solidFill>
                  <a:srgbClr val="175D9A"/>
                </a:solidFill>
                <a:latin typeface="Consolas"/>
              </a:rPr>
              <a:t>1</a:t>
            </a:r>
            <a:r>
              <a:rPr sz="1450">
                <a:solidFill>
                  <a:srgbClr val="172C42"/>
                </a:solidFill>
                <a:latin typeface="Consolas"/>
              </a:rPr>
              <a:t> };</a:t>
            </a:r>
          </a:p>
          <a:p>
            <a:pPr>
              <a:lnSpc>
                <a:spcPts val="1520"/>
              </a:lnSpc>
              <a:spcBef>
                <a:spcPts val="0"/>
              </a:spcBef>
              <a:spcAft>
                <a:spcPts val="0"/>
              </a:spcAft>
            </a:pPr>
            <a:r>
              <a:rPr sz="1450">
                <a:solidFill>
                  <a:srgbClr val="172C42"/>
                </a:solidFill>
                <a:latin typeface="Consolas"/>
              </a:rPr>
              <a:t>  </a:t>
            </a:r>
            <a:r>
              <a:rPr sz="1450" b="1">
                <a:solidFill>
                  <a:srgbClr val="6B3FA0"/>
                </a:solidFill>
                <a:latin typeface="Consolas"/>
              </a:rPr>
              <a:t>const</a:t>
            </a:r>
            <a:r>
              <a:rPr sz="1450">
                <a:solidFill>
                  <a:srgbClr val="172C42"/>
                </a:solidFill>
                <a:latin typeface="Consolas"/>
              </a:rPr>
              <a:t> payment = { pin: input.pin };</a:t>
            </a:r>
          </a:p>
          <a:p>
            <a:pPr>
              <a:lnSpc>
                <a:spcPts val="1520"/>
              </a:lnSpc>
              <a:spcBef>
                <a:spcPts val="0"/>
              </a:spcBef>
              <a:spcAft>
                <a:spcPts val="0"/>
              </a:spcAft>
            </a:pPr>
            <a:r>
              <a:rPr sz="1450">
                <a:solidFill>
                  <a:srgbClr val="172C42"/>
                </a:solidFill>
                <a:latin typeface="Consolas"/>
              </a:rPr>
              <a:t>  </a:t>
            </a:r>
            <a:r>
              <a:rPr sz="1450" b="1">
                <a:solidFill>
                  <a:srgbClr val="6B3FA0"/>
                </a:solidFill>
                <a:latin typeface="Consolas"/>
              </a:rPr>
              <a:t>const</a:t>
            </a:r>
            <a:r>
              <a:rPr sz="1450">
                <a:solidFill>
                  <a:srgbClr val="172C42"/>
                </a:solidFill>
                <a:latin typeface="Consolas"/>
              </a:rPr>
              <a:t> order = { drink: input.drink };</a:t>
            </a:r>
          </a:p>
          <a:p>
            <a:pPr>
              <a:lnSpc>
                <a:spcPts val="1520"/>
              </a:lnSpc>
              <a:spcBef>
                <a:spcPts val="0"/>
              </a:spcBef>
              <a:spcAft>
                <a:spcPts val="0"/>
              </a:spcAft>
            </a:pPr>
            <a:r>
              <a:rPr sz="1450">
                <a:solidFill>
                  <a:srgbClr val="172C42"/>
                </a:solidFill>
                <a:latin typeface="Consolas"/>
              </a:rPr>
              <a:t>  </a:t>
            </a:r>
            <a:r>
              <a:rPr sz="1450" b="1">
                <a:solidFill>
                  <a:srgbClr val="6B3FA0"/>
                </a:solidFill>
                <a:latin typeface="Consolas"/>
              </a:rPr>
              <a:t>const</a:t>
            </a:r>
            <a:r>
              <a:rPr sz="1450">
                <a:solidFill>
                  <a:srgbClr val="172C42"/>
                </a:solidFill>
                <a:latin typeface="Consolas"/>
              </a:rPr>
              <a:t> receipt = { text: </a:t>
            </a:r>
            <a:r>
              <a:rPr sz="1450">
                <a:solidFill>
                  <a:srgbClr val="2B6B4A"/>
                </a:solidFill>
                <a:latin typeface="Consolas"/>
              </a:rPr>
              <a:t>""</a:t>
            </a:r>
            <a:r>
              <a:rPr sz="1450">
                <a:solidFill>
                  <a:srgbClr val="172C42"/>
                </a:solidFill>
                <a:latin typeface="Consolas"/>
              </a:rPr>
              <a:t> };</a:t>
            </a:r>
          </a:p>
          <a:p>
            <a:pPr>
              <a:lnSpc>
                <a:spcPts val="1520"/>
              </a:lnSpc>
              <a:spcBef>
                <a:spcPts val="0"/>
              </a:spcBef>
              <a:spcAft>
                <a:spcPts val="0"/>
              </a:spcAft>
            </a:pPr>
            <a:r>
              <a:rPr sz="1450">
                <a:solidFill>
                  <a:srgbClr val="172C42"/>
                </a:solidFill>
                <a:latin typeface="Consolas"/>
              </a:rPr>
              <a:t>  </a:t>
            </a:r>
            <a:r>
              <a:rPr sz="1450" b="1">
                <a:solidFill>
                  <a:srgbClr val="6B3FA0"/>
                </a:solidFill>
                <a:latin typeface="Consolas"/>
              </a:rPr>
              <a:t>const</a:t>
            </a:r>
            <a:r>
              <a:rPr sz="1450">
                <a:solidFill>
                  <a:srgbClr val="172C42"/>
                </a:solidFill>
                <a:latin typeface="Consolas"/>
              </a:rPr>
              <a:t> screen = { html: </a:t>
            </a:r>
            <a:r>
              <a:rPr sz="1450">
                <a:solidFill>
                  <a:srgbClr val="2B6B4A"/>
                </a:solidFill>
                <a:latin typeface="Consolas"/>
              </a:rPr>
              <a:t>""</a:t>
            </a:r>
            <a:r>
              <a:rPr sz="1450">
                <a:solidFill>
                  <a:srgbClr val="172C42"/>
                </a:solidFill>
                <a:latin typeface="Consolas"/>
              </a:rPr>
              <a:t> };</a:t>
            </a:r>
          </a:p>
          <a:p>
            <a:pPr>
              <a:lnSpc>
                <a:spcPts val="1520"/>
              </a:lnSpc>
              <a:spcBef>
                <a:spcPts val="0"/>
              </a:spcBef>
              <a:spcAft>
                <a:spcPts val="0"/>
              </a:spcAft>
            </a:pPr>
            <a:r>
              <a:rPr sz="1450">
                <a:solidFill>
                  <a:srgbClr val="172C42"/>
                </a:solidFill>
                <a:latin typeface="Consolas"/>
              </a:rPr>
              <a:t>  </a:t>
            </a:r>
            <a:r>
              <a:rPr sz="1450" b="1">
                <a:solidFill>
                  <a:srgbClr val="6B3FA0"/>
                </a:solidFill>
                <a:latin typeface="Consolas"/>
              </a:rPr>
              <a:t>const</a:t>
            </a:r>
            <a:r>
              <a:rPr sz="1450">
                <a:solidFill>
                  <a:srgbClr val="172C42"/>
                </a:solidFill>
                <a:latin typeface="Consolas"/>
              </a:rPr>
              <a:t> existing = stuff.find(</a:t>
            </a:r>
          </a:p>
          <a:p>
            <a:pPr>
              <a:lnSpc>
                <a:spcPts val="1520"/>
              </a:lnSpc>
              <a:spcBef>
                <a:spcPts val="0"/>
              </a:spcBef>
              <a:spcAft>
                <a:spcPts val="0"/>
              </a:spcAft>
            </a:pPr>
            <a:r>
              <a:rPr sz="1450">
                <a:solidFill>
                  <a:srgbClr val="172C42"/>
                </a:solidFill>
                <a:latin typeface="Consolas"/>
              </a:rPr>
              <a:t>    (row) =&gt; row.drink === input.drink);</a:t>
            </a:r>
          </a:p>
          <a:p>
            <a:pPr>
              <a:lnSpc>
                <a:spcPts val="1520"/>
              </a:lnSpc>
              <a:spcBef>
                <a:spcPts val="0"/>
              </a:spcBef>
              <a:spcAft>
                <a:spcPts val="0"/>
              </a:spcAft>
            </a:pPr>
            <a:r>
              <a:rPr sz="1450">
                <a:solidFill>
                  <a:srgbClr val="172C42"/>
                </a:solidFill>
                <a:latin typeface="Consolas"/>
              </a:rPr>
              <a:t>  </a:t>
            </a:r>
            <a:r>
              <a:rPr sz="1450" b="1">
                <a:solidFill>
                  <a:srgbClr val="6B3FA0"/>
                </a:solidFill>
                <a:latin typeface="Consolas"/>
              </a:rPr>
              <a:t>const</a:t>
            </a:r>
            <a:r>
              <a:rPr sz="1450">
                <a:solidFill>
                  <a:srgbClr val="172C42"/>
                </a:solidFill>
                <a:latin typeface="Consolas"/>
              </a:rPr>
              <a:t> left = existing</a:t>
            </a:r>
          </a:p>
          <a:p>
            <a:pPr>
              <a:lnSpc>
                <a:spcPts val="1520"/>
              </a:lnSpc>
              <a:spcBef>
                <a:spcPts val="0"/>
              </a:spcBef>
              <a:spcAft>
                <a:spcPts val="0"/>
              </a:spcAft>
            </a:pPr>
            <a:r>
              <a:rPr sz="1450">
                <a:solidFill>
                  <a:srgbClr val="172C42"/>
                </a:solidFill>
                <a:latin typeface="Consolas"/>
              </a:rPr>
              <a:t>    ? Number(existing.stockLeft) : </a:t>
            </a:r>
            <a:r>
              <a:rPr sz="1450">
                <a:solidFill>
                  <a:srgbClr val="175D9A"/>
                </a:solidFill>
                <a:latin typeface="Consolas"/>
              </a:rPr>
              <a:t>1</a:t>
            </a:r>
            <a:r>
              <a:rPr sz="1450">
                <a:solidFill>
                  <a:srgbClr val="172C42"/>
                </a:solidFill>
                <a:latin typeface="Consolas"/>
              </a:rPr>
              <a:t>;</a:t>
            </a:r>
          </a:p>
          <a:p>
            <a:pPr>
              <a:lnSpc>
                <a:spcPts val="1520"/>
              </a:lnSpc>
              <a:spcBef>
                <a:spcPts val="0"/>
              </a:spcBef>
              <a:spcAft>
                <a:spcPts val="0"/>
              </a:spcAft>
            </a:pPr>
            <a:r>
              <a:rPr sz="1450">
                <a:solidFill>
                  <a:srgbClr val="172C42"/>
                </a:solidFill>
                <a:latin typeface="Consolas"/>
              </a:rPr>
              <a:t>  </a:t>
            </a:r>
            <a:r>
              <a:rPr sz="1450" b="1">
                <a:solidFill>
                  <a:srgbClr val="6B3FA0"/>
                </a:solidFill>
                <a:latin typeface="Consolas"/>
              </a:rPr>
              <a:t>if</a:t>
            </a:r>
            <a:r>
              <a:rPr sz="1450">
                <a:solidFill>
                  <a:srgbClr val="172C42"/>
                </a:solidFill>
                <a:latin typeface="Consolas"/>
              </a:rPr>
              <a:t> (left &lt; </a:t>
            </a:r>
            <a:r>
              <a:rPr sz="1450">
                <a:solidFill>
                  <a:srgbClr val="175D9A"/>
                </a:solidFill>
                <a:latin typeface="Consolas"/>
              </a:rPr>
              <a:t>1</a:t>
            </a:r>
            <a:r>
              <a:rPr sz="1450">
                <a:solidFill>
                  <a:srgbClr val="172C42"/>
                </a:solidFill>
                <a:latin typeface="Consolas"/>
              </a:rPr>
              <a:t>) {</a:t>
            </a:r>
          </a:p>
          <a:p>
            <a:pPr>
              <a:lnSpc>
                <a:spcPts val="1520"/>
              </a:lnSpc>
              <a:spcBef>
                <a:spcPts val="0"/>
              </a:spcBef>
              <a:spcAft>
                <a:spcPts val="0"/>
              </a:spcAft>
            </a:pPr>
            <a:r>
              <a:rPr sz="1450">
                <a:solidFill>
                  <a:srgbClr val="172C42"/>
                </a:solidFill>
                <a:latin typeface="Consolas"/>
              </a:rPr>
              <a:t>    screen.html =</a:t>
            </a:r>
          </a:p>
          <a:p>
            <a:pPr>
              <a:lnSpc>
                <a:spcPts val="1520"/>
              </a:lnSpc>
              <a:spcBef>
                <a:spcPts val="0"/>
              </a:spcBef>
              <a:spcAft>
                <a:spcPts val="0"/>
              </a:spcAft>
            </a:pPr>
            <a:r>
              <a:rPr sz="1450">
                <a:solidFill>
                  <a:srgbClr val="172C42"/>
                </a:solidFill>
                <a:latin typeface="Consolas"/>
              </a:rPr>
              <a:t>      </a:t>
            </a:r>
            <a:r>
              <a:rPr sz="1450">
                <a:solidFill>
                  <a:srgbClr val="2B6B4A"/>
                </a:solidFill>
                <a:latin typeface="Consolas"/>
              </a:rPr>
              <a:t>"&lt;h1 style='color:red'&gt;SOLD OUT&lt;/h1&gt;"</a:t>
            </a:r>
            <a:r>
              <a:rPr sz="1450">
                <a:solidFill>
                  <a:srgbClr val="172C42"/>
                </a:solidFill>
                <a:latin typeface="Consolas"/>
              </a:rPr>
              <a:t>;</a:t>
            </a:r>
          </a:p>
          <a:p>
            <a:pPr>
              <a:lnSpc>
                <a:spcPts val="1520"/>
              </a:lnSpc>
              <a:spcBef>
                <a:spcPts val="0"/>
              </a:spcBef>
              <a:spcAft>
                <a:spcPts val="0"/>
              </a:spcAft>
            </a:pPr>
            <a:r>
              <a:rPr sz="1450">
                <a:solidFill>
                  <a:srgbClr val="172C42"/>
                </a:solidFill>
                <a:latin typeface="Consolas"/>
              </a:rPr>
              <a:t>    console.log(screen.html);</a:t>
            </a:r>
          </a:p>
          <a:p>
            <a:pPr>
              <a:lnSpc>
                <a:spcPts val="1520"/>
              </a:lnSpc>
              <a:spcBef>
                <a:spcPts val="0"/>
              </a:spcBef>
              <a:spcAft>
                <a:spcPts val="0"/>
              </a:spcAft>
            </a:pPr>
            <a:r>
              <a:rPr sz="1450">
                <a:solidFill>
                  <a:srgbClr val="172C42"/>
                </a:solidFill>
                <a:latin typeface="Consolas"/>
              </a:rPr>
              <a:t>    </a:t>
            </a:r>
            <a:r>
              <a:rPr sz="1450" b="1">
                <a:solidFill>
                  <a:srgbClr val="6B3FA0"/>
                </a:solidFill>
                <a:latin typeface="Consolas"/>
              </a:rPr>
              <a:t>return</a:t>
            </a:r>
            <a:r>
              <a:rPr sz="1450">
                <a:solidFill>
                  <a:srgbClr val="172C42"/>
                </a:solidFill>
                <a:latin typeface="Consolas"/>
              </a:rPr>
              <a:t>;</a:t>
            </a:r>
          </a:p>
          <a:p>
            <a:pPr>
              <a:lnSpc>
                <a:spcPts val="1520"/>
              </a:lnSpc>
              <a:spcBef>
                <a:spcPts val="0"/>
              </a:spcBef>
              <a:spcAft>
                <a:spcPts val="0"/>
              </a:spcAft>
            </a:pPr>
            <a:r>
              <a:rPr sz="1450">
                <a:solidFill>
                  <a:srgbClr val="172C42"/>
                </a:solidFill>
                <a:latin typeface="Consolas"/>
              </a:rPr>
              <a:t>  }</a:t>
            </a:r>
          </a:p>
          <a:p>
            <a:pPr>
              <a:lnSpc>
                <a:spcPts val="1520"/>
              </a:lnSpc>
              <a:spcBef>
                <a:spcPts val="0"/>
              </a:spcBef>
              <a:spcAft>
                <a:spcPts val="0"/>
              </a:spcAft>
            </a:pPr>
            <a:r>
              <a:rPr sz="1450">
                <a:solidFill>
                  <a:srgbClr val="172C42"/>
                </a:solidFill>
                <a:latin typeface="Consolas"/>
              </a:rPr>
              <a:t>  </a:t>
            </a:r>
            <a:r>
              <a:rPr sz="1450" b="1">
                <a:solidFill>
                  <a:srgbClr val="6B3FA0"/>
                </a:solidFill>
                <a:latin typeface="Consolas"/>
              </a:rPr>
              <a:t>if</a:t>
            </a:r>
            <a:r>
              <a:rPr sz="1450">
                <a:solidFill>
                  <a:srgbClr val="172C42"/>
                </a:solidFill>
                <a:latin typeface="Consolas"/>
              </a:rPr>
              <a:t> (payment.pin !== </a:t>
            </a:r>
            <a:r>
              <a:rPr sz="1450">
                <a:solidFill>
                  <a:srgbClr val="2B6B4A"/>
                </a:solidFill>
                <a:latin typeface="Consolas"/>
              </a:rPr>
              <a:t>"0000"</a:t>
            </a:r>
            <a:r>
              <a:rPr sz="1450">
                <a:solidFill>
                  <a:srgbClr val="172C42"/>
                </a:solidFill>
                <a:latin typeface="Consolas"/>
              </a:rPr>
              <a:t>) {</a:t>
            </a:r>
          </a:p>
          <a:p>
            <a:pPr>
              <a:lnSpc>
                <a:spcPts val="1520"/>
              </a:lnSpc>
              <a:spcBef>
                <a:spcPts val="0"/>
              </a:spcBef>
              <a:spcAft>
                <a:spcPts val="0"/>
              </a:spcAft>
            </a:pPr>
            <a:r>
              <a:rPr sz="1450">
                <a:solidFill>
                  <a:srgbClr val="172C42"/>
                </a:solidFill>
                <a:latin typeface="Consolas"/>
              </a:rPr>
              <a:t>    screen.html =</a:t>
            </a:r>
          </a:p>
          <a:p>
            <a:pPr>
              <a:lnSpc>
                <a:spcPts val="1520"/>
              </a:lnSpc>
              <a:spcBef>
                <a:spcPts val="0"/>
              </a:spcBef>
              <a:spcAft>
                <a:spcPts val="0"/>
              </a:spcAft>
            </a:pPr>
            <a:r>
              <a:rPr sz="1450">
                <a:solidFill>
                  <a:srgbClr val="172C42"/>
                </a:solidFill>
                <a:latin typeface="Consolas"/>
              </a:rPr>
              <a:t>      </a:t>
            </a:r>
            <a:r>
              <a:rPr sz="1450">
                <a:solidFill>
                  <a:srgbClr val="2B6B4A"/>
                </a:solidFill>
                <a:latin typeface="Consolas"/>
              </a:rPr>
              <a:t>"&lt;h1 style='color:red'&gt;PAYMENT FAILED&lt;/h1&gt;"</a:t>
            </a:r>
            <a:r>
              <a:rPr sz="1450">
                <a:solidFill>
                  <a:srgbClr val="172C42"/>
                </a:solidFill>
                <a:latin typeface="Consolas"/>
              </a:rPr>
              <a:t>;</a:t>
            </a:r>
          </a:p>
          <a:p>
            <a:pPr>
              <a:lnSpc>
                <a:spcPts val="1520"/>
              </a:lnSpc>
              <a:spcBef>
                <a:spcPts val="0"/>
              </a:spcBef>
              <a:spcAft>
                <a:spcPts val="0"/>
              </a:spcAft>
            </a:pPr>
            <a:r>
              <a:rPr sz="1450">
                <a:solidFill>
                  <a:srgbClr val="172C42"/>
                </a:solidFill>
                <a:latin typeface="Consolas"/>
              </a:rPr>
              <a:t>    console.log(screen.html);</a:t>
            </a:r>
          </a:p>
          <a:p>
            <a:pPr>
              <a:lnSpc>
                <a:spcPts val="1520"/>
              </a:lnSpc>
              <a:spcBef>
                <a:spcPts val="0"/>
              </a:spcBef>
              <a:spcAft>
                <a:spcPts val="0"/>
              </a:spcAft>
            </a:pPr>
            <a:r>
              <a:rPr sz="1450">
                <a:solidFill>
                  <a:srgbClr val="172C42"/>
                </a:solidFill>
                <a:latin typeface="Consolas"/>
              </a:rPr>
              <a:t>    </a:t>
            </a:r>
            <a:r>
              <a:rPr sz="1450" b="1">
                <a:solidFill>
                  <a:srgbClr val="6B3FA0"/>
                </a:solidFill>
                <a:latin typeface="Consolas"/>
              </a:rPr>
              <a:t>return</a:t>
            </a:r>
            <a:r>
              <a:rPr sz="1450">
                <a:solidFill>
                  <a:srgbClr val="172C42"/>
                </a:solidFill>
                <a:latin typeface="Consolas"/>
              </a:rPr>
              <a:t>;</a:t>
            </a:r>
          </a:p>
          <a:p>
            <a:pPr>
              <a:lnSpc>
                <a:spcPts val="1520"/>
              </a:lnSpc>
              <a:spcBef>
                <a:spcPts val="0"/>
              </a:spcBef>
              <a:spcAft>
                <a:spcPts val="0"/>
              </a:spcAft>
            </a:pPr>
            <a:r>
              <a:rPr sz="1450">
                <a:solidFill>
                  <a:srgbClr val="172C42"/>
                </a:solidFill>
                <a:latin typeface="Consolas"/>
              </a:rPr>
              <a:t>  }</a:t>
            </a:r>
          </a:p>
        </p:txBody>
      </p:sp>
      <p:sp>
        <p:nvSpPr>
          <p:cNvPr id="22" name="TextBox 21"/>
          <p:cNvSpPr txBox="1"/>
          <p:nvPr/>
        </p:nvSpPr>
        <p:spPr>
          <a:xfrm>
            <a:off x="6309360" y="1700784"/>
            <a:ext cx="5532120" cy="4937760"/>
          </a:xfrm>
          <a:prstGeom prst="rect">
            <a:avLst/>
          </a:prstGeom>
          <a:noFill/>
        </p:spPr>
        <p:txBody>
          <a:bodyPr wrap="square" lIns="0" tIns="0" rIns="0" bIns="0" anchor="t">
            <a:spAutoFit/>
          </a:bodyPr>
          <a:lstStyle/>
          <a:p>
            <a:pPr>
              <a:lnSpc>
                <a:spcPts val="1520"/>
              </a:lnSpc>
              <a:spcBef>
                <a:spcPts val="0"/>
              </a:spcBef>
              <a:spcAft>
                <a:spcPts val="0"/>
              </a:spcAft>
            </a:pPr>
            <a:r>
              <a:rPr sz="1450">
                <a:solidFill>
                  <a:srgbClr val="172C42"/>
                </a:solidFill>
                <a:latin typeface="Consolas"/>
              </a:rPr>
              <a:t>  stuff.push({</a:t>
            </a:r>
          </a:p>
          <a:p>
            <a:pPr>
              <a:lnSpc>
                <a:spcPts val="1520"/>
              </a:lnSpc>
              <a:spcBef>
                <a:spcPts val="0"/>
              </a:spcBef>
              <a:spcAft>
                <a:spcPts val="0"/>
              </a:spcAft>
            </a:pPr>
            <a:r>
              <a:rPr sz="1450">
                <a:solidFill>
                  <a:srgbClr val="172C42"/>
                </a:solidFill>
                <a:latin typeface="Consolas"/>
              </a:rPr>
              <a:t>    drink: order.drink,</a:t>
            </a:r>
          </a:p>
          <a:p>
            <a:pPr>
              <a:lnSpc>
                <a:spcPts val="1520"/>
              </a:lnSpc>
              <a:spcBef>
                <a:spcPts val="0"/>
              </a:spcBef>
              <a:spcAft>
                <a:spcPts val="0"/>
              </a:spcAft>
            </a:pPr>
            <a:r>
              <a:rPr sz="1450">
                <a:solidFill>
                  <a:srgbClr val="172C42"/>
                </a:solidFill>
                <a:latin typeface="Consolas"/>
              </a:rPr>
              <a:t>    price: </a:t>
            </a:r>
            <a:r>
              <a:rPr sz="1450">
                <a:solidFill>
                  <a:srgbClr val="2B6B4A"/>
                </a:solidFill>
                <a:latin typeface="Consolas"/>
              </a:rPr>
              <a:t>"20"</a:t>
            </a:r>
            <a:r>
              <a:rPr sz="1450">
                <a:solidFill>
                  <a:srgbClr val="172C42"/>
                </a:solidFill>
                <a:latin typeface="Consolas"/>
              </a:rPr>
              <a:t>,</a:t>
            </a:r>
          </a:p>
          <a:p>
            <a:pPr>
              <a:lnSpc>
                <a:spcPts val="1520"/>
              </a:lnSpc>
              <a:spcBef>
                <a:spcPts val="0"/>
              </a:spcBef>
              <a:spcAft>
                <a:spcPts val="0"/>
              </a:spcAft>
            </a:pPr>
            <a:r>
              <a:rPr sz="1450">
                <a:solidFill>
                  <a:srgbClr val="172C42"/>
                </a:solidFill>
                <a:latin typeface="Consolas"/>
              </a:rPr>
              <a:t>    customerName: input.name,</a:t>
            </a:r>
          </a:p>
          <a:p>
            <a:pPr>
              <a:lnSpc>
                <a:spcPts val="1520"/>
              </a:lnSpc>
              <a:spcBef>
                <a:spcPts val="0"/>
              </a:spcBef>
              <a:spcAft>
                <a:spcPts val="0"/>
              </a:spcAft>
            </a:pPr>
            <a:r>
              <a:rPr sz="1450">
                <a:solidFill>
                  <a:srgbClr val="172C42"/>
                </a:solidFill>
                <a:latin typeface="Consolas"/>
              </a:rPr>
              <a:t>    upiPin: payment.pin,</a:t>
            </a:r>
          </a:p>
          <a:p>
            <a:pPr>
              <a:lnSpc>
                <a:spcPts val="1520"/>
              </a:lnSpc>
              <a:spcBef>
                <a:spcPts val="0"/>
              </a:spcBef>
              <a:spcAft>
                <a:spcPts val="0"/>
              </a:spcAft>
            </a:pPr>
            <a:r>
              <a:rPr sz="1450">
                <a:solidFill>
                  <a:srgbClr val="172C42"/>
                </a:solidFill>
                <a:latin typeface="Consolas"/>
              </a:rPr>
              <a:t>    stockLeft: String(left - </a:t>
            </a:r>
            <a:r>
              <a:rPr sz="1450">
                <a:solidFill>
                  <a:srgbClr val="175D9A"/>
                </a:solidFill>
                <a:latin typeface="Consolas"/>
              </a:rPr>
              <a:t>1</a:t>
            </a:r>
            <a:r>
              <a:rPr sz="1450">
                <a:solidFill>
                  <a:srgbClr val="172C42"/>
                </a:solidFill>
                <a:latin typeface="Consolas"/>
              </a:rPr>
              <a:t>),</a:t>
            </a:r>
          </a:p>
          <a:p>
            <a:pPr>
              <a:lnSpc>
                <a:spcPts val="1520"/>
              </a:lnSpc>
              <a:spcBef>
                <a:spcPts val="0"/>
              </a:spcBef>
              <a:spcAft>
                <a:spcPts val="0"/>
              </a:spcAft>
            </a:pPr>
            <a:r>
              <a:rPr sz="1450">
                <a:solidFill>
                  <a:srgbClr val="172C42"/>
                </a:solidFill>
                <a:latin typeface="Consolas"/>
              </a:rPr>
              <a:t>    paid: </a:t>
            </a:r>
            <a:r>
              <a:rPr sz="1450">
                <a:solidFill>
                  <a:srgbClr val="2B6B4A"/>
                </a:solidFill>
                <a:latin typeface="Consolas"/>
              </a:rPr>
              <a:t>"yes"</a:t>
            </a:r>
            <a:r>
              <a:rPr sz="1450">
                <a:solidFill>
                  <a:srgbClr val="172C42"/>
                </a:solidFill>
                <a:latin typeface="Consolas"/>
              </a:rPr>
              <a:t>,</a:t>
            </a:r>
          </a:p>
          <a:p>
            <a:pPr>
              <a:lnSpc>
                <a:spcPts val="1520"/>
              </a:lnSpc>
              <a:spcBef>
                <a:spcPts val="0"/>
              </a:spcBef>
              <a:spcAft>
                <a:spcPts val="0"/>
              </a:spcAft>
            </a:pPr>
            <a:r>
              <a:rPr sz="1450">
                <a:solidFill>
                  <a:srgbClr val="172C42"/>
                </a:solidFill>
                <a:latin typeface="Consolas"/>
              </a:rPr>
              <a:t>    connectionId: connection.id,</a:t>
            </a:r>
          </a:p>
          <a:p>
            <a:pPr>
              <a:lnSpc>
                <a:spcPts val="1520"/>
              </a:lnSpc>
              <a:spcBef>
                <a:spcPts val="0"/>
              </a:spcBef>
              <a:spcAft>
                <a:spcPts val="0"/>
              </a:spcAft>
            </a:pPr>
            <a:r>
              <a:rPr sz="1450">
                <a:solidFill>
                  <a:srgbClr val="172C42"/>
                </a:solidFill>
                <a:latin typeface="Consolas"/>
              </a:rPr>
              <a:t>    machine,</a:t>
            </a:r>
          </a:p>
          <a:p>
            <a:pPr>
              <a:lnSpc>
                <a:spcPts val="1520"/>
              </a:lnSpc>
              <a:spcBef>
                <a:spcPts val="0"/>
              </a:spcBef>
              <a:spcAft>
                <a:spcPts val="0"/>
              </a:spcAft>
            </a:pPr>
            <a:r>
              <a:rPr sz="1450">
                <a:solidFill>
                  <a:srgbClr val="172C42"/>
                </a:solidFill>
                <a:latin typeface="Consolas"/>
              </a:rPr>
              <a:t>    receipt,</a:t>
            </a:r>
          </a:p>
          <a:p>
            <a:pPr>
              <a:lnSpc>
                <a:spcPts val="1520"/>
              </a:lnSpc>
              <a:spcBef>
                <a:spcPts val="0"/>
              </a:spcBef>
              <a:spcAft>
                <a:spcPts val="0"/>
              </a:spcAft>
            </a:pPr>
            <a:r>
              <a:rPr sz="1450">
                <a:solidFill>
                  <a:srgbClr val="172C42"/>
                </a:solidFill>
                <a:latin typeface="Consolas"/>
              </a:rPr>
              <a:t>  });</a:t>
            </a:r>
          </a:p>
          <a:p>
            <a:pPr>
              <a:lnSpc>
                <a:spcPts val="1520"/>
              </a:lnSpc>
              <a:spcBef>
                <a:spcPts val="0"/>
              </a:spcBef>
              <a:spcAft>
                <a:spcPts val="0"/>
              </a:spcAft>
            </a:pPr>
            <a:r>
              <a:rPr sz="1450">
                <a:solidFill>
                  <a:srgbClr val="172C42"/>
                </a:solidFill>
                <a:latin typeface="Consolas"/>
              </a:rPr>
              <a:t>  screen.html = </a:t>
            </a:r>
            <a:r>
              <a:rPr sz="1450">
                <a:solidFill>
                  <a:srgbClr val="2B6B4A"/>
                </a:solidFill>
                <a:latin typeface="Consolas"/>
              </a:rPr>
              <a:t>"&lt;h1 style='color:green'&gt;TAKE "</a:t>
            </a:r>
          </a:p>
          <a:p>
            <a:pPr>
              <a:lnSpc>
                <a:spcPts val="1520"/>
              </a:lnSpc>
              <a:spcBef>
                <a:spcPts val="0"/>
              </a:spcBef>
              <a:spcAft>
                <a:spcPts val="0"/>
              </a:spcAft>
            </a:pPr>
            <a:r>
              <a:rPr sz="1450">
                <a:solidFill>
                  <a:srgbClr val="172C42"/>
                </a:solidFill>
                <a:latin typeface="Consolas"/>
              </a:rPr>
              <a:t>    + order.drink + </a:t>
            </a:r>
            <a:r>
              <a:rPr sz="1450">
                <a:solidFill>
                  <a:srgbClr val="2B6B4A"/>
                </a:solidFill>
                <a:latin typeface="Consolas"/>
              </a:rPr>
              <a:t>"&lt;/h1&gt;"</a:t>
            </a:r>
            <a:r>
              <a:rPr sz="1450">
                <a:solidFill>
                  <a:srgbClr val="172C42"/>
                </a:solidFill>
                <a:latin typeface="Consolas"/>
              </a:rPr>
              <a:t>;</a:t>
            </a:r>
          </a:p>
          <a:p>
            <a:pPr>
              <a:lnSpc>
                <a:spcPts val="1520"/>
              </a:lnSpc>
              <a:spcBef>
                <a:spcPts val="0"/>
              </a:spcBef>
              <a:spcAft>
                <a:spcPts val="0"/>
              </a:spcAft>
            </a:pPr>
            <a:r>
              <a:rPr sz="1450">
                <a:solidFill>
                  <a:srgbClr val="172C42"/>
                </a:solidFill>
                <a:latin typeface="Consolas"/>
              </a:rPr>
              <a:t>  console.log(screen.html, </a:t>
            </a:r>
            <a:r>
              <a:rPr sz="1450">
                <a:solidFill>
                  <a:srgbClr val="2B6B4A"/>
                </a:solidFill>
                <a:latin typeface="Consolas"/>
              </a:rPr>
              <a:t>"objects"</a:t>
            </a:r>
            <a:r>
              <a:rPr sz="1450">
                <a:solidFill>
                  <a:srgbClr val="172C42"/>
                </a:solidFill>
                <a:latin typeface="Consolas"/>
              </a:rPr>
              <a:t>, connection.id);</a:t>
            </a:r>
          </a:p>
          <a:p>
            <a:pPr>
              <a:lnSpc>
                <a:spcPts val="1520"/>
              </a:lnSpc>
              <a:spcBef>
                <a:spcPts val="0"/>
              </a:spcBef>
              <a:spcAft>
                <a:spcPts val="0"/>
              </a:spcAft>
            </a:pPr>
            <a:r>
              <a:rPr sz="1450">
                <a:solidFill>
                  <a:srgbClr val="172C42"/>
                </a:solidFill>
                <a:latin typeface="Consolas"/>
              </a:rPr>
              <a:t>}</a:t>
            </a:r>
          </a:p>
          <a:p>
            <a:pPr>
              <a:lnSpc>
                <a:spcPts val="1520"/>
              </a:lnSpc>
              <a:spcBef>
                <a:spcPts val="0"/>
              </a:spcBef>
              <a:spcAft>
                <a:spcPts val="0"/>
              </a:spcAft>
            </a:pPr>
            <a:r>
              <a:rPr sz="1450">
                <a:solidFill>
                  <a:srgbClr val="172C42"/>
                </a:solidFill>
                <a:latin typeface="Consolas"/>
              </a:rPr>
              <a:t>buy({ drink: </a:t>
            </a:r>
            <a:r>
              <a:rPr sz="1450">
                <a:solidFill>
                  <a:srgbClr val="2B6B4A"/>
                </a:solidFill>
                <a:latin typeface="Consolas"/>
              </a:rPr>
              <a:t>"cola"</a:t>
            </a:r>
            <a:r>
              <a:rPr sz="1450">
                <a:solidFill>
                  <a:srgbClr val="172C42"/>
                </a:solidFill>
                <a:latin typeface="Consolas"/>
              </a:rPr>
              <a:t>,</a:t>
            </a:r>
          </a:p>
          <a:p>
            <a:pPr>
              <a:lnSpc>
                <a:spcPts val="1520"/>
              </a:lnSpc>
              <a:spcBef>
                <a:spcPts val="0"/>
              </a:spcBef>
              <a:spcAft>
                <a:spcPts val="0"/>
              </a:spcAft>
            </a:pPr>
            <a:r>
              <a:rPr sz="1450">
                <a:solidFill>
                  <a:srgbClr val="172C42"/>
                </a:solidFill>
                <a:latin typeface="Consolas"/>
              </a:rPr>
              <a:t>  name: </a:t>
            </a:r>
            <a:r>
              <a:rPr sz="1450">
                <a:solidFill>
                  <a:srgbClr val="2B6B4A"/>
                </a:solidFill>
                <a:latin typeface="Consolas"/>
              </a:rPr>
              <a:t>"Synthetic Customer"</a:t>
            </a:r>
            <a:r>
              <a:rPr sz="1450">
                <a:solidFill>
                  <a:srgbClr val="172C42"/>
                </a:solidFill>
                <a:latin typeface="Consolas"/>
              </a:rPr>
              <a:t>, pin: </a:t>
            </a:r>
            <a:r>
              <a:rPr sz="1450">
                <a:solidFill>
                  <a:srgbClr val="2B6B4A"/>
                </a:solidFill>
                <a:latin typeface="Consolas"/>
              </a:rPr>
              <a:t>"0000"</a:t>
            </a:r>
            <a:r>
              <a:rPr sz="1450">
                <a:solidFill>
                  <a:srgbClr val="172C42"/>
                </a:solidFill>
                <a:latin typeface="Consolas"/>
              </a:rPr>
              <a:t> });</a:t>
            </a:r>
          </a:p>
          <a:p>
            <a:pPr>
              <a:lnSpc>
                <a:spcPts val="1520"/>
              </a:lnSpc>
              <a:spcBef>
                <a:spcPts val="0"/>
              </a:spcBef>
              <a:spcAft>
                <a:spcPts val="0"/>
              </a:spcAft>
            </a:pPr>
            <a:r>
              <a:rPr sz="1450">
                <a:solidFill>
                  <a:srgbClr val="172C42"/>
                </a:solidFill>
                <a:latin typeface="Consolas"/>
              </a:rPr>
              <a:t>buy({ drink: </a:t>
            </a:r>
            <a:r>
              <a:rPr sz="1450">
                <a:solidFill>
                  <a:srgbClr val="2B6B4A"/>
                </a:solidFill>
                <a:latin typeface="Consolas"/>
              </a:rPr>
              <a:t>"cola"</a:t>
            </a:r>
            <a:r>
              <a:rPr sz="1450">
                <a:solidFill>
                  <a:srgbClr val="172C42"/>
                </a:solidFill>
                <a:latin typeface="Consolas"/>
              </a:rPr>
              <a:t>,</a:t>
            </a:r>
          </a:p>
          <a:p>
            <a:pPr>
              <a:lnSpc>
                <a:spcPts val="1520"/>
              </a:lnSpc>
              <a:spcBef>
                <a:spcPts val="0"/>
              </a:spcBef>
              <a:spcAft>
                <a:spcPts val="0"/>
              </a:spcAft>
            </a:pPr>
            <a:r>
              <a:rPr sz="1450">
                <a:solidFill>
                  <a:srgbClr val="172C42"/>
                </a:solidFill>
                <a:latin typeface="Consolas"/>
              </a:rPr>
              <a:t>  name: </a:t>
            </a:r>
            <a:r>
              <a:rPr sz="1450">
                <a:solidFill>
                  <a:srgbClr val="2B6B4A"/>
                </a:solidFill>
                <a:latin typeface="Consolas"/>
              </a:rPr>
              <a:t>"Synthetic Customer"</a:t>
            </a:r>
            <a:r>
              <a:rPr sz="1450">
                <a:solidFill>
                  <a:srgbClr val="172C42"/>
                </a:solidFill>
                <a:latin typeface="Consolas"/>
              </a:rPr>
              <a:t>, pin: </a:t>
            </a:r>
            <a:r>
              <a:rPr sz="1450">
                <a:solidFill>
                  <a:srgbClr val="2B6B4A"/>
                </a:solidFill>
                <a:latin typeface="Consolas"/>
              </a:rPr>
              <a:t>"0000"</a:t>
            </a:r>
            <a:r>
              <a:rPr sz="1450">
                <a:solidFill>
                  <a:srgbClr val="172C42"/>
                </a:solidFill>
                <a:latin typeface="Consolas"/>
              </a:rPr>
              <a:t> });</a:t>
            </a:r>
          </a:p>
          <a:p>
            <a:pPr>
              <a:lnSpc>
                <a:spcPts val="1520"/>
              </a:lnSpc>
              <a:spcBef>
                <a:spcPts val="0"/>
              </a:spcBef>
              <a:spcAft>
                <a:spcPts val="0"/>
              </a:spcAft>
            </a:pPr>
            <a:r>
              <a:rPr sz="1450">
                <a:solidFill>
                  <a:srgbClr val="172C42"/>
                </a:solidFill>
                <a:latin typeface="Consolas"/>
              </a:rPr>
              <a:t>console.log(stuff);</a:t>
            </a:r>
          </a:p>
        </p:txBody>
      </p:sp>
    </p:spTree>
    <p:extLst>
      <p:ext uri="{BB962C8B-B14F-4D97-AF65-F5344CB8AC3E}">
        <p14:creationId xmlns:p14="http://schemas.microsoft.com/office/powerpoint/2010/main" val="33549325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Vending service: weak and repaired design</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143000"/>
            <a:ext cx="10881360" cy="777240"/>
          </a:xfrm>
        </p:spPr>
        <p:txBody>
          <a:bodyPr wrap="square" lIns="0" tIns="0" rIns="0" bIns="0"/>
          <a:lstStyle/>
          <a:p>
            <a:pPr marL="0" indent="0" algn="l">
              <a:spcAft>
                <a:spcPts val="600"/>
              </a:spcAft>
              <a:buNone/>
            </a:pPr>
            <a:r>
              <a:rPr lang="en-US" sz="2200" b="0">
                <a:solidFill>
                  <a:srgbClr val="3C4A58"/>
                </a:solidFill>
              </a:rPr>
              <a:t>The repair gives data, sale creation, display, and payment their own responsibilities.</a:t>
            </a:r>
            <a:endParaRPr lang="en-US"/>
          </a:p>
        </p:txBody>
      </p:sp>
      <p:graphicFrame>
        <p:nvGraphicFramePr>
          <p:cNvPr id="4" name="Table 3"/>
          <p:cNvGraphicFramePr>
            <a:graphicFrameLocks noGrp="1"/>
          </p:cNvGraphicFramePr>
          <p:nvPr>
            <p:extLst>
              <p:ext uri="{D42A27DB-BD31-4B8C-83A1-F6EECF244321}">
                <p14:modId xmlns:p14="http://schemas.microsoft.com/office/powerpoint/2010/main" val="3321451747"/>
              </p:ext>
            </p:extLst>
          </p:nvPr>
        </p:nvGraphicFramePr>
        <p:xfrm>
          <a:off x="594360" y="1783080"/>
          <a:ext cx="11000232" cy="4818888"/>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599432">
                  <a:extLst>
                    <a:ext uri="{9D8B030D-6E8A-4147-A177-3AD203B41FA5}">
                      <a16:colId xmlns:a16="http://schemas.microsoft.com/office/drawing/2014/main" val="20002"/>
                    </a:ext>
                  </a:extLst>
                </a:gridCol>
              </a:tblGrid>
              <a:tr h="502920">
                <a:tc>
                  <a:txBody>
                    <a:bodyPr/>
                    <a:lstStyle/>
                    <a:p>
                      <a:pPr algn="l">
                        <a:spcAft>
                          <a:spcPts val="400"/>
                        </a:spcAft>
                      </a:pPr>
                      <a:r>
                        <a:rPr sz="1700" b="1">
                          <a:solidFill>
                            <a:srgbClr val="FFFFFF"/>
                          </a:solidFill>
                        </a:rPr>
                        <a:t>Pattern</a:t>
                      </a:r>
                    </a:p>
                  </a:txBody>
                  <a:tcPr marL="164592" marR="164592" marT="109728" marB="73152">
                    <a:lnL>
                      <a:noFill/>
                    </a:lnL>
                    <a:lnR>
                      <a:noFill/>
                    </a:lnR>
                    <a:lnT>
                      <a:noFill/>
                    </a:lnT>
                    <a:lnB>
                      <a:noFill/>
                    </a:lnB>
                    <a:solidFill>
                      <a:srgbClr val="172C42"/>
                    </a:solidFill>
                  </a:tcPr>
                </a:tc>
                <a:tc>
                  <a:txBody>
                    <a:bodyPr/>
                    <a:lstStyle/>
                    <a:p>
                      <a:pPr algn="l">
                        <a:spcAft>
                          <a:spcPts val="400"/>
                        </a:spcAft>
                      </a:pPr>
                      <a:r>
                        <a:rPr sz="1700" b="1">
                          <a:solidFill>
                            <a:srgbClr val="FFFFFF"/>
                          </a:solidFill>
                        </a:rPr>
                        <a:t>Weak file</a:t>
                      </a:r>
                    </a:p>
                  </a:txBody>
                  <a:tcPr marL="164592" marR="164592" marT="109728" marB="73152">
                    <a:lnL>
                      <a:noFill/>
                    </a:lnL>
                    <a:lnR>
                      <a:noFill/>
                    </a:lnR>
                    <a:lnT>
                      <a:noFill/>
                    </a:lnT>
                    <a:lnB>
                      <a:noFill/>
                    </a:lnB>
                    <a:solidFill>
                      <a:srgbClr val="172C42"/>
                    </a:solidFill>
                  </a:tcPr>
                </a:tc>
                <a:tc>
                  <a:txBody>
                    <a:bodyPr/>
                    <a:lstStyle/>
                    <a:p>
                      <a:pPr algn="l">
                        <a:spcAft>
                          <a:spcPts val="400"/>
                        </a:spcAft>
                      </a:pPr>
                      <a:r>
                        <a:rPr sz="1700" b="1">
                          <a:solidFill>
                            <a:srgbClr val="FFFFFF"/>
                          </a:solidFill>
                        </a:rPr>
                        <a:t>Repaired file</a:t>
                      </a:r>
                    </a:p>
                  </a:txBody>
                  <a:tcPr marL="164592" marR="164592" marT="109728" marB="73152">
                    <a:lnL>
                      <a:noFill/>
                    </a:lnL>
                    <a:lnR>
                      <a:noFill/>
                    </a:lnR>
                    <a:lnT>
                      <a:noFill/>
                    </a:lnT>
                    <a:lnB>
                      <a:noFill/>
                    </a:lnB>
                    <a:solidFill>
                      <a:srgbClr val="172C42"/>
                    </a:solidFill>
                  </a:tcPr>
                </a:tc>
                <a:extLst>
                  <a:ext uri="{0D108BD9-81ED-4DB2-BD59-A6C34878D82A}">
                    <a16:rowId xmlns:a16="http://schemas.microsoft.com/office/drawing/2014/main" val="10000"/>
                  </a:ext>
                </a:extLst>
              </a:tr>
              <a:tr h="1124712">
                <a:tc>
                  <a:txBody>
                    <a:bodyPr/>
                    <a:lstStyle/>
                    <a:p>
                      <a:pPr algn="l">
                        <a:spcAft>
                          <a:spcPts val="400"/>
                        </a:spcAft>
                      </a:pPr>
                      <a:r>
                        <a:rPr sz="1800" b="1">
                          <a:solidFill>
                            <a:srgbClr val="172C42"/>
                          </a:solidFill>
                        </a:rPr>
                        <a:t>Repository</a:t>
                      </a:r>
                    </a:p>
                  </a:txBody>
                  <a:tcPr marL="164592" marR="164592" marT="109728" marB="73152">
                    <a:lnL>
                      <a:noFill/>
                    </a:lnL>
                    <a:lnR>
                      <a:noFill/>
                    </a:lnR>
                    <a:lnT>
                      <a:noFill/>
                    </a:lnT>
                    <a:lnB>
                      <a:noFill/>
                    </a:lnB>
                    <a:solidFill>
                      <a:srgbClr val="EDF2F5"/>
                    </a:solidFill>
                  </a:tcPr>
                </a:tc>
                <a:tc>
                  <a:txBody>
                    <a:bodyPr/>
                    <a:lstStyle/>
                    <a:p>
                      <a:pPr algn="l">
                        <a:spcAft>
                          <a:spcPts val="400"/>
                        </a:spcAft>
                      </a:pPr>
                      <a:r>
                        <a:rPr sz="1800" b="0">
                          <a:solidFill>
                            <a:srgbClr val="172C42"/>
                          </a:solidFill>
                        </a:rPr>
                        <a:t>buy reads and writes the stuff list itself, and stock is copied onto the payment row.</a:t>
                      </a:r>
                    </a:p>
                  </a:txBody>
                  <a:tcPr marL="164592" marR="164592" marT="109728" marB="73152">
                    <a:lnL>
                      <a:noFill/>
                    </a:lnL>
                    <a:lnR>
                      <a:noFill/>
                    </a:lnR>
                    <a:lnT>
                      <a:noFill/>
                    </a:lnT>
                    <a:lnB>
                      <a:noFill/>
                    </a:lnB>
                    <a:solidFill>
                      <a:srgbClr val="EDF2F5"/>
                    </a:solidFill>
                  </a:tcPr>
                </a:tc>
                <a:tc>
                  <a:txBody>
                    <a:bodyPr/>
                    <a:lstStyle/>
                    <a:p>
                      <a:pPr algn="l">
                        <a:spcAft>
                          <a:spcPts val="400"/>
                        </a:spcAft>
                      </a:pPr>
                      <a:r>
                        <a:rPr sz="1800" b="0">
                          <a:solidFill>
                            <a:srgbClr val="172C42"/>
                          </a:solidFill>
                        </a:rPr>
                        <a:t>ProductRepository keeps the drink and stock. PaymentRepository keeps only the sale.</a:t>
                      </a:r>
                    </a:p>
                  </a:txBody>
                  <a:tcPr marL="164592" marR="164592" marT="109728" marB="73152">
                    <a:lnL>
                      <a:noFill/>
                    </a:lnL>
                    <a:lnR>
                      <a:noFill/>
                    </a:lnR>
                    <a:lnT>
                      <a:noFill/>
                    </a:lnT>
                    <a:lnB>
                      <a:noFill/>
                    </a:lnB>
                    <a:solidFill>
                      <a:srgbClr val="EDF2F5"/>
                    </a:solidFill>
                  </a:tcPr>
                </a:tc>
                <a:extLst>
                  <a:ext uri="{0D108BD9-81ED-4DB2-BD59-A6C34878D82A}">
                    <a16:rowId xmlns:a16="http://schemas.microsoft.com/office/drawing/2014/main" val="10001"/>
                  </a:ext>
                </a:extLst>
              </a:tr>
              <a:tr h="1124712">
                <a:tc>
                  <a:txBody>
                    <a:bodyPr/>
                    <a:lstStyle/>
                    <a:p>
                      <a:pPr algn="l">
                        <a:spcAft>
                          <a:spcPts val="400"/>
                        </a:spcAft>
                      </a:pPr>
                      <a:r>
                        <a:rPr sz="1800" b="1">
                          <a:solidFill>
                            <a:srgbClr val="172C42"/>
                          </a:solidFill>
                        </a:rPr>
                        <a:t>Factory</a:t>
                      </a:r>
                    </a:p>
                  </a:txBody>
                  <a:tcPr marL="164592" marR="164592" marT="109728" marB="73152">
                    <a:lnL>
                      <a:noFill/>
                    </a:lnL>
                    <a:lnR>
                      <a:noFill/>
                    </a:lnR>
                    <a:lnT>
                      <a:noFill/>
                    </a:lnT>
                    <a:lnB>
                      <a:noFill/>
                    </a:lnB>
                    <a:solidFill>
                      <a:srgbClr val="FFFFFF"/>
                    </a:solidFill>
                  </a:tcPr>
                </a:tc>
                <a:tc>
                  <a:txBody>
                    <a:bodyPr/>
                    <a:lstStyle/>
                    <a:p>
                      <a:pPr algn="l">
                        <a:spcAft>
                          <a:spcPts val="400"/>
                        </a:spcAft>
                      </a:pPr>
                      <a:r>
                        <a:rPr sz="1800" b="0">
                          <a:solidFill>
                            <a:srgbClr val="172C42"/>
                          </a:solidFill>
                        </a:rPr>
                        <a:t>The sale row is built by hand inside buy, including the PIN and the price text "20".</a:t>
                      </a:r>
                    </a:p>
                  </a:txBody>
                  <a:tcPr marL="164592" marR="164592" marT="109728" marB="73152">
                    <a:lnL>
                      <a:noFill/>
                    </a:lnL>
                    <a:lnR>
                      <a:noFill/>
                    </a:lnR>
                    <a:lnT>
                      <a:noFill/>
                    </a:lnT>
                    <a:lnB>
                      <a:noFill/>
                    </a:lnB>
                    <a:solidFill>
                      <a:srgbClr val="FFFFFF"/>
                    </a:solidFill>
                  </a:tcPr>
                </a:tc>
                <a:tc>
                  <a:txBody>
                    <a:bodyPr/>
                    <a:lstStyle/>
                    <a:p>
                      <a:pPr algn="l">
                        <a:spcAft>
                          <a:spcPts val="400"/>
                        </a:spcAft>
                      </a:pPr>
                      <a:r>
                        <a:rPr sz="1800" b="0" err="1">
                          <a:solidFill>
                            <a:srgbClr val="172C42"/>
                          </a:solidFill>
                        </a:rPr>
                        <a:t>OrderFactory.create builds one sale: product name, numeric price, payment reference, and status.</a:t>
                      </a:r>
                    </a:p>
                  </a:txBody>
                  <a:tcPr marL="164592" marR="164592" marT="109728" marB="73152">
                    <a:lnL>
                      <a:noFill/>
                    </a:lnL>
                    <a:lnR>
                      <a:noFill/>
                    </a:lnR>
                    <a:lnT>
                      <a:noFill/>
                    </a:lnT>
                    <a:lnB>
                      <a:noFill/>
                    </a:lnB>
                    <a:solidFill>
                      <a:srgbClr val="FFFFFF"/>
                    </a:solidFill>
                  </a:tcPr>
                </a:tc>
                <a:extLst>
                  <a:ext uri="{0D108BD9-81ED-4DB2-BD59-A6C34878D82A}">
                    <a16:rowId xmlns:a16="http://schemas.microsoft.com/office/drawing/2014/main" val="10002"/>
                  </a:ext>
                </a:extLst>
              </a:tr>
              <a:tr h="1124712">
                <a:tc>
                  <a:txBody>
                    <a:bodyPr/>
                    <a:lstStyle/>
                    <a:p>
                      <a:pPr algn="l">
                        <a:spcAft>
                          <a:spcPts val="400"/>
                        </a:spcAft>
                      </a:pPr>
                      <a:r>
                        <a:rPr sz="1800" b="1">
                          <a:solidFill>
                            <a:srgbClr val="172C42"/>
                          </a:solidFill>
                        </a:rPr>
                        <a:t>Model–view–controller</a:t>
                      </a:r>
                    </a:p>
                  </a:txBody>
                  <a:tcPr marL="164592" marR="164592" marT="109728" marB="73152">
                    <a:lnL>
                      <a:noFill/>
                    </a:lnL>
                    <a:lnR>
                      <a:noFill/>
                    </a:lnR>
                    <a:lnT>
                      <a:noFill/>
                    </a:lnT>
                    <a:lnB>
                      <a:noFill/>
                    </a:lnB>
                    <a:solidFill>
                      <a:srgbClr val="EDF2F5"/>
                    </a:solidFill>
                  </a:tcPr>
                </a:tc>
                <a:tc>
                  <a:txBody>
                    <a:bodyPr/>
                    <a:lstStyle/>
                    <a:p>
                      <a:pPr algn="l">
                        <a:spcAft>
                          <a:spcPts val="400"/>
                        </a:spcAft>
                      </a:pPr>
                      <a:r>
                        <a:rPr sz="1800" b="0">
                          <a:solidFill>
                            <a:srgbClr val="172C42"/>
                          </a:solidFill>
                        </a:rPr>
                        <a:t>buy writes the HTML, such as &lt;h1 style='color:red'&gt;SOLD OUT&lt;/h1&gt;.</a:t>
                      </a:r>
                    </a:p>
                  </a:txBody>
                  <a:tcPr marL="164592" marR="164592" marT="109728" marB="73152">
                    <a:lnL>
                      <a:noFill/>
                    </a:lnL>
                    <a:lnR>
                      <a:noFill/>
                    </a:lnR>
                    <a:lnT>
                      <a:noFill/>
                    </a:lnT>
                    <a:lnB>
                      <a:noFill/>
                    </a:lnB>
                    <a:solidFill>
                      <a:srgbClr val="EDF2F5"/>
                    </a:solidFill>
                  </a:tcPr>
                </a:tc>
                <a:tc>
                  <a:txBody>
                    <a:bodyPr/>
                    <a:lstStyle/>
                    <a:p>
                      <a:pPr algn="l">
                        <a:spcAft>
                          <a:spcPts val="400"/>
                        </a:spcAft>
                      </a:pPr>
                      <a:r>
                        <a:rPr sz="1800" b="0" err="1">
                          <a:solidFill>
                            <a:srgbClr val="172C42"/>
                          </a:solidFill>
                        </a:rPr>
                        <a:t>buy returns { status, message }. renderReceipt is the only place that turns that into screen text.</a:t>
                      </a:r>
                    </a:p>
                  </a:txBody>
                  <a:tcPr marL="164592" marR="164592" marT="109728" marB="73152">
                    <a:lnL>
                      <a:noFill/>
                    </a:lnL>
                    <a:lnR>
                      <a:noFill/>
                    </a:lnR>
                    <a:lnT>
                      <a:noFill/>
                    </a:lnT>
                    <a:lnB>
                      <a:noFill/>
                    </a:lnB>
                    <a:solidFill>
                      <a:srgbClr val="EDF2F5"/>
                    </a:solidFill>
                  </a:tcPr>
                </a:tc>
                <a:extLst>
                  <a:ext uri="{0D108BD9-81ED-4DB2-BD59-A6C34878D82A}">
                    <a16:rowId xmlns:a16="http://schemas.microsoft.com/office/drawing/2014/main" val="1400381985"/>
                  </a:ext>
                </a:extLst>
              </a:tr>
              <a:tr h="941832">
                <a:tc>
                  <a:txBody>
                    <a:bodyPr/>
                    <a:lstStyle/>
                    <a:p>
                      <a:pPr algn="l">
                        <a:spcAft>
                          <a:spcPts val="400"/>
                        </a:spcAft>
                      </a:pPr>
                      <a:r>
                        <a:rPr sz="1800" b="1">
                          <a:solidFill>
                            <a:srgbClr val="172C42"/>
                          </a:solidFill>
                        </a:rPr>
                        <a:t>Strategy</a:t>
                      </a:r>
                    </a:p>
                  </a:txBody>
                  <a:tcPr marL="164592" marR="164592" marT="109728" marB="73152">
                    <a:lnL>
                      <a:noFill/>
                    </a:lnL>
                    <a:lnR>
                      <a:noFill/>
                    </a:lnR>
                    <a:lnT>
                      <a:noFill/>
                    </a:lnT>
                    <a:lnB>
                      <a:noFill/>
                    </a:lnB>
                    <a:solidFill>
                      <a:srgbClr val="FFFFFF"/>
                    </a:solidFill>
                  </a:tcPr>
                </a:tc>
                <a:tc>
                  <a:txBody>
                    <a:bodyPr/>
                    <a:lstStyle/>
                    <a:p>
                      <a:pPr algn="l">
                        <a:spcAft>
                          <a:spcPts val="400"/>
                        </a:spcAft>
                      </a:pPr>
                      <a:r>
                        <a:rPr sz="1800" b="0">
                          <a:solidFill>
                            <a:srgbClr val="172C42"/>
                          </a:solidFill>
                        </a:rPr>
                        <a:t>The PIN "0000" is compared inside buy.</a:t>
                      </a:r>
                    </a:p>
                  </a:txBody>
                  <a:tcPr marL="164592" marR="164592" marT="109728" marB="73152">
                    <a:lnL>
                      <a:noFill/>
                    </a:lnL>
                    <a:lnR>
                      <a:noFill/>
                    </a:lnR>
                    <a:lnT>
                      <a:noFill/>
                    </a:lnT>
                    <a:lnB>
                      <a:noFill/>
                    </a:lnB>
                    <a:solidFill>
                      <a:srgbClr val="FFFFFF"/>
                    </a:solidFill>
                  </a:tcPr>
                </a:tc>
                <a:tc>
                  <a:txBody>
                    <a:bodyPr/>
                    <a:lstStyle/>
                    <a:p>
                      <a:pPr algn="l">
                        <a:spcAft>
                          <a:spcPts val="400"/>
                        </a:spcAft>
                      </a:pPr>
                      <a:r>
                        <a:rPr sz="1800" b="0" dirty="0" err="1">
                          <a:solidFill>
                            <a:srgbClr val="172C42"/>
                          </a:solidFill>
                        </a:rPr>
                        <a:t>UpiPayment.approve</a:t>
                      </a:r>
                      <a:r>
                        <a:rPr sz="1800" b="0" dirty="0">
                          <a:solidFill>
                            <a:srgbClr val="172C42"/>
                          </a:solidFill>
                        </a:rPr>
                        <a:t> decides whether the payment is accepted.</a:t>
                      </a:r>
                    </a:p>
                  </a:txBody>
                  <a:tcPr marL="164592" marR="164592" marT="109728" marB="73152">
                    <a:lnL>
                      <a:noFill/>
                    </a:lnL>
                    <a:lnR>
                      <a:noFill/>
                    </a:lnR>
                    <a:lnT>
                      <a:noFill/>
                    </a:lnT>
                    <a:lnB>
                      <a:noFill/>
                    </a:lnB>
                    <a:solidFill>
                      <a:srgbClr val="FFFFFF"/>
                    </a:solidFill>
                  </a:tcPr>
                </a:tc>
                <a:extLst>
                  <a:ext uri="{0D108BD9-81ED-4DB2-BD59-A6C34878D82A}">
                    <a16:rowId xmlns:a16="http://schemas.microsoft.com/office/drawing/2014/main" val="4278584518"/>
                  </a:ext>
                </a:extLst>
              </a:tr>
            </a:tbl>
          </a:graphicData>
        </a:graphic>
      </p:graphicFrame>
    </p:spTree>
    <p:extLst>
      <p:ext uri="{BB962C8B-B14F-4D97-AF65-F5344CB8AC3E}">
        <p14:creationId xmlns:p14="http://schemas.microsoft.com/office/powerpoint/2010/main" val="27640537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713232" y="365760"/>
            <a:ext cx="10972800" cy="594360"/>
          </a:xfrm>
          <a:prstGeom prst="rect">
            <a:avLst/>
          </a:prstGeom>
          <a:noFill/>
        </p:spPr>
        <p:txBody>
          <a:bodyPr wrap="square" lIns="0" tIns="0" rIns="0" bIns="0" anchor="t">
            <a:spAutoFit/>
          </a:bodyPr>
          <a:lstStyle/>
          <a:p>
            <a:pPr>
              <a:lnSpc>
                <a:spcPts val="3500"/>
              </a:lnSpc>
              <a:spcBef>
                <a:spcPts val="0"/>
              </a:spcBef>
              <a:spcAft>
                <a:spcPts val="0"/>
              </a:spcAft>
            </a:pPr>
            <a:r>
              <a:rPr sz="3200" b="1">
                <a:solidFill>
                  <a:srgbClr val="FFFFFF"/>
                </a:solidFill>
              </a:rPr>
              <a:t>Vending service with separate responsibilities</a:t>
            </a:r>
          </a:p>
        </p:txBody>
      </p:sp>
      <p:sp>
        <p:nvSpPr>
          <p:cNvPr id="19" name="TextBox 18"/>
          <p:cNvSpPr txBox="1"/>
          <p:nvPr/>
        </p:nvSpPr>
        <p:spPr>
          <a:xfrm>
            <a:off x="594360" y="1143000"/>
            <a:ext cx="54864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1  Catalog, repositories and helpers</a:t>
            </a:r>
          </a:p>
        </p:txBody>
      </p:sp>
      <p:sp>
        <p:nvSpPr>
          <p:cNvPr id="20" name="TextBox 19"/>
          <p:cNvSpPr txBox="1"/>
          <p:nvPr/>
        </p:nvSpPr>
        <p:spPr>
          <a:xfrm>
            <a:off x="6309360" y="1143000"/>
            <a:ext cx="54864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2  Service and calls</a:t>
            </a:r>
          </a:p>
        </p:txBody>
      </p:sp>
      <p:sp>
        <p:nvSpPr>
          <p:cNvPr id="21" name="TextBox 20"/>
          <p:cNvSpPr txBox="1"/>
          <p:nvPr/>
        </p:nvSpPr>
        <p:spPr>
          <a:xfrm>
            <a:off x="292608" y="1664208"/>
            <a:ext cx="5696712" cy="5074920"/>
          </a:xfrm>
          <a:prstGeom prst="rect">
            <a:avLst/>
          </a:prstGeom>
          <a:noFill/>
        </p:spPr>
        <p:txBody>
          <a:bodyPr wrap="square" lIns="0" tIns="0" rIns="0" bIns="0" anchor="t">
            <a:spAutoFit/>
          </a:bodyPr>
          <a:lstStyle/>
          <a:p>
            <a:pPr>
              <a:lnSpc>
                <a:spcPts val="1270"/>
              </a:lnSpc>
              <a:spcBef>
                <a:spcPts val="0"/>
              </a:spcBef>
              <a:spcAft>
                <a:spcPts val="0"/>
              </a:spcAft>
            </a:pPr>
            <a:r>
              <a:rPr sz="1200" b="1">
                <a:solidFill>
                  <a:srgbClr val="6B3FA0"/>
                </a:solidFill>
                <a:latin typeface="Consolas"/>
              </a:rPr>
              <a:t>const</a:t>
            </a:r>
            <a:r>
              <a:rPr sz="1200">
                <a:solidFill>
                  <a:srgbClr val="172C42"/>
                </a:solidFill>
                <a:latin typeface="Consolas"/>
              </a:rPr>
              <a:t> catalog = {</a:t>
            </a:r>
          </a:p>
          <a:p>
            <a:pPr>
              <a:lnSpc>
                <a:spcPts val="1270"/>
              </a:lnSpc>
              <a:spcBef>
                <a:spcPts val="0"/>
              </a:spcBef>
              <a:spcAft>
                <a:spcPts val="0"/>
              </a:spcAft>
            </a:pPr>
            <a:r>
              <a:rPr sz="1200">
                <a:solidFill>
                  <a:srgbClr val="172C42"/>
                </a:solidFill>
                <a:latin typeface="Consolas"/>
              </a:rPr>
              <a:t>  cola: { name: </a:t>
            </a:r>
            <a:r>
              <a:rPr sz="1200">
                <a:solidFill>
                  <a:srgbClr val="2B6B4A"/>
                </a:solidFill>
                <a:latin typeface="Consolas"/>
              </a:rPr>
              <a:t>"cola"</a:t>
            </a:r>
            <a:r>
              <a:rPr sz="1200">
                <a:solidFill>
                  <a:srgbClr val="172C42"/>
                </a:solidFill>
                <a:latin typeface="Consolas"/>
              </a:rPr>
              <a:t>, price: </a:t>
            </a:r>
            <a:r>
              <a:rPr sz="1200">
                <a:solidFill>
                  <a:srgbClr val="175D9A"/>
                </a:solidFill>
                <a:latin typeface="Consolas"/>
              </a:rPr>
              <a:t>20</a:t>
            </a:r>
            <a:r>
              <a:rPr sz="1200">
                <a:solidFill>
                  <a:srgbClr val="172C42"/>
                </a:solidFill>
                <a:latin typeface="Consolas"/>
              </a:rPr>
              <a:t>, stock: </a:t>
            </a:r>
            <a:r>
              <a:rPr sz="1200">
                <a:solidFill>
                  <a:srgbClr val="175D9A"/>
                </a:solidFill>
                <a:latin typeface="Consolas"/>
              </a:rPr>
              <a:t>1</a:t>
            </a:r>
            <a:r>
              <a:rPr sz="1200">
                <a:solidFill>
                  <a:srgbClr val="172C42"/>
                </a:solidFill>
                <a:latin typeface="Consolas"/>
              </a:rPr>
              <a:t> },</a:t>
            </a:r>
          </a:p>
          <a:p>
            <a:pPr>
              <a:lnSpc>
                <a:spcPts val="1270"/>
              </a:lnSpc>
              <a:spcBef>
                <a:spcPts val="0"/>
              </a:spcBef>
              <a:spcAft>
                <a:spcPts val="0"/>
              </a:spcAft>
            </a:pPr>
            <a:r>
              <a:rPr sz="1200">
                <a:solidFill>
                  <a:srgbClr val="172C42"/>
                </a:solidFill>
                <a:latin typeface="Consolas"/>
              </a:rPr>
              <a:t>};</a:t>
            </a:r>
          </a:p>
          <a:p>
            <a:pPr>
              <a:lnSpc>
                <a:spcPts val="1270"/>
              </a:lnSpc>
              <a:spcBef>
                <a:spcPts val="0"/>
              </a:spcBef>
              <a:spcAft>
                <a:spcPts val="0"/>
              </a:spcAft>
            </a:pPr>
            <a:r>
              <a:rPr sz="1200" b="1">
                <a:solidFill>
                  <a:srgbClr val="6B3FA0"/>
                </a:solidFill>
                <a:latin typeface="Consolas"/>
              </a:rPr>
              <a:t>class</a:t>
            </a:r>
            <a:r>
              <a:rPr sz="1200">
                <a:solidFill>
                  <a:srgbClr val="172C42"/>
                </a:solidFill>
                <a:latin typeface="Consolas"/>
              </a:rPr>
              <a:t> ProductRepository {</a:t>
            </a:r>
          </a:p>
          <a:p>
            <a:pPr>
              <a:lnSpc>
                <a:spcPts val="1270"/>
              </a:lnSpc>
              <a:spcBef>
                <a:spcPts val="0"/>
              </a:spcBef>
              <a:spcAft>
                <a:spcPts val="0"/>
              </a:spcAft>
            </a:pPr>
            <a:r>
              <a:rPr sz="1200">
                <a:solidFill>
                  <a:srgbClr val="172C42"/>
                </a:solidFill>
                <a:latin typeface="Consolas"/>
              </a:rPr>
              <a:t>  constructor(products) { </a:t>
            </a:r>
            <a:r>
              <a:rPr sz="1200" b="1">
                <a:solidFill>
                  <a:srgbClr val="6B3FA0"/>
                </a:solidFill>
                <a:latin typeface="Consolas"/>
              </a:rPr>
              <a:t>this</a:t>
            </a:r>
            <a:r>
              <a:rPr sz="1200">
                <a:solidFill>
                  <a:srgbClr val="172C42"/>
                </a:solidFill>
                <a:latin typeface="Consolas"/>
              </a:rPr>
              <a:t>.products = products; }</a:t>
            </a:r>
          </a:p>
          <a:p>
            <a:pPr>
              <a:lnSpc>
                <a:spcPts val="1270"/>
              </a:lnSpc>
              <a:spcBef>
                <a:spcPts val="0"/>
              </a:spcBef>
              <a:spcAft>
                <a:spcPts val="0"/>
              </a:spcAft>
            </a:pPr>
            <a:r>
              <a:rPr sz="1200">
                <a:solidFill>
                  <a:srgbClr val="172C42"/>
                </a:solidFill>
                <a:latin typeface="Consolas"/>
              </a:rPr>
              <a:t>  find(name) { </a:t>
            </a:r>
            <a:r>
              <a:rPr sz="1200" b="1">
                <a:solidFill>
                  <a:srgbClr val="6B3FA0"/>
                </a:solidFill>
                <a:latin typeface="Consolas"/>
              </a:rPr>
              <a:t>return</a:t>
            </a:r>
            <a:r>
              <a:rPr sz="1200">
                <a:solidFill>
                  <a:srgbClr val="172C42"/>
                </a:solidFill>
                <a:latin typeface="Consolas"/>
              </a:rPr>
              <a:t> </a:t>
            </a:r>
            <a:r>
              <a:rPr sz="1200" b="1">
                <a:solidFill>
                  <a:srgbClr val="6B3FA0"/>
                </a:solidFill>
                <a:latin typeface="Consolas"/>
              </a:rPr>
              <a:t>this</a:t>
            </a:r>
            <a:r>
              <a:rPr sz="1200">
                <a:solidFill>
                  <a:srgbClr val="172C42"/>
                </a:solidFill>
                <a:latin typeface="Consolas"/>
              </a:rPr>
              <a:t>.products[name] || </a:t>
            </a:r>
            <a:r>
              <a:rPr sz="1200" b="1">
                <a:solidFill>
                  <a:srgbClr val="6B3FA0"/>
                </a:solidFill>
                <a:latin typeface="Consolas"/>
              </a:rPr>
              <a:t>null</a:t>
            </a:r>
            <a:r>
              <a:rPr sz="1200">
                <a:solidFill>
                  <a:srgbClr val="172C42"/>
                </a:solidFill>
                <a:latin typeface="Consolas"/>
              </a:rPr>
              <a:t>; }</a:t>
            </a:r>
          </a:p>
          <a:p>
            <a:pPr>
              <a:lnSpc>
                <a:spcPts val="1270"/>
              </a:lnSpc>
              <a:spcBef>
                <a:spcPts val="0"/>
              </a:spcBef>
              <a:spcAft>
                <a:spcPts val="0"/>
              </a:spcAft>
            </a:pPr>
            <a:r>
              <a:rPr sz="1200">
                <a:solidFill>
                  <a:srgbClr val="172C42"/>
                </a:solidFill>
                <a:latin typeface="Consolas"/>
              </a:rPr>
              <a:t>  reduceStock(name) { </a:t>
            </a:r>
            <a:r>
              <a:rPr sz="1200" b="1">
                <a:solidFill>
                  <a:srgbClr val="6B3FA0"/>
                </a:solidFill>
                <a:latin typeface="Consolas"/>
              </a:rPr>
              <a:t>this</a:t>
            </a:r>
            <a:r>
              <a:rPr sz="1200">
                <a:solidFill>
                  <a:srgbClr val="172C42"/>
                </a:solidFill>
                <a:latin typeface="Consolas"/>
              </a:rPr>
              <a:t>.products[name].stock -= </a:t>
            </a:r>
            <a:r>
              <a:rPr sz="1200">
                <a:solidFill>
                  <a:srgbClr val="175D9A"/>
                </a:solidFill>
                <a:latin typeface="Consolas"/>
              </a:rPr>
              <a:t>1</a:t>
            </a:r>
            <a:r>
              <a:rPr sz="1200">
                <a:solidFill>
                  <a:srgbClr val="172C42"/>
                </a:solidFill>
                <a:latin typeface="Consolas"/>
              </a:rPr>
              <a:t>; }</a:t>
            </a:r>
          </a:p>
          <a:p>
            <a:pPr>
              <a:lnSpc>
                <a:spcPts val="1270"/>
              </a:lnSpc>
              <a:spcBef>
                <a:spcPts val="0"/>
              </a:spcBef>
              <a:spcAft>
                <a:spcPts val="0"/>
              </a:spcAft>
            </a:pPr>
            <a:r>
              <a:rPr sz="1200">
                <a:solidFill>
                  <a:srgbClr val="172C42"/>
                </a:solidFill>
                <a:latin typeface="Consolas"/>
              </a:rPr>
              <a:t>}</a:t>
            </a:r>
          </a:p>
          <a:p>
            <a:pPr>
              <a:lnSpc>
                <a:spcPts val="1270"/>
              </a:lnSpc>
              <a:spcBef>
                <a:spcPts val="0"/>
              </a:spcBef>
              <a:spcAft>
                <a:spcPts val="0"/>
              </a:spcAft>
            </a:pPr>
            <a:r>
              <a:rPr sz="1200" b="1">
                <a:solidFill>
                  <a:srgbClr val="6B3FA0"/>
                </a:solidFill>
                <a:latin typeface="Consolas"/>
              </a:rPr>
              <a:t>class</a:t>
            </a:r>
            <a:r>
              <a:rPr sz="1200">
                <a:solidFill>
                  <a:srgbClr val="172C42"/>
                </a:solidFill>
                <a:latin typeface="Consolas"/>
              </a:rPr>
              <a:t> PaymentRepository {</a:t>
            </a:r>
          </a:p>
          <a:p>
            <a:pPr>
              <a:lnSpc>
                <a:spcPts val="1270"/>
              </a:lnSpc>
              <a:spcBef>
                <a:spcPts val="0"/>
              </a:spcBef>
              <a:spcAft>
                <a:spcPts val="0"/>
              </a:spcAft>
            </a:pPr>
            <a:r>
              <a:rPr sz="1200">
                <a:solidFill>
                  <a:srgbClr val="172C42"/>
                </a:solidFill>
                <a:latin typeface="Consolas"/>
              </a:rPr>
              <a:t>  constructor() { </a:t>
            </a:r>
            <a:r>
              <a:rPr sz="1200" b="1">
                <a:solidFill>
                  <a:srgbClr val="6B3FA0"/>
                </a:solidFill>
                <a:latin typeface="Consolas"/>
              </a:rPr>
              <a:t>this</a:t>
            </a:r>
            <a:r>
              <a:rPr sz="1200">
                <a:solidFill>
                  <a:srgbClr val="172C42"/>
                </a:solidFill>
                <a:latin typeface="Consolas"/>
              </a:rPr>
              <a:t>.rows = []; }</a:t>
            </a:r>
          </a:p>
          <a:p>
            <a:pPr>
              <a:lnSpc>
                <a:spcPts val="1270"/>
              </a:lnSpc>
              <a:spcBef>
                <a:spcPts val="0"/>
              </a:spcBef>
              <a:spcAft>
                <a:spcPts val="0"/>
              </a:spcAft>
            </a:pPr>
            <a:r>
              <a:rPr sz="1200">
                <a:solidFill>
                  <a:srgbClr val="172C42"/>
                </a:solidFill>
                <a:latin typeface="Consolas"/>
              </a:rPr>
              <a:t>  add(payment) {</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this</a:t>
            </a:r>
            <a:r>
              <a:rPr sz="1200">
                <a:solidFill>
                  <a:srgbClr val="172C42"/>
                </a:solidFill>
                <a:latin typeface="Consolas"/>
              </a:rPr>
              <a:t>.rows.push(payment);</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return</a:t>
            </a:r>
            <a:r>
              <a:rPr sz="1200">
                <a:solidFill>
                  <a:srgbClr val="172C42"/>
                </a:solidFill>
                <a:latin typeface="Consolas"/>
              </a:rPr>
              <a:t> payment;</a:t>
            </a:r>
          </a:p>
          <a:p>
            <a:pPr>
              <a:lnSpc>
                <a:spcPts val="1270"/>
              </a:lnSpc>
              <a:spcBef>
                <a:spcPts val="0"/>
              </a:spcBef>
              <a:spcAft>
                <a:spcPts val="0"/>
              </a:spcAft>
            </a:pPr>
            <a:r>
              <a:rPr sz="1200">
                <a:solidFill>
                  <a:srgbClr val="172C42"/>
                </a:solidFill>
                <a:latin typeface="Consolas"/>
              </a:rPr>
              <a:t>  }</a:t>
            </a:r>
          </a:p>
          <a:p>
            <a:pPr>
              <a:lnSpc>
                <a:spcPts val="1270"/>
              </a:lnSpc>
              <a:spcBef>
                <a:spcPts val="0"/>
              </a:spcBef>
              <a:spcAft>
                <a:spcPts val="0"/>
              </a:spcAft>
            </a:pPr>
            <a:r>
              <a:rPr sz="1200">
                <a:solidFill>
                  <a:srgbClr val="172C42"/>
                </a:solidFill>
                <a:latin typeface="Consolas"/>
              </a:rPr>
              <a:t>}</a:t>
            </a:r>
          </a:p>
          <a:p>
            <a:pPr>
              <a:lnSpc>
                <a:spcPts val="1270"/>
              </a:lnSpc>
              <a:spcBef>
                <a:spcPts val="0"/>
              </a:spcBef>
              <a:spcAft>
                <a:spcPts val="0"/>
              </a:spcAft>
            </a:pPr>
            <a:r>
              <a:rPr sz="1200" b="1">
                <a:solidFill>
                  <a:srgbClr val="6B3FA0"/>
                </a:solidFill>
                <a:latin typeface="Consolas"/>
              </a:rPr>
              <a:t>class</a:t>
            </a:r>
            <a:r>
              <a:rPr sz="1200">
                <a:solidFill>
                  <a:srgbClr val="172C42"/>
                </a:solidFill>
                <a:latin typeface="Consolas"/>
              </a:rPr>
              <a:t> UpiPayment {</a:t>
            </a:r>
          </a:p>
          <a:p>
            <a:pPr>
              <a:lnSpc>
                <a:spcPts val="1270"/>
              </a:lnSpc>
              <a:spcBef>
                <a:spcPts val="0"/>
              </a:spcBef>
              <a:spcAft>
                <a:spcPts val="0"/>
              </a:spcAft>
            </a:pPr>
            <a:r>
              <a:rPr sz="1200">
                <a:solidFill>
                  <a:srgbClr val="172C42"/>
                </a:solidFill>
                <a:latin typeface="Consolas"/>
              </a:rPr>
              <a:t>  approve(reference, amount) {</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if</a:t>
            </a:r>
            <a:r>
              <a:rPr sz="1200">
                <a:solidFill>
                  <a:srgbClr val="172C42"/>
                </a:solidFill>
                <a:latin typeface="Consolas"/>
              </a:rPr>
              <a:t> (!reference || amount &lt;= </a:t>
            </a:r>
            <a:r>
              <a:rPr sz="1200">
                <a:solidFill>
                  <a:srgbClr val="175D9A"/>
                </a:solidFill>
                <a:latin typeface="Consolas"/>
              </a:rPr>
              <a:t>0</a:t>
            </a:r>
            <a:r>
              <a:rPr sz="1200">
                <a:solidFill>
                  <a:srgbClr val="172C42"/>
                </a:solidFill>
                <a:latin typeface="Consolas"/>
              </a:rPr>
              <a:t>) {</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return</a:t>
            </a:r>
            <a:r>
              <a:rPr sz="1200">
                <a:solidFill>
                  <a:srgbClr val="172C42"/>
                </a:solidFill>
                <a:latin typeface="Consolas"/>
              </a:rPr>
              <a:t> { approved: </a:t>
            </a:r>
            <a:r>
              <a:rPr sz="1200" b="1">
                <a:solidFill>
                  <a:srgbClr val="6B3FA0"/>
                </a:solidFill>
                <a:latin typeface="Consolas"/>
              </a:rPr>
              <a:t>false</a:t>
            </a:r>
            <a:r>
              <a:rPr sz="1200">
                <a:solidFill>
                  <a:srgbClr val="172C42"/>
                </a:solidFill>
                <a:latin typeface="Consolas"/>
              </a:rPr>
              <a:t> };</a:t>
            </a:r>
          </a:p>
          <a:p>
            <a:pPr>
              <a:lnSpc>
                <a:spcPts val="1270"/>
              </a:lnSpc>
              <a:spcBef>
                <a:spcPts val="0"/>
              </a:spcBef>
              <a:spcAft>
                <a:spcPts val="0"/>
              </a:spcAft>
            </a:pPr>
            <a:r>
              <a:rPr sz="1200">
                <a:solidFill>
                  <a:srgbClr val="172C42"/>
                </a:solidFill>
                <a:latin typeface="Consolas"/>
              </a:rPr>
              <a:t>    }</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return</a:t>
            </a:r>
            <a:r>
              <a:rPr sz="1200">
                <a:solidFill>
                  <a:srgbClr val="172C42"/>
                </a:solidFill>
                <a:latin typeface="Consolas"/>
              </a:rPr>
              <a:t> { approved: </a:t>
            </a:r>
            <a:r>
              <a:rPr sz="1200" b="1">
                <a:solidFill>
                  <a:srgbClr val="6B3FA0"/>
                </a:solidFill>
                <a:latin typeface="Consolas"/>
              </a:rPr>
              <a:t>true</a:t>
            </a:r>
            <a:r>
              <a:rPr sz="1200">
                <a:solidFill>
                  <a:srgbClr val="172C42"/>
                </a:solidFill>
                <a:latin typeface="Consolas"/>
              </a:rPr>
              <a:t> };</a:t>
            </a:r>
          </a:p>
          <a:p>
            <a:pPr>
              <a:lnSpc>
                <a:spcPts val="1270"/>
              </a:lnSpc>
              <a:spcBef>
                <a:spcPts val="0"/>
              </a:spcBef>
              <a:spcAft>
                <a:spcPts val="0"/>
              </a:spcAft>
            </a:pPr>
            <a:r>
              <a:rPr sz="1200">
                <a:solidFill>
                  <a:srgbClr val="172C42"/>
                </a:solidFill>
                <a:latin typeface="Consolas"/>
              </a:rPr>
              <a:t>  }</a:t>
            </a:r>
          </a:p>
          <a:p>
            <a:pPr>
              <a:lnSpc>
                <a:spcPts val="1270"/>
              </a:lnSpc>
              <a:spcBef>
                <a:spcPts val="0"/>
              </a:spcBef>
              <a:spcAft>
                <a:spcPts val="0"/>
              </a:spcAft>
            </a:pPr>
            <a:r>
              <a:rPr sz="1200">
                <a:solidFill>
                  <a:srgbClr val="172C42"/>
                </a:solidFill>
                <a:latin typeface="Consolas"/>
              </a:rPr>
              <a:t>}</a:t>
            </a:r>
          </a:p>
          <a:p>
            <a:pPr>
              <a:lnSpc>
                <a:spcPts val="1270"/>
              </a:lnSpc>
              <a:spcBef>
                <a:spcPts val="0"/>
              </a:spcBef>
              <a:spcAft>
                <a:spcPts val="0"/>
              </a:spcAft>
            </a:pPr>
            <a:r>
              <a:rPr sz="1200" b="1">
                <a:solidFill>
                  <a:srgbClr val="6B3FA0"/>
                </a:solidFill>
                <a:latin typeface="Consolas"/>
              </a:rPr>
              <a:t>class</a:t>
            </a:r>
            <a:r>
              <a:rPr sz="1200">
                <a:solidFill>
                  <a:srgbClr val="172C42"/>
                </a:solidFill>
                <a:latin typeface="Consolas"/>
              </a:rPr>
              <a:t> OrderFactory {</a:t>
            </a:r>
          </a:p>
          <a:p>
            <a:pPr>
              <a:lnSpc>
                <a:spcPts val="1270"/>
              </a:lnSpc>
              <a:spcBef>
                <a:spcPts val="0"/>
              </a:spcBef>
              <a:spcAft>
                <a:spcPts val="0"/>
              </a:spcAft>
            </a:pPr>
            <a:r>
              <a:rPr sz="1200">
                <a:solidFill>
                  <a:srgbClr val="172C42"/>
                </a:solidFill>
                <a:latin typeface="Consolas"/>
              </a:rPr>
              <a:t>  create(product, paymentReference) {</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return</a:t>
            </a:r>
            <a:r>
              <a:rPr sz="1200">
                <a:solidFill>
                  <a:srgbClr val="172C42"/>
                </a:solidFill>
                <a:latin typeface="Consolas"/>
              </a:rPr>
              <a:t> { productName: product.name,</a:t>
            </a:r>
          </a:p>
          <a:p>
            <a:pPr>
              <a:lnSpc>
                <a:spcPts val="1270"/>
              </a:lnSpc>
              <a:spcBef>
                <a:spcPts val="0"/>
              </a:spcBef>
              <a:spcAft>
                <a:spcPts val="0"/>
              </a:spcAft>
            </a:pPr>
            <a:r>
              <a:rPr sz="1200">
                <a:solidFill>
                  <a:srgbClr val="172C42"/>
                </a:solidFill>
                <a:latin typeface="Consolas"/>
              </a:rPr>
              <a:t>      amount: product.price, paymentReference,</a:t>
            </a:r>
          </a:p>
          <a:p>
            <a:pPr>
              <a:lnSpc>
                <a:spcPts val="1270"/>
              </a:lnSpc>
              <a:spcBef>
                <a:spcPts val="0"/>
              </a:spcBef>
              <a:spcAft>
                <a:spcPts val="0"/>
              </a:spcAft>
            </a:pPr>
            <a:r>
              <a:rPr sz="1200">
                <a:solidFill>
                  <a:srgbClr val="172C42"/>
                </a:solidFill>
                <a:latin typeface="Consolas"/>
              </a:rPr>
              <a:t>      status: </a:t>
            </a:r>
            <a:r>
              <a:rPr sz="1200">
                <a:solidFill>
                  <a:srgbClr val="2B6B4A"/>
                </a:solidFill>
                <a:latin typeface="Consolas"/>
              </a:rPr>
              <a:t>"completed"</a:t>
            </a:r>
            <a:r>
              <a:rPr sz="1200">
                <a:solidFill>
                  <a:srgbClr val="172C42"/>
                </a:solidFill>
                <a:latin typeface="Consolas"/>
              </a:rPr>
              <a:t>, };</a:t>
            </a:r>
          </a:p>
          <a:p>
            <a:pPr>
              <a:lnSpc>
                <a:spcPts val="1270"/>
              </a:lnSpc>
              <a:spcBef>
                <a:spcPts val="0"/>
              </a:spcBef>
              <a:spcAft>
                <a:spcPts val="0"/>
              </a:spcAft>
            </a:pPr>
            <a:r>
              <a:rPr sz="1200">
                <a:solidFill>
                  <a:srgbClr val="172C42"/>
                </a:solidFill>
                <a:latin typeface="Consolas"/>
              </a:rPr>
              <a:t>  }</a:t>
            </a:r>
          </a:p>
          <a:p>
            <a:pPr>
              <a:lnSpc>
                <a:spcPts val="1270"/>
              </a:lnSpc>
              <a:spcBef>
                <a:spcPts val="0"/>
              </a:spcBef>
              <a:spcAft>
                <a:spcPts val="0"/>
              </a:spcAft>
            </a:pPr>
            <a:r>
              <a:rPr sz="1200">
                <a:solidFill>
                  <a:srgbClr val="172C42"/>
                </a:solidFill>
                <a:latin typeface="Consolas"/>
              </a:rPr>
              <a:t>}</a:t>
            </a:r>
          </a:p>
          <a:p>
            <a:pPr>
              <a:lnSpc>
                <a:spcPts val="1270"/>
              </a:lnSpc>
              <a:spcBef>
                <a:spcPts val="0"/>
              </a:spcBef>
              <a:spcAft>
                <a:spcPts val="0"/>
              </a:spcAft>
            </a:pPr>
            <a:r>
              <a:rPr sz="1200" b="1">
                <a:solidFill>
                  <a:srgbClr val="6B3FA0"/>
                </a:solidFill>
                <a:latin typeface="Consolas"/>
              </a:rPr>
              <a:t>function</a:t>
            </a:r>
            <a:r>
              <a:rPr sz="1200">
                <a:solidFill>
                  <a:srgbClr val="172C42"/>
                </a:solidFill>
                <a:latin typeface="Consolas"/>
              </a:rPr>
              <a:t> renderReceipt(result) { </a:t>
            </a:r>
            <a:r>
              <a:rPr sz="1200" b="1">
                <a:solidFill>
                  <a:srgbClr val="6B3FA0"/>
                </a:solidFill>
                <a:latin typeface="Consolas"/>
              </a:rPr>
              <a:t>return</a:t>
            </a:r>
            <a:r>
              <a:rPr sz="1200">
                <a:solidFill>
                  <a:srgbClr val="172C42"/>
                </a:solidFill>
                <a:latin typeface="Consolas"/>
              </a:rPr>
              <a:t> result.message; }</a:t>
            </a:r>
          </a:p>
        </p:txBody>
      </p:sp>
      <p:sp>
        <p:nvSpPr>
          <p:cNvPr id="22" name="TextBox 21"/>
          <p:cNvSpPr txBox="1"/>
          <p:nvPr/>
        </p:nvSpPr>
        <p:spPr>
          <a:xfrm>
            <a:off x="6172200" y="1664208"/>
            <a:ext cx="5696712" cy="5074920"/>
          </a:xfrm>
          <a:prstGeom prst="rect">
            <a:avLst/>
          </a:prstGeom>
          <a:noFill/>
        </p:spPr>
        <p:txBody>
          <a:bodyPr wrap="square" lIns="0" tIns="0" rIns="0" bIns="0" anchor="t">
            <a:spAutoFit/>
          </a:bodyPr>
          <a:lstStyle/>
          <a:p>
            <a:pPr>
              <a:lnSpc>
                <a:spcPts val="1270"/>
              </a:lnSpc>
              <a:spcBef>
                <a:spcPts val="0"/>
              </a:spcBef>
              <a:spcAft>
                <a:spcPts val="0"/>
              </a:spcAft>
            </a:pPr>
            <a:r>
              <a:rPr sz="1200" b="1">
                <a:solidFill>
                  <a:srgbClr val="6B3FA0"/>
                </a:solidFill>
                <a:latin typeface="Consolas"/>
              </a:rPr>
              <a:t>class</a:t>
            </a:r>
            <a:r>
              <a:rPr sz="1200">
                <a:solidFill>
                  <a:srgbClr val="172C42"/>
                </a:solidFill>
                <a:latin typeface="Consolas"/>
              </a:rPr>
              <a:t> VendingService {</a:t>
            </a:r>
          </a:p>
          <a:p>
            <a:pPr>
              <a:lnSpc>
                <a:spcPts val="1270"/>
              </a:lnSpc>
              <a:spcBef>
                <a:spcPts val="0"/>
              </a:spcBef>
              <a:spcAft>
                <a:spcPts val="0"/>
              </a:spcAft>
            </a:pPr>
            <a:r>
              <a:rPr sz="1200">
                <a:solidFill>
                  <a:srgbClr val="172C42"/>
                </a:solidFill>
                <a:latin typeface="Consolas"/>
              </a:rPr>
              <a:t>  constructor(products, payments, upi, orders) {</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this</a:t>
            </a:r>
            <a:r>
              <a:rPr sz="1200">
                <a:solidFill>
                  <a:srgbClr val="172C42"/>
                </a:solidFill>
                <a:latin typeface="Consolas"/>
              </a:rPr>
              <a:t>.products = products; </a:t>
            </a:r>
            <a:r>
              <a:rPr sz="1200" b="1">
                <a:solidFill>
                  <a:srgbClr val="6B3FA0"/>
                </a:solidFill>
                <a:latin typeface="Consolas"/>
              </a:rPr>
              <a:t>this</a:t>
            </a:r>
            <a:r>
              <a:rPr sz="1200">
                <a:solidFill>
                  <a:srgbClr val="172C42"/>
                </a:solidFill>
                <a:latin typeface="Consolas"/>
              </a:rPr>
              <a:t>.payments = payments;</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this</a:t>
            </a:r>
            <a:r>
              <a:rPr sz="1200">
                <a:solidFill>
                  <a:srgbClr val="172C42"/>
                </a:solidFill>
                <a:latin typeface="Consolas"/>
              </a:rPr>
              <a:t>.upi = upi; </a:t>
            </a:r>
            <a:r>
              <a:rPr sz="1200" b="1">
                <a:solidFill>
                  <a:srgbClr val="6B3FA0"/>
                </a:solidFill>
                <a:latin typeface="Consolas"/>
              </a:rPr>
              <a:t>this</a:t>
            </a:r>
            <a:r>
              <a:rPr sz="1200">
                <a:solidFill>
                  <a:srgbClr val="172C42"/>
                </a:solidFill>
                <a:latin typeface="Consolas"/>
              </a:rPr>
              <a:t>.orders = orders;</a:t>
            </a:r>
          </a:p>
          <a:p>
            <a:pPr>
              <a:lnSpc>
                <a:spcPts val="1270"/>
              </a:lnSpc>
              <a:spcBef>
                <a:spcPts val="0"/>
              </a:spcBef>
              <a:spcAft>
                <a:spcPts val="0"/>
              </a:spcAft>
            </a:pPr>
            <a:r>
              <a:rPr sz="1200">
                <a:solidFill>
                  <a:srgbClr val="172C42"/>
                </a:solidFill>
                <a:latin typeface="Consolas"/>
              </a:rPr>
              <a:t>  }</a:t>
            </a:r>
          </a:p>
          <a:p>
            <a:pPr>
              <a:lnSpc>
                <a:spcPts val="1270"/>
              </a:lnSpc>
              <a:spcBef>
                <a:spcPts val="0"/>
              </a:spcBef>
              <a:spcAft>
                <a:spcPts val="0"/>
              </a:spcAft>
            </a:pPr>
            <a:r>
              <a:rPr sz="1200">
                <a:solidFill>
                  <a:srgbClr val="172C42"/>
                </a:solidFill>
                <a:latin typeface="Consolas"/>
              </a:rPr>
              <a:t>  buy(drinkName, paymentReference) {</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const</a:t>
            </a:r>
            <a:r>
              <a:rPr sz="1200">
                <a:solidFill>
                  <a:srgbClr val="172C42"/>
                </a:solidFill>
                <a:latin typeface="Consolas"/>
              </a:rPr>
              <a:t> product = </a:t>
            </a:r>
            <a:r>
              <a:rPr sz="1200" b="1">
                <a:solidFill>
                  <a:srgbClr val="6B3FA0"/>
                </a:solidFill>
                <a:latin typeface="Consolas"/>
              </a:rPr>
              <a:t>this</a:t>
            </a:r>
            <a:r>
              <a:rPr sz="1200">
                <a:solidFill>
                  <a:srgbClr val="172C42"/>
                </a:solidFill>
                <a:latin typeface="Consolas"/>
              </a:rPr>
              <a:t>.products.find(drinkName);</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if</a:t>
            </a:r>
            <a:r>
              <a:rPr sz="1200">
                <a:solidFill>
                  <a:srgbClr val="172C42"/>
                </a:solidFill>
                <a:latin typeface="Consolas"/>
              </a:rPr>
              <a:t> (!product) {</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return</a:t>
            </a:r>
            <a:r>
              <a:rPr sz="1200">
                <a:solidFill>
                  <a:srgbClr val="172C42"/>
                </a:solidFill>
                <a:latin typeface="Consolas"/>
              </a:rPr>
              <a:t> { status: </a:t>
            </a:r>
            <a:r>
              <a:rPr sz="1200">
                <a:solidFill>
                  <a:srgbClr val="2B6B4A"/>
                </a:solidFill>
                <a:latin typeface="Consolas"/>
              </a:rPr>
              <a:t>"rejected"</a:t>
            </a:r>
            <a:r>
              <a:rPr sz="1200">
                <a:solidFill>
                  <a:srgbClr val="172C42"/>
                </a:solidFill>
                <a:latin typeface="Consolas"/>
              </a:rPr>
              <a:t>,</a:t>
            </a:r>
          </a:p>
          <a:p>
            <a:pPr>
              <a:lnSpc>
                <a:spcPts val="1270"/>
              </a:lnSpc>
              <a:spcBef>
                <a:spcPts val="0"/>
              </a:spcBef>
              <a:spcAft>
                <a:spcPts val="0"/>
              </a:spcAft>
            </a:pPr>
            <a:r>
              <a:rPr sz="1200">
                <a:solidFill>
                  <a:srgbClr val="172C42"/>
                </a:solidFill>
                <a:latin typeface="Consolas"/>
              </a:rPr>
              <a:t>        message: </a:t>
            </a:r>
            <a:r>
              <a:rPr sz="1200">
                <a:solidFill>
                  <a:srgbClr val="2B6B4A"/>
                </a:solidFill>
                <a:latin typeface="Consolas"/>
              </a:rPr>
              <a:t>"That drink is not sold here."</a:t>
            </a:r>
            <a:r>
              <a:rPr sz="1200">
                <a:solidFill>
                  <a:srgbClr val="172C42"/>
                </a:solidFill>
                <a:latin typeface="Consolas"/>
              </a:rPr>
              <a:t> }; }</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if</a:t>
            </a:r>
            <a:r>
              <a:rPr sz="1200">
                <a:solidFill>
                  <a:srgbClr val="172C42"/>
                </a:solidFill>
                <a:latin typeface="Consolas"/>
              </a:rPr>
              <a:t> (product.stock &lt; </a:t>
            </a:r>
            <a:r>
              <a:rPr sz="1200">
                <a:solidFill>
                  <a:srgbClr val="175D9A"/>
                </a:solidFill>
                <a:latin typeface="Consolas"/>
              </a:rPr>
              <a:t>1</a:t>
            </a:r>
            <a:r>
              <a:rPr sz="1200">
                <a:solidFill>
                  <a:srgbClr val="172C42"/>
                </a:solidFill>
                <a:latin typeface="Consolas"/>
              </a:rPr>
              <a:t>) {</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return</a:t>
            </a:r>
            <a:r>
              <a:rPr sz="1200">
                <a:solidFill>
                  <a:srgbClr val="172C42"/>
                </a:solidFill>
                <a:latin typeface="Consolas"/>
              </a:rPr>
              <a:t> { status: </a:t>
            </a:r>
            <a:r>
              <a:rPr sz="1200">
                <a:solidFill>
                  <a:srgbClr val="2B6B4A"/>
                </a:solidFill>
                <a:latin typeface="Consolas"/>
              </a:rPr>
              <a:t>"sold_out"</a:t>
            </a:r>
            <a:r>
              <a:rPr sz="1200">
                <a:solidFill>
                  <a:srgbClr val="172C42"/>
                </a:solidFill>
                <a:latin typeface="Consolas"/>
              </a:rPr>
              <a:t>,</a:t>
            </a:r>
          </a:p>
          <a:p>
            <a:pPr>
              <a:lnSpc>
                <a:spcPts val="1270"/>
              </a:lnSpc>
              <a:spcBef>
                <a:spcPts val="0"/>
              </a:spcBef>
              <a:spcAft>
                <a:spcPts val="0"/>
              </a:spcAft>
            </a:pPr>
            <a:r>
              <a:rPr sz="1200">
                <a:solidFill>
                  <a:srgbClr val="172C42"/>
                </a:solidFill>
                <a:latin typeface="Consolas"/>
              </a:rPr>
              <a:t>        message: </a:t>
            </a:r>
            <a:r>
              <a:rPr sz="1200">
                <a:solidFill>
                  <a:srgbClr val="2B6B4A"/>
                </a:solidFill>
                <a:latin typeface="Consolas"/>
              </a:rPr>
              <a:t>`${product.name} is sold out.`</a:t>
            </a:r>
            <a:r>
              <a:rPr sz="1200">
                <a:solidFill>
                  <a:srgbClr val="172C42"/>
                </a:solidFill>
                <a:latin typeface="Consolas"/>
              </a:rPr>
              <a:t> }; }</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const</a:t>
            </a:r>
            <a:r>
              <a:rPr sz="1200">
                <a:solidFill>
                  <a:srgbClr val="172C42"/>
                </a:solidFill>
                <a:latin typeface="Consolas"/>
              </a:rPr>
              <a:t> payment = </a:t>
            </a:r>
            <a:r>
              <a:rPr sz="1200" b="1">
                <a:solidFill>
                  <a:srgbClr val="6B3FA0"/>
                </a:solidFill>
                <a:latin typeface="Consolas"/>
              </a:rPr>
              <a:t>this</a:t>
            </a:r>
            <a:r>
              <a:rPr sz="1200">
                <a:solidFill>
                  <a:srgbClr val="172C42"/>
                </a:solidFill>
                <a:latin typeface="Consolas"/>
              </a:rPr>
              <a:t>.upi.approve(</a:t>
            </a:r>
          </a:p>
          <a:p>
            <a:pPr>
              <a:lnSpc>
                <a:spcPts val="1270"/>
              </a:lnSpc>
              <a:spcBef>
                <a:spcPts val="0"/>
              </a:spcBef>
              <a:spcAft>
                <a:spcPts val="0"/>
              </a:spcAft>
            </a:pPr>
            <a:r>
              <a:rPr sz="1200">
                <a:solidFill>
                  <a:srgbClr val="172C42"/>
                </a:solidFill>
                <a:latin typeface="Consolas"/>
              </a:rPr>
              <a:t>      paymentReference, product.price);</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if</a:t>
            </a:r>
            <a:r>
              <a:rPr sz="1200">
                <a:solidFill>
                  <a:srgbClr val="172C42"/>
                </a:solidFill>
                <a:latin typeface="Consolas"/>
              </a:rPr>
              <a:t> (!payment.approved) {</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return</a:t>
            </a:r>
            <a:r>
              <a:rPr sz="1200">
                <a:solidFill>
                  <a:srgbClr val="172C42"/>
                </a:solidFill>
                <a:latin typeface="Consolas"/>
              </a:rPr>
              <a:t> { status: </a:t>
            </a:r>
            <a:r>
              <a:rPr sz="1200">
                <a:solidFill>
                  <a:srgbClr val="2B6B4A"/>
                </a:solidFill>
                <a:latin typeface="Consolas"/>
              </a:rPr>
              <a:t>"payment_failed"</a:t>
            </a:r>
            <a:r>
              <a:rPr sz="1200">
                <a:solidFill>
                  <a:srgbClr val="172C42"/>
                </a:solidFill>
                <a:latin typeface="Consolas"/>
              </a:rPr>
              <a:t>,</a:t>
            </a:r>
          </a:p>
          <a:p>
            <a:pPr>
              <a:lnSpc>
                <a:spcPts val="1270"/>
              </a:lnSpc>
              <a:spcBef>
                <a:spcPts val="0"/>
              </a:spcBef>
              <a:spcAft>
                <a:spcPts val="0"/>
              </a:spcAft>
            </a:pPr>
            <a:r>
              <a:rPr sz="1200">
                <a:solidFill>
                  <a:srgbClr val="172C42"/>
                </a:solidFill>
                <a:latin typeface="Consolas"/>
              </a:rPr>
              <a:t>        message: </a:t>
            </a:r>
            <a:r>
              <a:rPr sz="1200">
                <a:solidFill>
                  <a:srgbClr val="2B6B4A"/>
                </a:solidFill>
                <a:latin typeface="Consolas"/>
              </a:rPr>
              <a:t>"Payment failed."</a:t>
            </a:r>
            <a:r>
              <a:rPr sz="1200">
                <a:solidFill>
                  <a:srgbClr val="172C42"/>
                </a:solidFill>
                <a:latin typeface="Consolas"/>
              </a:rPr>
              <a:t> }; }</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this</a:t>
            </a:r>
            <a:r>
              <a:rPr sz="1200">
                <a:solidFill>
                  <a:srgbClr val="172C42"/>
                </a:solidFill>
                <a:latin typeface="Consolas"/>
              </a:rPr>
              <a:t>.products.reduceStock(product.name);</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const</a:t>
            </a:r>
            <a:r>
              <a:rPr sz="1200">
                <a:solidFill>
                  <a:srgbClr val="172C42"/>
                </a:solidFill>
                <a:latin typeface="Consolas"/>
              </a:rPr>
              <a:t> saved = </a:t>
            </a:r>
            <a:r>
              <a:rPr sz="1200" b="1">
                <a:solidFill>
                  <a:srgbClr val="6B3FA0"/>
                </a:solidFill>
                <a:latin typeface="Consolas"/>
              </a:rPr>
              <a:t>this</a:t>
            </a:r>
            <a:r>
              <a:rPr sz="1200">
                <a:solidFill>
                  <a:srgbClr val="172C42"/>
                </a:solidFill>
                <a:latin typeface="Consolas"/>
              </a:rPr>
              <a:t>.payments.add(</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this</a:t>
            </a:r>
            <a:r>
              <a:rPr sz="1200">
                <a:solidFill>
                  <a:srgbClr val="172C42"/>
                </a:solidFill>
                <a:latin typeface="Consolas"/>
              </a:rPr>
              <a:t>.orders.create(product, paymentReference));</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return</a:t>
            </a:r>
            <a:r>
              <a:rPr sz="1200">
                <a:solidFill>
                  <a:srgbClr val="172C42"/>
                </a:solidFill>
                <a:latin typeface="Consolas"/>
              </a:rPr>
              <a:t> { status: saved.status,</a:t>
            </a:r>
          </a:p>
          <a:p>
            <a:pPr>
              <a:lnSpc>
                <a:spcPts val="1270"/>
              </a:lnSpc>
              <a:spcBef>
                <a:spcPts val="0"/>
              </a:spcBef>
              <a:spcAft>
                <a:spcPts val="0"/>
              </a:spcAft>
            </a:pPr>
            <a:r>
              <a:rPr sz="1200">
                <a:solidFill>
                  <a:srgbClr val="172C42"/>
                </a:solidFill>
                <a:latin typeface="Consolas"/>
              </a:rPr>
              <a:t>      message: </a:t>
            </a:r>
            <a:r>
              <a:rPr sz="1200">
                <a:solidFill>
                  <a:srgbClr val="2B6B4A"/>
                </a:solidFill>
                <a:latin typeface="Consolas"/>
              </a:rPr>
              <a:t>`Collect your ${product.name}.`</a:t>
            </a:r>
            <a:r>
              <a:rPr sz="1200">
                <a:solidFill>
                  <a:srgbClr val="172C42"/>
                </a:solidFill>
                <a:latin typeface="Consolas"/>
              </a:rPr>
              <a:t> };</a:t>
            </a:r>
          </a:p>
          <a:p>
            <a:pPr>
              <a:lnSpc>
                <a:spcPts val="1270"/>
              </a:lnSpc>
              <a:spcBef>
                <a:spcPts val="0"/>
              </a:spcBef>
              <a:spcAft>
                <a:spcPts val="0"/>
              </a:spcAft>
            </a:pPr>
            <a:r>
              <a:rPr sz="1200">
                <a:solidFill>
                  <a:srgbClr val="172C42"/>
                </a:solidFill>
                <a:latin typeface="Consolas"/>
              </a:rPr>
              <a:t>  }</a:t>
            </a:r>
          </a:p>
          <a:p>
            <a:pPr>
              <a:lnSpc>
                <a:spcPts val="1270"/>
              </a:lnSpc>
              <a:spcBef>
                <a:spcPts val="0"/>
              </a:spcBef>
              <a:spcAft>
                <a:spcPts val="0"/>
              </a:spcAft>
            </a:pPr>
            <a:r>
              <a:rPr sz="1200">
                <a:solidFill>
                  <a:srgbClr val="172C42"/>
                </a:solidFill>
                <a:latin typeface="Consolas"/>
              </a:rPr>
              <a:t>}</a:t>
            </a:r>
          </a:p>
          <a:p>
            <a:pPr>
              <a:lnSpc>
                <a:spcPts val="1270"/>
              </a:lnSpc>
              <a:spcBef>
                <a:spcPts val="0"/>
              </a:spcBef>
              <a:spcAft>
                <a:spcPts val="0"/>
              </a:spcAft>
            </a:pPr>
            <a:r>
              <a:rPr sz="1200" b="1">
                <a:solidFill>
                  <a:srgbClr val="6B3FA0"/>
                </a:solidFill>
                <a:latin typeface="Consolas"/>
              </a:rPr>
              <a:t>const</a:t>
            </a:r>
            <a:r>
              <a:rPr sz="1200">
                <a:solidFill>
                  <a:srgbClr val="172C42"/>
                </a:solidFill>
                <a:latin typeface="Consolas"/>
              </a:rPr>
              <a:t> service = </a:t>
            </a:r>
            <a:r>
              <a:rPr sz="1200" b="1">
                <a:solidFill>
                  <a:srgbClr val="6B3FA0"/>
                </a:solidFill>
                <a:latin typeface="Consolas"/>
              </a:rPr>
              <a:t>new</a:t>
            </a:r>
            <a:r>
              <a:rPr sz="1200">
                <a:solidFill>
                  <a:srgbClr val="172C42"/>
                </a:solidFill>
                <a:latin typeface="Consolas"/>
              </a:rPr>
              <a:t> VendingService(</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new</a:t>
            </a:r>
            <a:r>
              <a:rPr sz="1200">
                <a:solidFill>
                  <a:srgbClr val="172C42"/>
                </a:solidFill>
                <a:latin typeface="Consolas"/>
              </a:rPr>
              <a:t> ProductRepository(catalog), </a:t>
            </a:r>
            <a:r>
              <a:rPr sz="1200" b="1">
                <a:solidFill>
                  <a:srgbClr val="6B3FA0"/>
                </a:solidFill>
                <a:latin typeface="Consolas"/>
              </a:rPr>
              <a:t>new</a:t>
            </a:r>
            <a:r>
              <a:rPr sz="1200">
                <a:solidFill>
                  <a:srgbClr val="172C42"/>
                </a:solidFill>
                <a:latin typeface="Consolas"/>
              </a:rPr>
              <a:t> PaymentRepository(),</a:t>
            </a:r>
          </a:p>
          <a:p>
            <a:pPr>
              <a:lnSpc>
                <a:spcPts val="1270"/>
              </a:lnSpc>
              <a:spcBef>
                <a:spcPts val="0"/>
              </a:spcBef>
              <a:spcAft>
                <a:spcPts val="0"/>
              </a:spcAft>
            </a:pPr>
            <a:r>
              <a:rPr sz="1200">
                <a:solidFill>
                  <a:srgbClr val="172C42"/>
                </a:solidFill>
                <a:latin typeface="Consolas"/>
              </a:rPr>
              <a:t>  </a:t>
            </a:r>
            <a:r>
              <a:rPr sz="1200" b="1">
                <a:solidFill>
                  <a:srgbClr val="6B3FA0"/>
                </a:solidFill>
                <a:latin typeface="Consolas"/>
              </a:rPr>
              <a:t>new</a:t>
            </a:r>
            <a:r>
              <a:rPr sz="1200">
                <a:solidFill>
                  <a:srgbClr val="172C42"/>
                </a:solidFill>
                <a:latin typeface="Consolas"/>
              </a:rPr>
              <a:t> UpiPayment(), </a:t>
            </a:r>
            <a:r>
              <a:rPr sz="1200" b="1">
                <a:solidFill>
                  <a:srgbClr val="6B3FA0"/>
                </a:solidFill>
                <a:latin typeface="Consolas"/>
              </a:rPr>
              <a:t>new</a:t>
            </a:r>
            <a:r>
              <a:rPr sz="1200">
                <a:solidFill>
                  <a:srgbClr val="172C42"/>
                </a:solidFill>
                <a:latin typeface="Consolas"/>
              </a:rPr>
              <a:t> OrderFactory(),</a:t>
            </a:r>
          </a:p>
          <a:p>
            <a:pPr>
              <a:lnSpc>
                <a:spcPts val="1270"/>
              </a:lnSpc>
              <a:spcBef>
                <a:spcPts val="0"/>
              </a:spcBef>
              <a:spcAft>
                <a:spcPts val="0"/>
              </a:spcAft>
            </a:pPr>
            <a:r>
              <a:rPr sz="1200">
                <a:solidFill>
                  <a:srgbClr val="172C42"/>
                </a:solidFill>
                <a:latin typeface="Consolas"/>
              </a:rPr>
              <a:t>);</a:t>
            </a:r>
          </a:p>
          <a:p>
            <a:pPr>
              <a:lnSpc>
                <a:spcPts val="1270"/>
              </a:lnSpc>
              <a:spcBef>
                <a:spcPts val="0"/>
              </a:spcBef>
              <a:spcAft>
                <a:spcPts val="0"/>
              </a:spcAft>
            </a:pPr>
            <a:r>
              <a:rPr sz="1200">
                <a:solidFill>
                  <a:srgbClr val="172C42"/>
                </a:solidFill>
                <a:latin typeface="Consolas"/>
              </a:rPr>
              <a:t>console.log(renderReceipt(service.buy(</a:t>
            </a:r>
            <a:r>
              <a:rPr sz="1200">
                <a:solidFill>
                  <a:srgbClr val="2B6B4A"/>
                </a:solidFill>
                <a:latin typeface="Consolas"/>
              </a:rPr>
              <a:t>"cola"</a:t>
            </a:r>
            <a:r>
              <a:rPr sz="1200">
                <a:solidFill>
                  <a:srgbClr val="172C42"/>
                </a:solidFill>
                <a:latin typeface="Consolas"/>
              </a:rPr>
              <a:t>, </a:t>
            </a:r>
            <a:r>
              <a:rPr sz="1200">
                <a:solidFill>
                  <a:srgbClr val="2B6B4A"/>
                </a:solidFill>
                <a:latin typeface="Consolas"/>
              </a:rPr>
              <a:t>"upi-ref-1001"</a:t>
            </a:r>
            <a:r>
              <a:rPr sz="1200">
                <a:solidFill>
                  <a:srgbClr val="172C42"/>
                </a:solidFill>
                <a:latin typeface="Consolas"/>
              </a:rPr>
              <a:t>)));</a:t>
            </a:r>
          </a:p>
          <a:p>
            <a:pPr>
              <a:lnSpc>
                <a:spcPts val="1270"/>
              </a:lnSpc>
              <a:spcBef>
                <a:spcPts val="0"/>
              </a:spcBef>
              <a:spcAft>
                <a:spcPts val="0"/>
              </a:spcAft>
            </a:pPr>
            <a:r>
              <a:rPr sz="1200">
                <a:solidFill>
                  <a:srgbClr val="172C42"/>
                </a:solidFill>
                <a:latin typeface="Consolas"/>
              </a:rPr>
              <a:t>console.log(renderReceipt(service.buy(</a:t>
            </a:r>
            <a:r>
              <a:rPr sz="1200">
                <a:solidFill>
                  <a:srgbClr val="2B6B4A"/>
                </a:solidFill>
                <a:latin typeface="Consolas"/>
              </a:rPr>
              <a:t>"cola"</a:t>
            </a:r>
            <a:r>
              <a:rPr sz="1200">
                <a:solidFill>
                  <a:srgbClr val="172C42"/>
                </a:solidFill>
                <a:latin typeface="Consolas"/>
              </a:rPr>
              <a:t>, </a:t>
            </a:r>
            <a:r>
              <a:rPr sz="1200">
                <a:solidFill>
                  <a:srgbClr val="2B6B4A"/>
                </a:solidFill>
                <a:latin typeface="Consolas"/>
              </a:rPr>
              <a:t>"upi-ref-1002"</a:t>
            </a:r>
            <a:r>
              <a:rPr sz="1200">
                <a:solidFill>
                  <a:srgbClr val="172C42"/>
                </a:solidFill>
                <a:latin typeface="Consolas"/>
              </a:rPr>
              <a:t>)));</a:t>
            </a:r>
          </a:p>
        </p:txBody>
      </p:sp>
    </p:spTree>
    <p:extLst>
      <p:ext uri="{BB962C8B-B14F-4D97-AF65-F5344CB8AC3E}">
        <p14:creationId xmlns:p14="http://schemas.microsoft.com/office/powerpoint/2010/main" val="27408888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1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2">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4">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17"/>
          <p:cNvSpPr txBox="1"/>
          <p:nvPr/>
        </p:nvSpPr>
        <p:spPr>
          <a:xfrm>
            <a:off x="713232" y="365760"/>
            <a:ext cx="10972800" cy="594360"/>
          </a:xfrm>
          <a:prstGeom prst="rect">
            <a:avLst/>
          </a:prstGeom>
          <a:noFill/>
        </p:spPr>
        <p:txBody>
          <a:bodyPr wrap="square" lIns="0" tIns="0" rIns="0" bIns="0" anchor="t">
            <a:spAutoFit/>
          </a:bodyPr>
          <a:lstStyle/>
          <a:p>
            <a:pPr>
              <a:lnSpc>
                <a:spcPts val="3500"/>
              </a:lnSpc>
              <a:spcBef>
                <a:spcPts val="0"/>
              </a:spcBef>
              <a:spcAft>
                <a:spcPts val="0"/>
              </a:spcAft>
            </a:pPr>
            <a:r>
              <a:rPr sz="3200" b="1">
                <a:solidFill>
                  <a:srgbClr val="FFFFFF"/>
                </a:solidFill>
              </a:rPr>
              <a:t>Design issues and repair patterns</a:t>
            </a:r>
          </a:p>
        </p:txBody>
      </p:sp>
      <p:sp>
        <p:nvSpPr>
          <p:cNvPr id="6" name="TextBox 18"/>
          <p:cNvSpPr txBox="1"/>
          <p:nvPr/>
        </p:nvSpPr>
        <p:spPr>
          <a:xfrm>
            <a:off x="594360" y="1143000"/>
            <a:ext cx="54864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1  Problems in the snippet</a:t>
            </a:r>
          </a:p>
        </p:txBody>
      </p:sp>
      <p:sp>
        <p:nvSpPr>
          <p:cNvPr id="7" name="TextBox 19"/>
          <p:cNvSpPr txBox="1"/>
          <p:nvPr/>
        </p:nvSpPr>
        <p:spPr>
          <a:xfrm>
            <a:off x="6309360" y="1143000"/>
            <a:ext cx="54864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2  Patterns that repair them</a:t>
            </a:r>
          </a:p>
        </p:txBody>
      </p:sp>
      <p:graphicFrame>
        <p:nvGraphicFramePr>
          <p:cNvPr id="8" name="Content Placeholder 3">
            <a:extLst>
              <a:ext uri="{FF2B5EF4-FFF2-40B4-BE49-F238E27FC236}">
                <a16:creationId xmlns:a16="http://schemas.microsoft.com/office/drawing/2014/main" id="{4445418C-91C3-2E0D-2A53-4F37B891DF30}"/>
              </a:ext>
            </a:extLst>
          </p:cNvPr>
          <p:cNvGraphicFramePr>
            <a:graphicFrameLocks noGrp="1"/>
          </p:cNvGraphicFramePr>
          <p:nvPr>
            <p:ph idx="1"/>
            <p:extLst>
              <p:ext uri="{D42A27DB-BD31-4B8C-83A1-F6EECF244321}">
                <p14:modId xmlns:p14="http://schemas.microsoft.com/office/powerpoint/2010/main" val="4041767326"/>
              </p:ext>
            </p:extLst>
          </p:nvPr>
        </p:nvGraphicFramePr>
        <p:xfrm>
          <a:off x="457200" y="1783080"/>
          <a:ext cx="11274552" cy="3652012"/>
        </p:xfrm>
        <a:graphic>
          <a:graphicData uri="http://schemas.openxmlformats.org/drawingml/2006/table">
            <a:tbl>
              <a:tblPr>
                <a:tableStyleId>{5C22544A-7EE6-4342-B048-85BDC9FD1C3A}</a:tableStyleId>
              </a:tblPr>
              <a:tblGrid>
                <a:gridCol w="1325880">
                  <a:extLst>
                    <a:ext uri="{9D8B030D-6E8A-4147-A177-3AD203B41FA5}">
                      <a16:colId xmlns:a16="http://schemas.microsoft.com/office/drawing/2014/main" val="1821425524"/>
                    </a:ext>
                  </a:extLst>
                </a:gridCol>
                <a:gridCol w="4956048">
                  <a:extLst>
                    <a:ext uri="{9D8B030D-6E8A-4147-A177-3AD203B41FA5}">
                      <a16:colId xmlns:a16="http://schemas.microsoft.com/office/drawing/2014/main" val="2487578819"/>
                    </a:ext>
                  </a:extLst>
                </a:gridCol>
                <a:gridCol w="4992624">
                  <a:extLst>
                    <a:ext uri="{9D8B030D-6E8A-4147-A177-3AD203B41FA5}">
                      <a16:colId xmlns:a16="http://schemas.microsoft.com/office/drawing/2014/main" val="568689609"/>
                    </a:ext>
                  </a:extLst>
                </a:gridCol>
              </a:tblGrid>
              <a:tr h="365760">
                <a:tc>
                  <a:txBody>
                    <a:bodyPr/>
                    <a:lstStyle/>
                    <a:p>
                      <a:pPr algn="l" fontAlgn="t">
                        <a:lnSpc>
                          <a:spcPct val="106000"/>
                        </a:lnSpc>
                        <a:spcBef>
                          <a:spcPts val="0"/>
                        </a:spcBef>
                        <a:spcAft>
                          <a:spcPts val="0"/>
                        </a:spcAft>
                        <a:buNone/>
                      </a:pPr>
                      <a:r>
                        <a:rPr lang="en-IN" sz="1350" b="1">
                          <a:solidFill>
                            <a:srgbClr val="FFFFFF"/>
                          </a:solidFill>
                          <a:effectLst/>
                          <a:latin typeface="Aptos"/>
                        </a:rPr>
                        <a:t>Issue</a:t>
                      </a:r>
                      <a:endParaRPr lang="en-IN" sz="1050" b="0" i="0">
                        <a:solidFill>
                          <a:srgbClr val="F0F0F0"/>
                        </a:solidFill>
                        <a:effectLst/>
                        <a:latin typeface="Segoe WPC"/>
                      </a:endParaRPr>
                    </a:p>
                  </a:txBody>
                  <a:tcPr marL="109728" marR="109728" marT="91440" marB="73152">
                    <a:solidFill>
                      <a:srgbClr val="173D50"/>
                    </a:solidFill>
                  </a:tcPr>
                </a:tc>
                <a:tc>
                  <a:txBody>
                    <a:bodyPr/>
                    <a:lstStyle/>
                    <a:p>
                      <a:pPr algn="l" fontAlgn="t">
                        <a:lnSpc>
                          <a:spcPct val="106000"/>
                        </a:lnSpc>
                        <a:spcBef>
                          <a:spcPts val="0"/>
                        </a:spcBef>
                        <a:spcAft>
                          <a:spcPts val="0"/>
                        </a:spcAft>
                        <a:buNone/>
                      </a:pPr>
                      <a:r>
                        <a:rPr lang="en-IN" sz="1350" b="1">
                          <a:solidFill>
                            <a:srgbClr val="FFFFFF"/>
                          </a:solidFill>
                          <a:effectLst/>
                          <a:latin typeface="Aptos"/>
                        </a:rPr>
                        <a:t>What the snippet does</a:t>
                      </a:r>
                      <a:endParaRPr lang="en-IN" sz="1050" b="0" i="0">
                        <a:solidFill>
                          <a:srgbClr val="F0F0F0"/>
                        </a:solidFill>
                        <a:effectLst/>
                        <a:latin typeface="Segoe WPC"/>
                      </a:endParaRPr>
                    </a:p>
                  </a:txBody>
                  <a:tcPr marL="109728" marR="109728" marT="91440" marB="73152">
                    <a:solidFill>
                      <a:srgbClr val="173D50"/>
                    </a:solidFill>
                  </a:tcPr>
                </a:tc>
                <a:tc>
                  <a:txBody>
                    <a:bodyPr/>
                    <a:lstStyle/>
                    <a:p>
                      <a:pPr algn="l" fontAlgn="t">
                        <a:lnSpc>
                          <a:spcPct val="106000"/>
                        </a:lnSpc>
                        <a:spcBef>
                          <a:spcPts val="0"/>
                        </a:spcBef>
                        <a:spcAft>
                          <a:spcPts val="0"/>
                        </a:spcAft>
                        <a:buNone/>
                      </a:pPr>
                      <a:r>
                        <a:rPr lang="en-IN" sz="1350" b="1">
                          <a:solidFill>
                            <a:srgbClr val="FFFFFF"/>
                          </a:solidFill>
                          <a:effectLst/>
                          <a:latin typeface="Aptos"/>
                        </a:rPr>
                        <a:t>Pattern that repairs it</a:t>
                      </a:r>
                      <a:endParaRPr lang="en-IN" sz="1050" b="0" i="0">
                        <a:solidFill>
                          <a:srgbClr val="F0F0F0"/>
                        </a:solidFill>
                        <a:effectLst/>
                        <a:latin typeface="Segoe WPC"/>
                      </a:endParaRPr>
                    </a:p>
                  </a:txBody>
                  <a:tcPr marL="109728" marR="109728" marT="91440" marB="73152">
                    <a:solidFill>
                      <a:srgbClr val="173D50"/>
                    </a:solidFill>
                  </a:tcPr>
                </a:tc>
                <a:extLst>
                  <a:ext uri="{0D108BD9-81ED-4DB2-BD59-A6C34878D82A}">
                    <a16:rowId xmlns:a16="http://schemas.microsoft.com/office/drawing/2014/main" val="3327697577"/>
                  </a:ext>
                </a:extLst>
              </a:tr>
              <a:tr h="987552">
                <a:tc>
                  <a:txBody>
                    <a:bodyPr/>
                    <a:lstStyle/>
                    <a:p>
                      <a:pPr algn="l" fontAlgn="t" latinLnBrk="0">
                        <a:lnSpc>
                          <a:spcPct val="106000"/>
                        </a:lnSpc>
                        <a:spcBef>
                          <a:spcPts val="0"/>
                        </a:spcBef>
                        <a:spcAft>
                          <a:spcPts val="0"/>
                        </a:spcAft>
                        <a:buNone/>
                      </a:pPr>
                      <a:r>
                        <a:rPr lang="en-IN" sz="1350" b="1">
                          <a:solidFill>
                            <a:srgbClr val="172C42"/>
                          </a:solidFill>
                          <a:effectLst/>
                          <a:latin typeface="Aptos"/>
                        </a:rPr>
                        <a:t>Database</a:t>
                      </a:r>
                      <a:endParaRPr lang="en-IN" sz="1050" b="0" i="0">
                        <a:solidFill>
                          <a:srgbClr val="F0F0F0"/>
                        </a:solidFill>
                        <a:effectLst/>
                        <a:latin typeface="Segoe WPC"/>
                      </a:endParaRPr>
                    </a:p>
                  </a:txBody>
                  <a:tcPr marL="109728" marR="109728" marT="91440" marB="73152">
                    <a:solidFill>
                      <a:srgbClr val="F0F4F6"/>
                    </a:solidFill>
                  </a:tcPr>
                </a:tc>
                <a:tc>
                  <a:txBody>
                    <a:bodyPr/>
                    <a:lstStyle/>
                    <a:p>
                      <a:pPr algn="l" fontAlgn="t" latinLnBrk="0">
                        <a:lnSpc>
                          <a:spcPct val="106000"/>
                        </a:lnSpc>
                        <a:spcBef>
                          <a:spcPts val="0"/>
                        </a:spcBef>
                        <a:spcAft>
                          <a:spcPts val="0"/>
                        </a:spcAft>
                        <a:buNone/>
                      </a:pPr>
                      <a:r>
                        <a:rPr lang="en-IN" sz="1350" b="0">
                          <a:solidFill>
                            <a:srgbClr val="172C42"/>
                          </a:solidFill>
                          <a:effectLst/>
                          <a:latin typeface="Aptos"/>
                        </a:rPr>
                        <a:t>One stuff list holds the drink, the price as text "20", the stock, the customer, and the UPI PIN 0000. The next sale reads stock from that payment row.</a:t>
                      </a:r>
                      <a:endParaRPr lang="en-IN" sz="1050" b="0" i="0">
                        <a:solidFill>
                          <a:srgbClr val="F0F0F0"/>
                        </a:solidFill>
                        <a:effectLst/>
                        <a:latin typeface="Segoe WPC"/>
                      </a:endParaRPr>
                    </a:p>
                  </a:txBody>
                  <a:tcPr marL="109728" marR="109728" marT="91440" marB="73152">
                    <a:solidFill>
                      <a:srgbClr val="F0F4F6"/>
                    </a:solidFill>
                  </a:tcPr>
                </a:tc>
                <a:tc>
                  <a:txBody>
                    <a:bodyPr/>
                    <a:lstStyle/>
                    <a:p>
                      <a:pPr algn="l" fontAlgn="t" latinLnBrk="0">
                        <a:lnSpc>
                          <a:spcPct val="106000"/>
                        </a:lnSpc>
                        <a:spcBef>
                          <a:spcPts val="0"/>
                        </a:spcBef>
                        <a:spcAft>
                          <a:spcPts val="0"/>
                        </a:spcAft>
                        <a:buNone/>
                      </a:pPr>
                      <a:r>
                        <a:rPr lang="en-IN" sz="1350" b="0">
                          <a:solidFill>
                            <a:srgbClr val="172C42"/>
                          </a:solidFill>
                          <a:effectLst/>
                          <a:latin typeface="Aptos"/>
                        </a:rPr>
                        <a:t>Repository. ProductRepository keeps drink and stock. PaymentRepository keeps only the sale. The PIN is not stored.</a:t>
                      </a:r>
                      <a:endParaRPr lang="en-IN" sz="1050" b="0" i="0">
                        <a:solidFill>
                          <a:srgbClr val="F0F0F0"/>
                        </a:solidFill>
                        <a:effectLst/>
                        <a:latin typeface="Segoe WPC"/>
                      </a:endParaRPr>
                    </a:p>
                  </a:txBody>
                  <a:tcPr marL="109728" marR="109728" marT="91440" marB="73152">
                    <a:solidFill>
                      <a:srgbClr val="F0F4F6"/>
                    </a:solidFill>
                  </a:tcPr>
                </a:tc>
                <a:extLst>
                  <a:ext uri="{0D108BD9-81ED-4DB2-BD59-A6C34878D82A}">
                    <a16:rowId xmlns:a16="http://schemas.microsoft.com/office/drawing/2014/main" val="2718931030"/>
                  </a:ext>
                </a:extLst>
              </a:tr>
              <a:tr h="749808">
                <a:tc>
                  <a:txBody>
                    <a:bodyPr/>
                    <a:lstStyle/>
                    <a:p>
                      <a:pPr algn="l" fontAlgn="t" latinLnBrk="0">
                        <a:lnSpc>
                          <a:spcPct val="106000"/>
                        </a:lnSpc>
                        <a:spcBef>
                          <a:spcPts val="0"/>
                        </a:spcBef>
                        <a:spcAft>
                          <a:spcPts val="0"/>
                        </a:spcAft>
                        <a:buNone/>
                      </a:pPr>
                      <a:r>
                        <a:rPr lang="en-IN" sz="1350" b="1">
                          <a:solidFill>
                            <a:srgbClr val="172C42"/>
                          </a:solidFill>
                          <a:effectLst/>
                          <a:latin typeface="Aptos"/>
                        </a:rPr>
                        <a:t>Database</a:t>
                      </a:r>
                      <a:endParaRPr lang="en-IN" sz="1050" b="0" i="0">
                        <a:solidFill>
                          <a:srgbClr val="F0F0F0"/>
                        </a:solidFill>
                        <a:effectLst/>
                        <a:latin typeface="Segoe WPC"/>
                      </a:endParaRPr>
                    </a:p>
                  </a:txBody>
                  <a:tcPr marL="109728" marR="109728" marT="91440" marB="73152">
                    <a:solidFill>
                      <a:srgbClr val="FFFFFF"/>
                    </a:solidFill>
                  </a:tcPr>
                </a:tc>
                <a:tc>
                  <a:txBody>
                    <a:bodyPr/>
                    <a:lstStyle/>
                    <a:p>
                      <a:pPr algn="l" fontAlgn="t" latinLnBrk="0">
                        <a:lnSpc>
                          <a:spcPct val="106000"/>
                        </a:lnSpc>
                        <a:spcBef>
                          <a:spcPts val="0"/>
                        </a:spcBef>
                        <a:spcAft>
                          <a:spcPts val="0"/>
                        </a:spcAft>
                        <a:buNone/>
                      </a:pPr>
                      <a:r>
                        <a:rPr lang="en-IN" sz="1350" b="0">
                          <a:solidFill>
                            <a:srgbClr val="172C42"/>
                          </a:solidFill>
                          <a:effectLst/>
                          <a:latin typeface="Aptos"/>
                        </a:rPr>
                        <a:t>Price, stock, and payment status are copied onto every sale, so those copies can disagree.</a:t>
                      </a:r>
                      <a:endParaRPr lang="en-IN" sz="1050" b="0" i="0">
                        <a:solidFill>
                          <a:srgbClr val="F0F0F0"/>
                        </a:solidFill>
                        <a:effectLst/>
                        <a:latin typeface="Segoe WPC"/>
                      </a:endParaRPr>
                    </a:p>
                  </a:txBody>
                  <a:tcPr marL="109728" marR="109728" marT="91440" marB="73152">
                    <a:solidFill>
                      <a:srgbClr val="FFFFFF"/>
                    </a:solidFill>
                  </a:tcPr>
                </a:tc>
                <a:tc>
                  <a:txBody>
                    <a:bodyPr/>
                    <a:lstStyle/>
                    <a:p>
                      <a:pPr algn="l" fontAlgn="t" latinLnBrk="0">
                        <a:lnSpc>
                          <a:spcPct val="106000"/>
                        </a:lnSpc>
                        <a:spcBef>
                          <a:spcPts val="0"/>
                        </a:spcBef>
                        <a:spcAft>
                          <a:spcPts val="0"/>
                        </a:spcAft>
                        <a:buNone/>
                      </a:pPr>
                      <a:r>
                        <a:rPr lang="en-IN" sz="1350" b="0">
                          <a:solidFill>
                            <a:srgbClr val="172C42"/>
                          </a:solidFill>
                          <a:effectLst/>
                          <a:latin typeface="Aptos"/>
                        </a:rPr>
                        <a:t>Factory. OrderFactory builds one sale record from the product: product name, numeric price, payment reference, and status.</a:t>
                      </a:r>
                      <a:endParaRPr lang="en-IN" sz="1050" b="0" i="0">
                        <a:solidFill>
                          <a:srgbClr val="F0F0F0"/>
                        </a:solidFill>
                        <a:effectLst/>
                        <a:latin typeface="Segoe WPC"/>
                      </a:endParaRPr>
                    </a:p>
                  </a:txBody>
                  <a:tcPr marL="109728" marR="109728" marT="91440" marB="73152">
                    <a:solidFill>
                      <a:srgbClr val="FFFFFF"/>
                    </a:solidFill>
                  </a:tcPr>
                </a:tc>
                <a:extLst>
                  <a:ext uri="{0D108BD9-81ED-4DB2-BD59-A6C34878D82A}">
                    <a16:rowId xmlns:a16="http://schemas.microsoft.com/office/drawing/2014/main" val="3195183277"/>
                  </a:ext>
                </a:extLst>
              </a:tr>
              <a:tr h="804672">
                <a:tc>
                  <a:txBody>
                    <a:bodyPr/>
                    <a:lstStyle/>
                    <a:p>
                      <a:pPr algn="l" fontAlgn="t" latinLnBrk="0">
                        <a:lnSpc>
                          <a:spcPct val="106000"/>
                        </a:lnSpc>
                        <a:spcBef>
                          <a:spcPts val="0"/>
                        </a:spcBef>
                        <a:spcAft>
                          <a:spcPts val="0"/>
                        </a:spcAft>
                        <a:buNone/>
                      </a:pPr>
                      <a:r>
                        <a:rPr lang="en-IN" sz="1350" b="1">
                          <a:solidFill>
                            <a:srgbClr val="172C42"/>
                          </a:solidFill>
                          <a:effectLst/>
                          <a:latin typeface="Aptos"/>
                        </a:rPr>
                        <a:t>User interface</a:t>
                      </a:r>
                      <a:endParaRPr lang="en-IN" sz="1050" b="0" i="0">
                        <a:solidFill>
                          <a:srgbClr val="F0F0F0"/>
                        </a:solidFill>
                        <a:effectLst/>
                        <a:latin typeface="Segoe WPC"/>
                      </a:endParaRPr>
                    </a:p>
                  </a:txBody>
                  <a:tcPr marL="109728" marR="109728" marT="91440" marB="73152">
                    <a:solidFill>
                      <a:srgbClr val="F0F4F6"/>
                    </a:solidFill>
                  </a:tcPr>
                </a:tc>
                <a:tc>
                  <a:txBody>
                    <a:bodyPr/>
                    <a:lstStyle/>
                    <a:p>
                      <a:pPr algn="l" fontAlgn="t" latinLnBrk="0">
                        <a:lnSpc>
                          <a:spcPct val="106000"/>
                        </a:lnSpc>
                        <a:spcBef>
                          <a:spcPts val="0"/>
                        </a:spcBef>
                        <a:spcAft>
                          <a:spcPts val="0"/>
                        </a:spcAft>
                        <a:buNone/>
                      </a:pPr>
                      <a:r>
                        <a:rPr lang="en-IN" sz="1350" b="0">
                          <a:solidFill>
                            <a:srgbClr val="172C42"/>
                          </a:solidFill>
                          <a:effectLst/>
                          <a:latin typeface="Aptos"/>
                        </a:rPr>
                        <a:t>The purchase function writes &lt;h1 style='color:red'&gt; itself. A screen change means editing the money rules.</a:t>
                      </a:r>
                      <a:endParaRPr lang="en-IN" sz="1050" b="0" i="0">
                        <a:solidFill>
                          <a:srgbClr val="F0F0F0"/>
                        </a:solidFill>
                        <a:effectLst/>
                        <a:latin typeface="Segoe WPC"/>
                      </a:endParaRPr>
                    </a:p>
                  </a:txBody>
                  <a:tcPr marL="109728" marR="109728" marT="91440" marB="73152">
                    <a:solidFill>
                      <a:srgbClr val="F0F4F6"/>
                    </a:solidFill>
                  </a:tcPr>
                </a:tc>
                <a:tc>
                  <a:txBody>
                    <a:bodyPr/>
                    <a:lstStyle/>
                    <a:p>
                      <a:pPr algn="l" fontAlgn="t" latinLnBrk="0">
                        <a:lnSpc>
                          <a:spcPct val="106000"/>
                        </a:lnSpc>
                        <a:spcBef>
                          <a:spcPts val="0"/>
                        </a:spcBef>
                        <a:spcAft>
                          <a:spcPts val="0"/>
                        </a:spcAft>
                        <a:buNone/>
                      </a:pPr>
                      <a:r>
                        <a:rPr lang="en-IN" sz="1350" b="0">
                          <a:solidFill>
                            <a:srgbClr val="172C42"/>
                          </a:solidFill>
                          <a:effectLst/>
                          <a:latin typeface="Aptos"/>
                        </a:rPr>
                        <a:t>Model–view–controller. buy returns { status, message }. renderReceipt is the only place that turns that result into what the screen shows.</a:t>
                      </a:r>
                      <a:endParaRPr lang="en-IN" sz="1050" b="0" i="0">
                        <a:solidFill>
                          <a:srgbClr val="F0F0F0"/>
                        </a:solidFill>
                        <a:effectLst/>
                        <a:latin typeface="Segoe WPC"/>
                      </a:endParaRPr>
                    </a:p>
                  </a:txBody>
                  <a:tcPr marL="109728" marR="109728" marT="91440" marB="73152">
                    <a:solidFill>
                      <a:srgbClr val="F0F4F6"/>
                    </a:solidFill>
                  </a:tcPr>
                </a:tc>
                <a:extLst>
                  <a:ext uri="{0D108BD9-81ED-4DB2-BD59-A6C34878D82A}">
                    <a16:rowId xmlns:a16="http://schemas.microsoft.com/office/drawing/2014/main" val="233808387"/>
                  </a:ext>
                </a:extLst>
              </a:tr>
              <a:tr h="713232">
                <a:tc>
                  <a:txBody>
                    <a:bodyPr/>
                    <a:lstStyle/>
                    <a:p>
                      <a:pPr algn="l" fontAlgn="t" latinLnBrk="0">
                        <a:lnSpc>
                          <a:spcPct val="106000"/>
                        </a:lnSpc>
                        <a:spcBef>
                          <a:spcPts val="0"/>
                        </a:spcBef>
                        <a:spcAft>
                          <a:spcPts val="0"/>
                        </a:spcAft>
                        <a:buNone/>
                      </a:pPr>
                      <a:r>
                        <a:rPr lang="en-IN" sz="1350" b="1">
                          <a:solidFill>
                            <a:srgbClr val="172C42"/>
                          </a:solidFill>
                          <a:effectLst/>
                          <a:latin typeface="Aptos"/>
                        </a:rPr>
                        <a:t>Too many objects</a:t>
                      </a:r>
                      <a:endParaRPr lang="en-IN" sz="1050" b="0" i="0">
                        <a:solidFill>
                          <a:srgbClr val="F0F0F0"/>
                        </a:solidFill>
                        <a:effectLst/>
                        <a:latin typeface="Segoe WPC"/>
                      </a:endParaRPr>
                    </a:p>
                  </a:txBody>
                  <a:tcPr marL="109728" marR="109728" marT="91440" marB="73152">
                    <a:solidFill>
                      <a:srgbClr val="F0F4F6"/>
                    </a:solidFill>
                  </a:tcPr>
                </a:tc>
                <a:tc>
                  <a:txBody>
                    <a:bodyPr/>
                    <a:lstStyle/>
                    <a:p>
                      <a:pPr algn="l" fontAlgn="t" latinLnBrk="0">
                        <a:lnSpc>
                          <a:spcPct val="106000"/>
                        </a:lnSpc>
                        <a:spcBef>
                          <a:spcPts val="0"/>
                        </a:spcBef>
                        <a:spcAft>
                          <a:spcPts val="0"/>
                        </a:spcAft>
                        <a:buNone/>
                      </a:pPr>
                      <a:r>
                        <a:rPr lang="en-IN" sz="1350" b="0">
                          <a:solidFill>
                            <a:srgbClr val="172C42"/>
                          </a:solidFill>
                          <a:effectLst/>
                          <a:latin typeface="Aptos"/>
                        </a:rPr>
                        <a:t>The sale record is assembled by hand inside buy, with a different shape each time.</a:t>
                      </a:r>
                      <a:endParaRPr lang="en-IN" sz="1050" b="0" i="0">
                        <a:solidFill>
                          <a:srgbClr val="F0F0F0"/>
                        </a:solidFill>
                        <a:effectLst/>
                        <a:latin typeface="Segoe WPC"/>
                      </a:endParaRPr>
                    </a:p>
                  </a:txBody>
                  <a:tcPr marL="109728" marR="109728" marT="91440" marB="73152">
                    <a:solidFill>
                      <a:srgbClr val="F0F4F6"/>
                    </a:solidFill>
                  </a:tcPr>
                </a:tc>
                <a:tc>
                  <a:txBody>
                    <a:bodyPr/>
                    <a:lstStyle/>
                    <a:p>
                      <a:pPr algn="l" fontAlgn="t" latinLnBrk="0">
                        <a:lnSpc>
                          <a:spcPct val="106000"/>
                        </a:lnSpc>
                        <a:spcBef>
                          <a:spcPts val="0"/>
                        </a:spcBef>
                        <a:spcAft>
                          <a:spcPts val="0"/>
                        </a:spcAft>
                        <a:buNone/>
                      </a:pPr>
                      <a:r>
                        <a:rPr lang="en-IN" sz="1350" b="0" dirty="0">
                          <a:solidFill>
                            <a:srgbClr val="172C42"/>
                          </a:solidFill>
                          <a:effectLst/>
                          <a:latin typeface="Aptos"/>
                        </a:rPr>
                        <a:t>Factory. Call </a:t>
                      </a:r>
                      <a:r>
                        <a:rPr lang="en-IN" sz="1350" b="0" dirty="0" err="1">
                          <a:solidFill>
                            <a:srgbClr val="172C42"/>
                          </a:solidFill>
                          <a:effectLst/>
                          <a:latin typeface="Aptos"/>
                        </a:rPr>
                        <a:t>OrderFactory.create</a:t>
                      </a:r>
                      <a:r>
                        <a:rPr lang="en-IN" sz="1350" b="0" dirty="0">
                          <a:solidFill>
                            <a:srgbClr val="172C42"/>
                          </a:solidFill>
                          <a:effectLst/>
                          <a:latin typeface="Aptos"/>
                        </a:rPr>
                        <a:t> whenever a sale must be recorded.</a:t>
                      </a:r>
                      <a:endParaRPr lang="en-IN" sz="1050" b="0" i="0" dirty="0">
                        <a:solidFill>
                          <a:srgbClr val="F0F0F0"/>
                        </a:solidFill>
                        <a:effectLst/>
                        <a:latin typeface="Segoe WPC"/>
                      </a:endParaRPr>
                    </a:p>
                  </a:txBody>
                  <a:tcPr marL="109728" marR="109728" marT="91440" marB="73152">
                    <a:solidFill>
                      <a:srgbClr val="F0F4F6"/>
                    </a:solidFill>
                  </a:tcPr>
                </a:tc>
                <a:extLst>
                  <a:ext uri="{0D108BD9-81ED-4DB2-BD59-A6C34878D82A}">
                    <a16:rowId xmlns:a16="http://schemas.microsoft.com/office/drawing/2014/main" val="1388435595"/>
                  </a:ext>
                </a:extLst>
              </a:tr>
            </a:tbl>
          </a:graphicData>
        </a:graphic>
      </p:graphicFrame>
    </p:spTree>
    <p:extLst>
      <p:ext uri="{BB962C8B-B14F-4D97-AF65-F5344CB8AC3E}">
        <p14:creationId xmlns:p14="http://schemas.microsoft.com/office/powerpoint/2010/main" val="25437428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Rectangle 1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2">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4">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17"/>
          <p:cNvSpPr txBox="1"/>
          <p:nvPr/>
        </p:nvSpPr>
        <p:spPr>
          <a:xfrm>
            <a:off x="713232" y="365760"/>
            <a:ext cx="10972800" cy="594360"/>
          </a:xfrm>
          <a:prstGeom prst="rect">
            <a:avLst/>
          </a:prstGeom>
          <a:noFill/>
        </p:spPr>
        <p:txBody>
          <a:bodyPr wrap="square" lIns="0" tIns="0" rIns="0" bIns="0" anchor="t">
            <a:spAutoFit/>
          </a:bodyPr>
          <a:lstStyle/>
          <a:p>
            <a:pPr>
              <a:lnSpc>
                <a:spcPts val="3500"/>
              </a:lnSpc>
              <a:spcBef>
                <a:spcPts val="0"/>
              </a:spcBef>
              <a:spcAft>
                <a:spcPts val="0"/>
              </a:spcAft>
            </a:pPr>
            <a:r>
              <a:rPr sz="3200" b="1">
                <a:solidFill>
                  <a:srgbClr val="FFFFFF"/>
                </a:solidFill>
              </a:rPr>
              <a:t>One deposit, end to end</a:t>
            </a:r>
          </a:p>
        </p:txBody>
      </p:sp>
      <p:sp>
        <p:nvSpPr>
          <p:cNvPr id="6" name="TextBox 18"/>
          <p:cNvSpPr txBox="1"/>
          <p:nvPr/>
        </p:nvSpPr>
        <p:spPr>
          <a:xfrm>
            <a:off x="594360" y="1143000"/>
            <a:ext cx="54864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1  Request and account checks</a:t>
            </a:r>
          </a:p>
        </p:txBody>
      </p:sp>
      <p:sp>
        <p:nvSpPr>
          <p:cNvPr id="7" name="TextBox 19"/>
          <p:cNvSpPr txBox="1"/>
          <p:nvPr/>
        </p:nvSpPr>
        <p:spPr>
          <a:xfrm>
            <a:off x="6309360" y="1143000"/>
            <a:ext cx="54864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2  Update and response</a:t>
            </a:r>
          </a:p>
        </p:txBody>
      </p:sp>
      <p:sp>
        <p:nvSpPr>
          <p:cNvPr id="8" name="TextBox 7"/>
          <p:cNvSpPr txBox="1"/>
          <p:nvPr/>
        </p:nvSpPr>
        <p:spPr>
          <a:xfrm>
            <a:off x="594360" y="1847088"/>
            <a:ext cx="5285232" cy="1344168"/>
          </a:xfrm>
          <a:prstGeom prst="rect">
            <a:avLst/>
          </a:prstGeom>
          <a:noFill/>
        </p:spPr>
        <p:txBody>
          <a:bodyPr wrap="square" lIns="0" tIns="0" rIns="0" bIns="0">
            <a:spAutoFit/>
          </a:bodyPr>
          <a:lstStyle/>
          <a:p>
            <a:pPr>
              <a:lnSpc>
                <a:spcPct val="112000"/>
              </a:lnSpc>
              <a:spcAft>
                <a:spcPts val="0"/>
              </a:spcAft>
            </a:pPr>
            <a:r>
              <a:rPr sz="1800" b="1">
                <a:solidFill>
                  <a:srgbClr val="6B3FA0"/>
                </a:solidFill>
              </a:rPr>
              <a:t>1. </a:t>
            </a:r>
            <a:r>
              <a:rPr sz="1800">
                <a:solidFill>
                  <a:srgbClr val="172C42"/>
                </a:solidFill>
                <a:latin typeface="Aptos"/>
              </a:rPr>
              <a:t>You type 25 and press Deposit. That is React in CustomerView.jsx.</a:t>
            </a:r>
          </a:p>
        </p:txBody>
      </p:sp>
      <p:sp>
        <p:nvSpPr>
          <p:cNvPr id="9" name="TextBox 8"/>
          <p:cNvSpPr txBox="1"/>
          <p:nvPr/>
        </p:nvSpPr>
        <p:spPr>
          <a:xfrm>
            <a:off x="594360" y="3355848"/>
            <a:ext cx="5285232" cy="1344168"/>
          </a:xfrm>
          <a:prstGeom prst="rect">
            <a:avLst/>
          </a:prstGeom>
          <a:noFill/>
        </p:spPr>
        <p:txBody>
          <a:bodyPr wrap="square" lIns="0" tIns="0" rIns="0" bIns="0">
            <a:spAutoFit/>
          </a:bodyPr>
          <a:lstStyle/>
          <a:p>
            <a:pPr>
              <a:lnSpc>
                <a:spcPct val="112000"/>
              </a:lnSpc>
              <a:spcAft>
                <a:spcPts val="0"/>
              </a:spcAft>
            </a:pPr>
            <a:r>
              <a:rPr sz="1800" b="1">
                <a:solidFill>
                  <a:srgbClr val="6B3FA0"/>
                </a:solidFill>
              </a:rPr>
              <a:t>2. </a:t>
            </a:r>
            <a:r>
              <a:rPr sz="1800">
                <a:solidFill>
                  <a:srgbClr val="172C42"/>
                </a:solidFill>
                <a:latin typeface="Aptos"/>
              </a:rPr>
              <a:t>React calls api('/api/accounts/10000001/deposit', { method: 'POST', body: amount 25 }).</a:t>
            </a:r>
          </a:p>
        </p:txBody>
      </p:sp>
      <p:sp>
        <p:nvSpPr>
          <p:cNvPr id="10" name="TextBox 9"/>
          <p:cNvSpPr txBox="1"/>
          <p:nvPr/>
        </p:nvSpPr>
        <p:spPr>
          <a:xfrm>
            <a:off x="594360" y="4864608"/>
            <a:ext cx="5285232" cy="1344168"/>
          </a:xfrm>
          <a:prstGeom prst="rect">
            <a:avLst/>
          </a:prstGeom>
          <a:noFill/>
        </p:spPr>
        <p:txBody>
          <a:bodyPr wrap="square" lIns="0" tIns="0" rIns="0" bIns="0">
            <a:spAutoFit/>
          </a:bodyPr>
          <a:lstStyle/>
          <a:p>
            <a:pPr>
              <a:lnSpc>
                <a:spcPct val="112000"/>
              </a:lnSpc>
              <a:spcAft>
                <a:spcPts val="0"/>
              </a:spcAft>
            </a:pPr>
            <a:r>
              <a:rPr sz="1800" b="1">
                <a:solidFill>
                  <a:srgbClr val="6B3FA0"/>
                </a:solidFill>
              </a:rPr>
              <a:t>3. </a:t>
            </a:r>
            <a:r>
              <a:rPr sz="1800">
                <a:solidFill>
                  <a:srgbClr val="172C42"/>
                </a:solidFill>
                <a:latin typeface="Aptos"/>
              </a:rPr>
              <a:t>Node.js receives that POST in server/index.js. It checks the login slip and that this is your account.</a:t>
            </a:r>
          </a:p>
        </p:txBody>
      </p:sp>
      <p:sp>
        <p:nvSpPr>
          <p:cNvPr id="11" name="TextBox 10"/>
          <p:cNvSpPr txBox="1"/>
          <p:nvPr/>
        </p:nvSpPr>
        <p:spPr>
          <a:xfrm>
            <a:off x="6309360" y="1847088"/>
            <a:ext cx="5285232" cy="1344168"/>
          </a:xfrm>
          <a:prstGeom prst="rect">
            <a:avLst/>
          </a:prstGeom>
          <a:noFill/>
        </p:spPr>
        <p:txBody>
          <a:bodyPr wrap="square" lIns="0" tIns="0" rIns="0" bIns="0">
            <a:spAutoFit/>
          </a:bodyPr>
          <a:lstStyle/>
          <a:p>
            <a:pPr>
              <a:lnSpc>
                <a:spcPct val="112000"/>
              </a:lnSpc>
              <a:spcAft>
                <a:spcPts val="0"/>
              </a:spcAft>
            </a:pPr>
            <a:r>
              <a:rPr sz="1800" b="1">
                <a:solidFill>
                  <a:srgbClr val="6B3FA0"/>
                </a:solidFill>
              </a:rPr>
              <a:t>4. </a:t>
            </a:r>
            <a:r>
              <a:rPr sz="1800">
                <a:solidFill>
                  <a:srgbClr val="172C42"/>
                </a:solidFill>
                <a:latin typeface="Aptos"/>
              </a:rPr>
              <a:t>deposit in server/banking.js reads the account card, adds 2500 cents, and writes a transaction card.</a:t>
            </a:r>
          </a:p>
        </p:txBody>
      </p:sp>
      <p:sp>
        <p:nvSpPr>
          <p:cNvPr id="12" name="TextBox 11"/>
          <p:cNvSpPr txBox="1"/>
          <p:nvPr/>
        </p:nvSpPr>
        <p:spPr>
          <a:xfrm>
            <a:off x="6309360" y="3355848"/>
            <a:ext cx="5285232" cy="1344168"/>
          </a:xfrm>
          <a:prstGeom prst="rect">
            <a:avLst/>
          </a:prstGeom>
          <a:noFill/>
        </p:spPr>
        <p:txBody>
          <a:bodyPr wrap="square" lIns="0" tIns="0" rIns="0" bIns="0">
            <a:spAutoFit/>
          </a:bodyPr>
          <a:lstStyle/>
          <a:p>
            <a:pPr>
              <a:lnSpc>
                <a:spcPct val="112000"/>
              </a:lnSpc>
              <a:spcAft>
                <a:spcPts val="0"/>
              </a:spcAft>
            </a:pPr>
            <a:r>
              <a:rPr sz="1800" b="1">
                <a:solidFill>
                  <a:srgbClr val="6B3FA0"/>
                </a:solidFill>
              </a:rPr>
              <a:t>5. </a:t>
            </a:r>
            <a:r>
              <a:rPr sz="1800">
                <a:solidFill>
                  <a:srgbClr val="172C42"/>
                </a:solidFill>
                <a:latin typeface="Aptos"/>
              </a:rPr>
              <a:t>Node.js replies { account: { balance: 2525 } }.</a:t>
            </a:r>
          </a:p>
        </p:txBody>
      </p:sp>
      <p:sp>
        <p:nvSpPr>
          <p:cNvPr id="13" name="TextBox 12"/>
          <p:cNvSpPr txBox="1"/>
          <p:nvPr/>
        </p:nvSpPr>
        <p:spPr>
          <a:xfrm>
            <a:off x="6309360" y="4864608"/>
            <a:ext cx="5285232" cy="1344168"/>
          </a:xfrm>
          <a:prstGeom prst="rect">
            <a:avLst/>
          </a:prstGeom>
          <a:noFill/>
        </p:spPr>
        <p:txBody>
          <a:bodyPr wrap="square" lIns="0" tIns="0" rIns="0" bIns="0">
            <a:spAutoFit/>
          </a:bodyPr>
          <a:lstStyle/>
          <a:p>
            <a:pPr>
              <a:lnSpc>
                <a:spcPct val="112000"/>
              </a:lnSpc>
              <a:spcAft>
                <a:spcPts val="0"/>
              </a:spcAft>
            </a:pPr>
            <a:r>
              <a:rPr sz="1800" b="1">
                <a:solidFill>
                  <a:srgbClr val="6B3FA0"/>
                </a:solidFill>
              </a:rPr>
              <a:t>6. </a:t>
            </a:r>
            <a:r>
              <a:rPr sz="1800">
                <a:solidFill>
                  <a:srgbClr val="172C42"/>
                </a:solidFill>
                <a:latin typeface="Aptos"/>
              </a:rPr>
              <a:t>React replaces the number on the screen with $2,525.00.</a:t>
            </a:r>
          </a:p>
        </p:txBody>
      </p:sp>
    </p:spTree>
    <p:extLst>
      <p:ext uri="{BB962C8B-B14F-4D97-AF65-F5344CB8AC3E}">
        <p14:creationId xmlns:p14="http://schemas.microsoft.com/office/powerpoint/2010/main" val="32360745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2">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4">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17"/>
          <p:cNvSpPr txBox="1"/>
          <p:nvPr/>
        </p:nvSpPr>
        <p:spPr>
          <a:xfrm>
            <a:off x="713232" y="365760"/>
            <a:ext cx="10972800" cy="594360"/>
          </a:xfrm>
          <a:prstGeom prst="rect">
            <a:avLst/>
          </a:prstGeom>
          <a:noFill/>
        </p:spPr>
        <p:txBody>
          <a:bodyPr wrap="square" lIns="0" tIns="0" rIns="0" bIns="0" anchor="t">
            <a:spAutoFit/>
          </a:bodyPr>
          <a:lstStyle/>
          <a:p>
            <a:pPr>
              <a:lnSpc>
                <a:spcPts val="3500"/>
              </a:lnSpc>
              <a:spcBef>
                <a:spcPts val="0"/>
              </a:spcBef>
              <a:spcAft>
                <a:spcPts val="0"/>
              </a:spcAft>
            </a:pPr>
            <a:r>
              <a:rPr sz="3200" b="1">
                <a:solidFill>
                  <a:srgbClr val="FFFFFF"/>
                </a:solidFill>
              </a:rPr>
              <a:t>React login component</a:t>
            </a:r>
          </a:p>
        </p:txBody>
      </p:sp>
      <p:sp>
        <p:nvSpPr>
          <p:cNvPr id="6" name="TextBox 18"/>
          <p:cNvSpPr txBox="1"/>
          <p:nvPr/>
        </p:nvSpPr>
        <p:spPr>
          <a:xfrm>
            <a:off x="594360" y="1143000"/>
            <a:ext cx="109728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React snippet</a:t>
            </a:r>
          </a:p>
        </p:txBody>
      </p:sp>
      <p:sp>
        <p:nvSpPr>
          <p:cNvPr id="7" name="TextBox 19"/>
          <p:cNvSpPr txBox="1"/>
          <p:nvPr/>
        </p:nvSpPr>
        <p:spPr>
          <a:xfrm>
            <a:off x="731520" y="1938528"/>
            <a:ext cx="10607040" cy="4480560"/>
          </a:xfrm>
          <a:prstGeom prst="rect">
            <a:avLst/>
          </a:prstGeom>
          <a:noFill/>
        </p:spPr>
        <p:txBody>
          <a:bodyPr wrap="square" lIns="0" tIns="0" rIns="0" bIns="0">
            <a:noAutofit/>
          </a:bodyPr>
          <a:lstStyle/>
          <a:p>
            <a:pPr>
              <a:lnSpc>
                <a:spcPts val="3360"/>
              </a:lnSpc>
              <a:spcBef>
                <a:spcPts val="0"/>
              </a:spcBef>
              <a:spcAft>
                <a:spcPts val="0"/>
              </a:spcAft>
            </a:pPr>
            <a:r>
              <a:rPr sz="2800" b="1">
                <a:solidFill>
                  <a:srgbClr val="6B3FA0"/>
                </a:solidFill>
                <a:latin typeface="Consolas"/>
              </a:rPr>
              <a:t>function</a:t>
            </a:r>
            <a:r>
              <a:rPr sz="2800">
                <a:solidFill>
                  <a:srgbClr val="172C42"/>
                </a:solidFill>
                <a:latin typeface="Consolas"/>
              </a:rPr>
              <a:t> Login() {</a:t>
            </a:r>
          </a:p>
          <a:p>
            <a:pPr>
              <a:lnSpc>
                <a:spcPts val="3360"/>
              </a:lnSpc>
              <a:spcBef>
                <a:spcPts val="0"/>
              </a:spcBef>
              <a:spcAft>
                <a:spcPts val="0"/>
              </a:spcAft>
            </a:pPr>
            <a:r>
              <a:rPr sz="2800">
                <a:solidFill>
                  <a:srgbClr val="172C42"/>
                </a:solidFill>
                <a:latin typeface="Consolas"/>
              </a:rPr>
              <a:t>  </a:t>
            </a:r>
            <a:r>
              <a:rPr sz="2800" b="1">
                <a:solidFill>
                  <a:srgbClr val="6B3FA0"/>
                </a:solidFill>
                <a:latin typeface="Consolas"/>
              </a:rPr>
              <a:t>return</a:t>
            </a:r>
            <a:r>
              <a:rPr sz="2800">
                <a:solidFill>
                  <a:srgbClr val="172C42"/>
                </a:solidFill>
                <a:latin typeface="Consolas"/>
              </a:rPr>
              <a:t> (</a:t>
            </a:r>
          </a:p>
          <a:p>
            <a:pPr>
              <a:lnSpc>
                <a:spcPts val="3360"/>
              </a:lnSpc>
              <a:spcBef>
                <a:spcPts val="0"/>
              </a:spcBef>
              <a:spcAft>
                <a:spcPts val="0"/>
              </a:spcAft>
            </a:pPr>
            <a:r>
              <a:rPr sz="2800">
                <a:solidFill>
                  <a:srgbClr val="172C42"/>
                </a:solidFill>
                <a:latin typeface="Consolas"/>
              </a:rPr>
              <a:t>    &lt;form&gt;</a:t>
            </a:r>
          </a:p>
          <a:p>
            <a:pPr>
              <a:lnSpc>
                <a:spcPts val="3360"/>
              </a:lnSpc>
              <a:spcBef>
                <a:spcPts val="0"/>
              </a:spcBef>
              <a:spcAft>
                <a:spcPts val="0"/>
              </a:spcAft>
            </a:pPr>
            <a:r>
              <a:rPr sz="2800">
                <a:solidFill>
                  <a:srgbClr val="172C42"/>
                </a:solidFill>
                <a:latin typeface="Consolas"/>
              </a:rPr>
              <a:t>      &lt;h2&gt;Log in&lt;/h2&gt;</a:t>
            </a:r>
          </a:p>
          <a:p>
            <a:pPr>
              <a:lnSpc>
                <a:spcPts val="3360"/>
              </a:lnSpc>
              <a:spcBef>
                <a:spcPts val="0"/>
              </a:spcBef>
              <a:spcAft>
                <a:spcPts val="0"/>
              </a:spcAft>
            </a:pPr>
            <a:r>
              <a:rPr sz="2800">
                <a:solidFill>
                  <a:srgbClr val="172C42"/>
                </a:solidFill>
                <a:latin typeface="Consolas"/>
              </a:rPr>
              <a:t>      &lt;button&gt;Sign in&lt;/button&gt;</a:t>
            </a:r>
          </a:p>
          <a:p>
            <a:pPr>
              <a:lnSpc>
                <a:spcPts val="3360"/>
              </a:lnSpc>
              <a:spcBef>
                <a:spcPts val="0"/>
              </a:spcBef>
              <a:spcAft>
                <a:spcPts val="0"/>
              </a:spcAft>
            </a:pPr>
            <a:r>
              <a:rPr sz="2800">
                <a:solidFill>
                  <a:srgbClr val="172C42"/>
                </a:solidFill>
                <a:latin typeface="Consolas"/>
              </a:rPr>
              <a:t>    &lt;/form&gt;</a:t>
            </a:r>
          </a:p>
          <a:p>
            <a:pPr>
              <a:lnSpc>
                <a:spcPts val="3360"/>
              </a:lnSpc>
              <a:spcBef>
                <a:spcPts val="0"/>
              </a:spcBef>
              <a:spcAft>
                <a:spcPts val="0"/>
              </a:spcAft>
            </a:pPr>
            <a:r>
              <a:rPr sz="2800">
                <a:solidFill>
                  <a:srgbClr val="172C42"/>
                </a:solidFill>
                <a:latin typeface="Consolas"/>
              </a:rPr>
              <a:t>  );</a:t>
            </a:r>
          </a:p>
          <a:p>
            <a:pPr>
              <a:lnSpc>
                <a:spcPts val="3360"/>
              </a:lnSpc>
              <a:spcBef>
                <a:spcPts val="0"/>
              </a:spcBef>
              <a:spcAft>
                <a:spcPts val="0"/>
              </a:spcAft>
            </a:pPr>
            <a:r>
              <a:rPr sz="2800">
                <a:solidFill>
                  <a:srgbClr val="172C42"/>
                </a:solidFill>
                <a:latin typeface="Consolas"/>
              </a:rPr>
              <a:t>}</a:t>
            </a:r>
          </a:p>
        </p:txBody>
      </p:sp>
    </p:spTree>
    <p:extLst>
      <p:ext uri="{BB962C8B-B14F-4D97-AF65-F5344CB8AC3E}">
        <p14:creationId xmlns:p14="http://schemas.microsoft.com/office/powerpoint/2010/main" val="9726149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1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2">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4">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17"/>
          <p:cNvSpPr txBox="1"/>
          <p:nvPr/>
        </p:nvSpPr>
        <p:spPr>
          <a:xfrm>
            <a:off x="713232" y="365760"/>
            <a:ext cx="10972800" cy="594360"/>
          </a:xfrm>
          <a:prstGeom prst="rect">
            <a:avLst/>
          </a:prstGeom>
          <a:noFill/>
        </p:spPr>
        <p:txBody>
          <a:bodyPr wrap="square" lIns="0" tIns="0" rIns="0" bIns="0" anchor="t">
            <a:spAutoFit/>
          </a:bodyPr>
          <a:lstStyle/>
          <a:p>
            <a:pPr>
              <a:lnSpc>
                <a:spcPts val="3500"/>
              </a:lnSpc>
              <a:spcBef>
                <a:spcPts val="0"/>
              </a:spcBef>
              <a:spcAft>
                <a:spcPts val="0"/>
              </a:spcAft>
            </a:pPr>
            <a:r>
              <a:rPr sz="3200" b="1">
                <a:solidFill>
                  <a:srgbClr val="FFFFFF"/>
                </a:solidFill>
              </a:rPr>
              <a:t>Saving text in React</a:t>
            </a:r>
          </a:p>
        </p:txBody>
      </p:sp>
      <p:sp>
        <p:nvSpPr>
          <p:cNvPr id="6" name="TextBox 18"/>
          <p:cNvSpPr txBox="1"/>
          <p:nvPr/>
        </p:nvSpPr>
        <p:spPr>
          <a:xfrm>
            <a:off x="594360" y="1143000"/>
            <a:ext cx="109728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Input and state</a:t>
            </a:r>
          </a:p>
        </p:txBody>
      </p:sp>
      <p:sp>
        <p:nvSpPr>
          <p:cNvPr id="7" name="TextBox 19"/>
          <p:cNvSpPr txBox="1"/>
          <p:nvPr/>
        </p:nvSpPr>
        <p:spPr>
          <a:xfrm>
            <a:off x="731520" y="1938528"/>
            <a:ext cx="10607040" cy="2103120"/>
          </a:xfrm>
          <a:prstGeom prst="rect">
            <a:avLst/>
          </a:prstGeom>
          <a:noFill/>
        </p:spPr>
        <p:txBody>
          <a:bodyPr wrap="square" lIns="0" tIns="0" rIns="0" bIns="0">
            <a:noAutofit/>
          </a:bodyPr>
          <a:lstStyle/>
          <a:p>
            <a:pPr>
              <a:lnSpc>
                <a:spcPts val="2760"/>
              </a:lnSpc>
              <a:spcBef>
                <a:spcPts val="0"/>
              </a:spcBef>
              <a:spcAft>
                <a:spcPts val="0"/>
              </a:spcAft>
            </a:pPr>
            <a:r>
              <a:rPr sz="2300">
                <a:solidFill>
                  <a:srgbClr val="172C42"/>
                </a:solidFill>
                <a:latin typeface="Consolas"/>
              </a:rPr>
              <a:t>&lt;input</a:t>
            </a:r>
          </a:p>
          <a:p>
            <a:pPr>
              <a:lnSpc>
                <a:spcPts val="2760"/>
              </a:lnSpc>
              <a:spcBef>
                <a:spcPts val="0"/>
              </a:spcBef>
              <a:spcAft>
                <a:spcPts val="0"/>
              </a:spcAft>
            </a:pPr>
            <a:r>
              <a:rPr sz="2300">
                <a:solidFill>
                  <a:srgbClr val="172C42"/>
                </a:solidFill>
                <a:latin typeface="Consolas"/>
              </a:rPr>
              <a:t>  value={email}</a:t>
            </a:r>
          </a:p>
          <a:p>
            <a:pPr>
              <a:lnSpc>
                <a:spcPts val="2760"/>
              </a:lnSpc>
              <a:spcBef>
                <a:spcPts val="0"/>
              </a:spcBef>
              <a:spcAft>
                <a:spcPts val="0"/>
              </a:spcAft>
            </a:pPr>
            <a:r>
              <a:rPr sz="2300">
                <a:solidFill>
                  <a:srgbClr val="172C42"/>
                </a:solidFill>
                <a:latin typeface="Consolas"/>
              </a:rPr>
              <a:t>  onChange={(event) =&gt; setEmail(event.target.value)}</a:t>
            </a:r>
          </a:p>
          <a:p>
            <a:pPr>
              <a:lnSpc>
                <a:spcPts val="2760"/>
              </a:lnSpc>
              <a:spcBef>
                <a:spcPts val="0"/>
              </a:spcBef>
              <a:spcAft>
                <a:spcPts val="0"/>
              </a:spcAft>
            </a:pPr>
            <a:r>
              <a:rPr sz="2300">
                <a:solidFill>
                  <a:srgbClr val="172C42"/>
                </a:solidFill>
                <a:latin typeface="Consolas"/>
              </a:rPr>
              <a:t>/&gt;</a:t>
            </a:r>
          </a:p>
        </p:txBody>
      </p:sp>
      <p:sp>
        <p:nvSpPr>
          <p:cNvPr id="8" name="TextBox 20"/>
          <p:cNvSpPr txBox="1"/>
          <p:nvPr/>
        </p:nvSpPr>
        <p:spPr>
          <a:xfrm>
            <a:off x="731520" y="4617720"/>
            <a:ext cx="10607040" cy="1234440"/>
          </a:xfrm>
          <a:prstGeom prst="rect">
            <a:avLst/>
          </a:prstGeom>
          <a:noFill/>
        </p:spPr>
        <p:txBody>
          <a:bodyPr wrap="square" lIns="0" tIns="0" rIns="0" bIns="0">
            <a:noAutofit/>
          </a:bodyPr>
          <a:lstStyle/>
          <a:p>
            <a:pPr>
              <a:lnSpc>
                <a:spcPts val="2760"/>
              </a:lnSpc>
              <a:spcBef>
                <a:spcPts val="0"/>
              </a:spcBef>
              <a:spcAft>
                <a:spcPts val="0"/>
              </a:spcAft>
            </a:pPr>
            <a:r>
              <a:rPr sz="2300" b="1">
                <a:solidFill>
                  <a:srgbClr val="6B3FA0"/>
                </a:solidFill>
                <a:latin typeface="Consolas"/>
              </a:rPr>
              <a:t>const</a:t>
            </a:r>
            <a:r>
              <a:rPr sz="2300">
                <a:solidFill>
                  <a:srgbClr val="172C42"/>
                </a:solidFill>
                <a:latin typeface="Consolas"/>
              </a:rPr>
              <a:t> [email, setEmail] =</a:t>
            </a:r>
          </a:p>
          <a:p>
            <a:pPr>
              <a:lnSpc>
                <a:spcPts val="2760"/>
              </a:lnSpc>
              <a:spcBef>
                <a:spcPts val="0"/>
              </a:spcBef>
              <a:spcAft>
                <a:spcPts val="0"/>
              </a:spcAft>
            </a:pPr>
            <a:r>
              <a:rPr sz="2300">
                <a:solidFill>
                  <a:srgbClr val="172C42"/>
                </a:solidFill>
                <a:latin typeface="Consolas"/>
              </a:rPr>
              <a:t>  useState(</a:t>
            </a:r>
            <a:r>
              <a:rPr sz="2300">
                <a:solidFill>
                  <a:srgbClr val="2B6B4A"/>
                </a:solidFill>
                <a:latin typeface="Consolas"/>
              </a:rPr>
              <a:t>'synthetic.customer@example.com'</a:t>
            </a:r>
            <a:r>
              <a:rPr sz="2300">
                <a:solidFill>
                  <a:srgbClr val="172C42"/>
                </a:solidFill>
                <a:latin typeface="Consolas"/>
              </a:rPr>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1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2">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4">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17"/>
          <p:cNvSpPr txBox="1"/>
          <p:nvPr/>
        </p:nvSpPr>
        <p:spPr>
          <a:xfrm>
            <a:off x="713232" y="365760"/>
            <a:ext cx="10972800" cy="594360"/>
          </a:xfrm>
          <a:prstGeom prst="rect">
            <a:avLst/>
          </a:prstGeom>
          <a:noFill/>
        </p:spPr>
        <p:txBody>
          <a:bodyPr wrap="square" lIns="0" tIns="0" rIns="0" bIns="0" anchor="t">
            <a:spAutoFit/>
          </a:bodyPr>
          <a:lstStyle/>
          <a:p>
            <a:pPr>
              <a:lnSpc>
                <a:spcPts val="3500"/>
              </a:lnSpc>
              <a:spcBef>
                <a:spcPts val="0"/>
              </a:spcBef>
              <a:spcAft>
                <a:spcPts val="0"/>
              </a:spcAft>
            </a:pPr>
            <a:r>
              <a:rPr sz="3200" b="1">
                <a:solidFill>
                  <a:srgbClr val="FFFFFF"/>
                </a:solidFill>
              </a:rPr>
              <a:t>Node.js deposit function</a:t>
            </a:r>
          </a:p>
        </p:txBody>
      </p:sp>
      <p:sp>
        <p:nvSpPr>
          <p:cNvPr id="6" name="TextBox 18"/>
          <p:cNvSpPr txBox="1"/>
          <p:nvPr/>
        </p:nvSpPr>
        <p:spPr>
          <a:xfrm>
            <a:off x="594360" y="1143000"/>
            <a:ext cx="109728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MongoDB read and update</a:t>
            </a:r>
          </a:p>
        </p:txBody>
      </p:sp>
      <p:sp>
        <p:nvSpPr>
          <p:cNvPr id="7" name="TextBox 19"/>
          <p:cNvSpPr txBox="1"/>
          <p:nvPr/>
        </p:nvSpPr>
        <p:spPr>
          <a:xfrm>
            <a:off x="594360" y="1801368"/>
            <a:ext cx="10972800" cy="3886200"/>
          </a:xfrm>
          <a:prstGeom prst="rect">
            <a:avLst/>
          </a:prstGeom>
          <a:noFill/>
        </p:spPr>
        <p:txBody>
          <a:bodyPr wrap="square" lIns="0" tIns="0" rIns="0" bIns="0">
            <a:noAutofit/>
          </a:bodyPr>
          <a:lstStyle/>
          <a:p>
            <a:pPr>
              <a:lnSpc>
                <a:spcPts val="2400"/>
              </a:lnSpc>
              <a:spcBef>
                <a:spcPts val="0"/>
              </a:spcBef>
              <a:spcAft>
                <a:spcPts val="0"/>
              </a:spcAft>
            </a:pPr>
            <a:r>
              <a:rPr sz="2000" b="1">
                <a:solidFill>
                  <a:srgbClr val="6B3FA0"/>
                </a:solidFill>
                <a:latin typeface="Consolas"/>
              </a:rPr>
              <a:t>export</a:t>
            </a:r>
            <a:r>
              <a:rPr sz="2000">
                <a:solidFill>
                  <a:srgbClr val="172C42"/>
                </a:solidFill>
                <a:latin typeface="Consolas"/>
              </a:rPr>
              <a:t> </a:t>
            </a:r>
            <a:r>
              <a:rPr sz="2000" b="1">
                <a:solidFill>
                  <a:srgbClr val="6B3FA0"/>
                </a:solidFill>
                <a:latin typeface="Consolas"/>
              </a:rPr>
              <a:t>async</a:t>
            </a:r>
            <a:r>
              <a:rPr sz="2000">
                <a:solidFill>
                  <a:srgbClr val="172C42"/>
                </a:solidFill>
                <a:latin typeface="Consolas"/>
              </a:rPr>
              <a:t> </a:t>
            </a:r>
            <a:r>
              <a:rPr sz="2000" b="1">
                <a:solidFill>
                  <a:srgbClr val="6B3FA0"/>
                </a:solidFill>
                <a:latin typeface="Consolas"/>
              </a:rPr>
              <a:t>function</a:t>
            </a:r>
            <a:r>
              <a:rPr sz="2000">
                <a:solidFill>
                  <a:srgbClr val="172C42"/>
                </a:solidFill>
                <a:latin typeface="Consolas"/>
              </a:rPr>
              <a:t> deposit(db, accountNumber, amountCents) {</a:t>
            </a:r>
          </a:p>
          <a:p>
            <a:pPr>
              <a:lnSpc>
                <a:spcPts val="2400"/>
              </a:lnSpc>
              <a:spcBef>
                <a:spcPts val="0"/>
              </a:spcBef>
              <a:spcAft>
                <a:spcPts val="0"/>
              </a:spcAft>
            </a:pPr>
            <a:r>
              <a:rPr sz="2000">
                <a:solidFill>
                  <a:srgbClr val="172C42"/>
                </a:solidFill>
                <a:latin typeface="Consolas"/>
              </a:rPr>
              <a:t>  </a:t>
            </a:r>
            <a:r>
              <a:rPr sz="2000" b="1">
                <a:solidFill>
                  <a:srgbClr val="6B3FA0"/>
                </a:solidFill>
                <a:latin typeface="Consolas"/>
              </a:rPr>
              <a:t>const</a:t>
            </a:r>
            <a:r>
              <a:rPr sz="2000">
                <a:solidFill>
                  <a:srgbClr val="172C42"/>
                </a:solidFill>
                <a:latin typeface="Consolas"/>
              </a:rPr>
              <a:t> account = </a:t>
            </a:r>
            <a:r>
              <a:rPr sz="2000" b="1">
                <a:solidFill>
                  <a:srgbClr val="6B3FA0"/>
                </a:solidFill>
                <a:latin typeface="Consolas"/>
              </a:rPr>
              <a:t>await</a:t>
            </a:r>
            <a:r>
              <a:rPr sz="2000">
                <a:solidFill>
                  <a:srgbClr val="172C42"/>
                </a:solidFill>
                <a:latin typeface="Consolas"/>
              </a:rPr>
              <a:t> db.collection(</a:t>
            </a:r>
            <a:r>
              <a:rPr sz="2000">
                <a:solidFill>
                  <a:srgbClr val="2B6B4A"/>
                </a:solidFill>
                <a:latin typeface="Consolas"/>
              </a:rPr>
              <a:t>'accounts'</a:t>
            </a:r>
            <a:r>
              <a:rPr sz="2000">
                <a:solidFill>
                  <a:srgbClr val="172C42"/>
                </a:solidFill>
                <a:latin typeface="Consolas"/>
              </a:rPr>
              <a:t>)</a:t>
            </a:r>
          </a:p>
          <a:p>
            <a:pPr>
              <a:lnSpc>
                <a:spcPts val="2400"/>
              </a:lnSpc>
              <a:spcBef>
                <a:spcPts val="0"/>
              </a:spcBef>
              <a:spcAft>
                <a:spcPts val="0"/>
              </a:spcAft>
            </a:pPr>
            <a:r>
              <a:rPr sz="2000">
                <a:solidFill>
                  <a:srgbClr val="172C42"/>
                </a:solidFill>
                <a:latin typeface="Consolas"/>
              </a:rPr>
              <a:t>    .findOne({ accountNumber });</a:t>
            </a:r>
          </a:p>
          <a:p>
            <a:pPr>
              <a:lnSpc>
                <a:spcPts val="2400"/>
              </a:lnSpc>
              <a:spcBef>
                <a:spcPts val="0"/>
              </a:spcBef>
              <a:spcAft>
                <a:spcPts val="0"/>
              </a:spcAft>
            </a:pPr>
            <a:r>
              <a:rPr sz="2000">
                <a:solidFill>
                  <a:srgbClr val="172C42"/>
                </a:solidFill>
                <a:latin typeface="Consolas"/>
              </a:rPr>
              <a:t>  </a:t>
            </a:r>
            <a:r>
              <a:rPr sz="2000" b="1">
                <a:solidFill>
                  <a:srgbClr val="6B3FA0"/>
                </a:solidFill>
                <a:latin typeface="Consolas"/>
              </a:rPr>
              <a:t>if</a:t>
            </a:r>
            <a:r>
              <a:rPr sz="2000">
                <a:solidFill>
                  <a:srgbClr val="172C42"/>
                </a:solidFill>
                <a:latin typeface="Consolas"/>
              </a:rPr>
              <a:t> (account.status !== </a:t>
            </a:r>
            <a:r>
              <a:rPr sz="2000">
                <a:solidFill>
                  <a:srgbClr val="2B6B4A"/>
                </a:solidFill>
                <a:latin typeface="Consolas"/>
              </a:rPr>
              <a:t>'open'</a:t>
            </a:r>
            <a:r>
              <a:rPr sz="2000">
                <a:solidFill>
                  <a:srgbClr val="172C42"/>
                </a:solidFill>
                <a:latin typeface="Consolas"/>
              </a:rPr>
              <a:t>) {</a:t>
            </a:r>
          </a:p>
          <a:p>
            <a:pPr>
              <a:lnSpc>
                <a:spcPts val="2400"/>
              </a:lnSpc>
              <a:spcBef>
                <a:spcPts val="0"/>
              </a:spcBef>
              <a:spcAft>
                <a:spcPts val="0"/>
              </a:spcAft>
            </a:pPr>
            <a:r>
              <a:rPr sz="2000">
                <a:solidFill>
                  <a:srgbClr val="172C42"/>
                </a:solidFill>
                <a:latin typeface="Consolas"/>
              </a:rPr>
              <a:t>    </a:t>
            </a:r>
            <a:r>
              <a:rPr sz="2000" b="1">
                <a:solidFill>
                  <a:srgbClr val="6B3FA0"/>
                </a:solidFill>
                <a:latin typeface="Consolas"/>
              </a:rPr>
              <a:t>throw</a:t>
            </a:r>
            <a:r>
              <a:rPr sz="2000">
                <a:solidFill>
                  <a:srgbClr val="172C42"/>
                </a:solidFill>
                <a:latin typeface="Consolas"/>
              </a:rPr>
              <a:t> </a:t>
            </a:r>
            <a:r>
              <a:rPr sz="2000" b="1">
                <a:solidFill>
                  <a:srgbClr val="6B3FA0"/>
                </a:solidFill>
                <a:latin typeface="Consolas"/>
              </a:rPr>
              <a:t>new</a:t>
            </a:r>
            <a:r>
              <a:rPr sz="2000">
                <a:solidFill>
                  <a:srgbClr val="172C42"/>
                </a:solidFill>
                <a:latin typeface="Consolas"/>
              </a:rPr>
              <a:t> Error(</a:t>
            </a:r>
            <a:r>
              <a:rPr sz="2000">
                <a:solidFill>
                  <a:srgbClr val="2B6B4A"/>
                </a:solidFill>
                <a:latin typeface="Consolas"/>
              </a:rPr>
              <a:t>'This account is closed.'</a:t>
            </a:r>
            <a:r>
              <a:rPr sz="2000">
                <a:solidFill>
                  <a:srgbClr val="172C42"/>
                </a:solidFill>
                <a:latin typeface="Consolas"/>
              </a:rPr>
              <a:t>);</a:t>
            </a:r>
          </a:p>
          <a:p>
            <a:pPr>
              <a:lnSpc>
                <a:spcPts val="2400"/>
              </a:lnSpc>
              <a:spcBef>
                <a:spcPts val="0"/>
              </a:spcBef>
              <a:spcAft>
                <a:spcPts val="0"/>
              </a:spcAft>
            </a:pPr>
            <a:r>
              <a:rPr sz="2000">
                <a:solidFill>
                  <a:srgbClr val="172C42"/>
                </a:solidFill>
                <a:latin typeface="Consolas"/>
              </a:rPr>
              <a:t>  }</a:t>
            </a:r>
          </a:p>
          <a:p>
            <a:pPr>
              <a:lnSpc>
                <a:spcPts val="2400"/>
              </a:lnSpc>
              <a:spcBef>
                <a:spcPts val="0"/>
              </a:spcBef>
              <a:spcAft>
                <a:spcPts val="0"/>
              </a:spcAft>
            </a:pPr>
            <a:r>
              <a:rPr sz="2000">
                <a:solidFill>
                  <a:srgbClr val="172C42"/>
                </a:solidFill>
                <a:latin typeface="Consolas"/>
              </a:rPr>
              <a:t>  </a:t>
            </a:r>
            <a:r>
              <a:rPr sz="2000" b="1">
                <a:solidFill>
                  <a:srgbClr val="6B3FA0"/>
                </a:solidFill>
                <a:latin typeface="Consolas"/>
              </a:rPr>
              <a:t>const</a:t>
            </a:r>
            <a:r>
              <a:rPr sz="2000">
                <a:solidFill>
                  <a:srgbClr val="172C42"/>
                </a:solidFill>
                <a:latin typeface="Consolas"/>
              </a:rPr>
              <a:t> nextBalance = account.balanceCents + amountCents;</a:t>
            </a:r>
          </a:p>
          <a:p>
            <a:pPr>
              <a:lnSpc>
                <a:spcPts val="2400"/>
              </a:lnSpc>
              <a:spcBef>
                <a:spcPts val="0"/>
              </a:spcBef>
              <a:spcAft>
                <a:spcPts val="0"/>
              </a:spcAft>
            </a:pPr>
            <a:r>
              <a:rPr sz="2000">
                <a:solidFill>
                  <a:srgbClr val="172C42"/>
                </a:solidFill>
                <a:latin typeface="Consolas"/>
              </a:rPr>
              <a:t>  </a:t>
            </a:r>
            <a:r>
              <a:rPr sz="2000" b="1">
                <a:solidFill>
                  <a:srgbClr val="6B3FA0"/>
                </a:solidFill>
                <a:latin typeface="Consolas"/>
              </a:rPr>
              <a:t>await</a:t>
            </a:r>
            <a:r>
              <a:rPr sz="2000">
                <a:solidFill>
                  <a:srgbClr val="172C42"/>
                </a:solidFill>
                <a:latin typeface="Consolas"/>
              </a:rPr>
              <a:t> db.collection(</a:t>
            </a:r>
            <a:r>
              <a:rPr sz="2000">
                <a:solidFill>
                  <a:srgbClr val="2B6B4A"/>
                </a:solidFill>
                <a:latin typeface="Consolas"/>
              </a:rPr>
              <a:t>'accounts'</a:t>
            </a:r>
            <a:r>
              <a:rPr sz="2000">
                <a:solidFill>
                  <a:srgbClr val="172C42"/>
                </a:solidFill>
                <a:latin typeface="Consolas"/>
              </a:rPr>
              <a:t>).updateOne(</a:t>
            </a:r>
          </a:p>
          <a:p>
            <a:pPr>
              <a:lnSpc>
                <a:spcPts val="2400"/>
              </a:lnSpc>
              <a:spcBef>
                <a:spcPts val="0"/>
              </a:spcBef>
              <a:spcAft>
                <a:spcPts val="0"/>
              </a:spcAft>
            </a:pPr>
            <a:r>
              <a:rPr sz="2000">
                <a:solidFill>
                  <a:srgbClr val="172C42"/>
                </a:solidFill>
                <a:latin typeface="Consolas"/>
              </a:rPr>
              <a:t>    { _id: account._id },</a:t>
            </a:r>
          </a:p>
          <a:p>
            <a:pPr>
              <a:lnSpc>
                <a:spcPts val="2400"/>
              </a:lnSpc>
              <a:spcBef>
                <a:spcPts val="0"/>
              </a:spcBef>
              <a:spcAft>
                <a:spcPts val="0"/>
              </a:spcAft>
            </a:pPr>
            <a:r>
              <a:rPr sz="2000">
                <a:solidFill>
                  <a:srgbClr val="172C42"/>
                </a:solidFill>
                <a:latin typeface="Consolas"/>
              </a:rPr>
              <a:t>    { $set: { balanceCents: nextBalance } }</a:t>
            </a:r>
          </a:p>
          <a:p>
            <a:pPr>
              <a:lnSpc>
                <a:spcPts val="2400"/>
              </a:lnSpc>
              <a:spcBef>
                <a:spcPts val="0"/>
              </a:spcBef>
              <a:spcAft>
                <a:spcPts val="0"/>
              </a:spcAft>
            </a:pPr>
            <a:r>
              <a:rPr sz="2000">
                <a:solidFill>
                  <a:srgbClr val="172C42"/>
                </a:solidFill>
                <a:latin typeface="Consolas"/>
              </a:rPr>
              <a:t>  );</a:t>
            </a:r>
          </a:p>
          <a:p>
            <a:pPr>
              <a:lnSpc>
                <a:spcPts val="2400"/>
              </a:lnSpc>
              <a:spcBef>
                <a:spcPts val="0"/>
              </a:spcBef>
              <a:spcAft>
                <a:spcPts val="0"/>
              </a:spcAft>
            </a:pPr>
            <a:r>
              <a:rPr sz="2000">
                <a:solidFill>
                  <a:srgbClr val="172C42"/>
                </a:solidFill>
                <a:latin typeface="Consolas"/>
              </a:rPr>
              <a:t>  </a:t>
            </a:r>
            <a:r>
              <a:rPr sz="2000" b="1">
                <a:solidFill>
                  <a:srgbClr val="6B3FA0"/>
                </a:solidFill>
                <a:latin typeface="Consolas"/>
              </a:rPr>
              <a:t>return</a:t>
            </a:r>
            <a:r>
              <a:rPr sz="2000">
                <a:solidFill>
                  <a:srgbClr val="172C42"/>
                </a:solidFill>
                <a:latin typeface="Consolas"/>
              </a:rPr>
              <a:t> { ...account, balanceCents: nextBalance };</a:t>
            </a:r>
          </a:p>
          <a:p>
            <a:pPr>
              <a:lnSpc>
                <a:spcPts val="2400"/>
              </a:lnSpc>
              <a:spcBef>
                <a:spcPts val="0"/>
              </a:spcBef>
              <a:spcAft>
                <a:spcPts val="0"/>
              </a:spcAft>
            </a:pPr>
            <a:r>
              <a:rPr sz="2000">
                <a:solidFill>
                  <a:srgbClr val="172C42"/>
                </a:solidFill>
                <a:latin typeface="Consolas"/>
              </a:rPr>
              <a:t>}</a:t>
            </a:r>
          </a:p>
        </p:txBody>
      </p:sp>
      <p:sp>
        <p:nvSpPr>
          <p:cNvPr id="8" name="TextBox 20"/>
          <p:cNvSpPr txBox="1"/>
          <p:nvPr/>
        </p:nvSpPr>
        <p:spPr>
          <a:xfrm>
            <a:off x="731520" y="5833872"/>
            <a:ext cx="2468880" cy="411480"/>
          </a:xfrm>
          <a:prstGeom prst="rect">
            <a:avLst/>
          </a:prstGeom>
          <a:noFill/>
        </p:spPr>
        <p:txBody>
          <a:bodyPr wrap="square" lIns="0" tIns="0" rIns="0" bIns="0">
            <a:noAutofit/>
          </a:bodyPr>
          <a:lstStyle/>
          <a:p>
            <a:pPr>
              <a:lnSpc>
                <a:spcPts val="2400"/>
              </a:lnSpc>
              <a:spcBef>
                <a:spcPts val="0"/>
              </a:spcBef>
              <a:spcAft>
                <a:spcPts val="0"/>
              </a:spcAft>
            </a:pPr>
            <a:r>
              <a:rPr sz="2000">
                <a:solidFill>
                  <a:srgbClr val="172C42"/>
                </a:solidFill>
                <a:latin typeface="Aptos"/>
              </a:rPr>
              <a:t>async and await</a:t>
            </a:r>
          </a:p>
        </p:txBody>
      </p:sp>
      <p:sp>
        <p:nvSpPr>
          <p:cNvPr id="9" name="TextBox 21"/>
          <p:cNvSpPr txBox="1"/>
          <p:nvPr/>
        </p:nvSpPr>
        <p:spPr>
          <a:xfrm>
            <a:off x="3063240" y="5797296"/>
            <a:ext cx="8366760" cy="777240"/>
          </a:xfrm>
          <a:prstGeom prst="rect">
            <a:avLst/>
          </a:prstGeom>
          <a:noFill/>
        </p:spPr>
        <p:txBody>
          <a:bodyPr wrap="square" lIns="0" tIns="0" rIns="0" bIns="0">
            <a:noAutofit/>
          </a:bodyPr>
          <a:lstStyle/>
          <a:p>
            <a:pPr>
              <a:lnSpc>
                <a:spcPts val="2160"/>
              </a:lnSpc>
              <a:spcBef>
                <a:spcPts val="0"/>
              </a:spcBef>
              <a:spcAft>
                <a:spcPts val="0"/>
              </a:spcAft>
            </a:pPr>
            <a:r>
              <a:rPr sz="1800">
                <a:solidFill>
                  <a:srgbClr val="172C42"/>
                </a:solidFill>
                <a:latin typeface="Aptos"/>
              </a:rPr>
              <a:t>Reading MongoDB takes time. await means “pause this function until the cabinet answers,” then continue.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1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2">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4">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17"/>
          <p:cNvSpPr txBox="1"/>
          <p:nvPr/>
        </p:nvSpPr>
        <p:spPr>
          <a:xfrm>
            <a:off x="713232" y="365760"/>
            <a:ext cx="10972800" cy="594360"/>
          </a:xfrm>
          <a:prstGeom prst="rect">
            <a:avLst/>
          </a:prstGeom>
          <a:noFill/>
        </p:spPr>
        <p:txBody>
          <a:bodyPr wrap="square" lIns="0" tIns="0" rIns="0" bIns="0" anchor="t">
            <a:spAutoFit/>
          </a:bodyPr>
          <a:lstStyle/>
          <a:p>
            <a:pPr>
              <a:lnSpc>
                <a:spcPts val="3500"/>
              </a:lnSpc>
              <a:spcBef>
                <a:spcPts val="0"/>
              </a:spcBef>
              <a:spcAft>
                <a:spcPts val="0"/>
              </a:spcAft>
            </a:pPr>
            <a:r>
              <a:rPr sz="3200" b="1">
                <a:solidFill>
                  <a:srgbClr val="FFFFFF"/>
                </a:solidFill>
              </a:rPr>
              <a:t>Node.js deposit route</a:t>
            </a:r>
          </a:p>
        </p:txBody>
      </p:sp>
      <p:sp>
        <p:nvSpPr>
          <p:cNvPr id="6" name="TextBox 18"/>
          <p:cNvSpPr txBox="1"/>
          <p:nvPr/>
        </p:nvSpPr>
        <p:spPr>
          <a:xfrm>
            <a:off x="594360" y="1143000"/>
            <a:ext cx="109728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Route handler excerpt</a:t>
            </a:r>
          </a:p>
        </p:txBody>
      </p:sp>
      <p:sp>
        <p:nvSpPr>
          <p:cNvPr id="7" name="TextBox 19"/>
          <p:cNvSpPr txBox="1"/>
          <p:nvPr/>
        </p:nvSpPr>
        <p:spPr>
          <a:xfrm>
            <a:off x="594360" y="1892807"/>
            <a:ext cx="7498079" cy="4206240"/>
          </a:xfrm>
          <a:prstGeom prst="rect">
            <a:avLst/>
          </a:prstGeom>
          <a:noFill/>
        </p:spPr>
        <p:txBody>
          <a:bodyPr wrap="square" lIns="0" tIns="0" rIns="0" bIns="0">
            <a:noAutofit/>
          </a:bodyPr>
          <a:lstStyle/>
          <a:p>
            <a:pPr>
              <a:lnSpc>
                <a:spcPts val="2160"/>
              </a:lnSpc>
              <a:spcBef>
                <a:spcPts val="0"/>
              </a:spcBef>
              <a:spcAft>
                <a:spcPts val="0"/>
              </a:spcAft>
            </a:pPr>
            <a:r>
              <a:rPr sz="1800">
                <a:solidFill>
                  <a:srgbClr val="172C42"/>
                </a:solidFill>
                <a:latin typeface="Consolas"/>
              </a:rPr>
              <a:t>app.post(</a:t>
            </a:r>
            <a:r>
              <a:rPr sz="1800">
                <a:solidFill>
                  <a:srgbClr val="2B6B4A"/>
                </a:solidFill>
                <a:latin typeface="Consolas"/>
              </a:rPr>
              <a:t>'/api/accounts/:accountNumber/deposit'</a:t>
            </a:r>
            <a:r>
              <a:rPr sz="1800">
                <a:solidFill>
                  <a:srgbClr val="172C42"/>
                </a:solidFill>
                <a:latin typeface="Consolas"/>
              </a:rPr>
              <a:t>,</a:t>
            </a:r>
          </a:p>
          <a:p>
            <a:pPr>
              <a:lnSpc>
                <a:spcPts val="2160"/>
              </a:lnSpc>
              <a:spcBef>
                <a:spcPts val="0"/>
              </a:spcBef>
              <a:spcAft>
                <a:spcPts val="0"/>
              </a:spcAft>
            </a:pPr>
            <a:r>
              <a:rPr sz="1800">
                <a:solidFill>
                  <a:srgbClr val="172C42"/>
                </a:solidFill>
                <a:latin typeface="Consolas"/>
              </a:rPr>
              <a:t>  requireAuth,</a:t>
            </a:r>
          </a:p>
          <a:p>
            <a:pPr>
              <a:lnSpc>
                <a:spcPts val="2160"/>
              </a:lnSpc>
              <a:spcBef>
                <a:spcPts val="0"/>
              </a:spcBef>
              <a:spcAft>
                <a:spcPts val="0"/>
              </a:spcAft>
            </a:pPr>
            <a:r>
              <a:rPr sz="1800">
                <a:solidFill>
                  <a:srgbClr val="172C42"/>
                </a:solidFill>
                <a:latin typeface="Consolas"/>
              </a:rPr>
              <a:t>  requireRole(</a:t>
            </a:r>
            <a:r>
              <a:rPr sz="1800">
                <a:solidFill>
                  <a:srgbClr val="2B6B4A"/>
                </a:solidFill>
                <a:latin typeface="Consolas"/>
              </a:rPr>
              <a:t>'customer'</a:t>
            </a:r>
            <a:r>
              <a:rPr sz="1800">
                <a:solidFill>
                  <a:srgbClr val="172C42"/>
                </a:solidFill>
                <a:latin typeface="Consolas"/>
              </a:rPr>
              <a:t>, </a:t>
            </a:r>
            <a:r>
              <a:rPr sz="1800">
                <a:solidFill>
                  <a:srgbClr val="2B6B4A"/>
                </a:solidFill>
                <a:latin typeface="Consolas"/>
              </a:rPr>
              <a:t>'teller'</a:t>
            </a:r>
            <a:r>
              <a:rPr sz="1800">
                <a:solidFill>
                  <a:srgbClr val="172C42"/>
                </a:solidFill>
                <a:latin typeface="Consolas"/>
              </a:rPr>
              <a:t>),</a:t>
            </a:r>
          </a:p>
          <a:p>
            <a:pPr>
              <a:lnSpc>
                <a:spcPts val="2160"/>
              </a:lnSpc>
              <a:spcBef>
                <a:spcPts val="0"/>
              </a:spcBef>
              <a:spcAft>
                <a:spcPts val="0"/>
              </a:spcAft>
            </a:pPr>
            <a:r>
              <a:rPr sz="1800">
                <a:solidFill>
                  <a:srgbClr val="172C42"/>
                </a:solidFill>
                <a:latin typeface="Consolas"/>
              </a:rPr>
              <a:t>  asyncRoute(</a:t>
            </a:r>
            <a:r>
              <a:rPr sz="1800" b="1">
                <a:solidFill>
                  <a:srgbClr val="6B3FA0"/>
                </a:solidFill>
                <a:latin typeface="Consolas"/>
              </a:rPr>
              <a:t>async</a:t>
            </a:r>
            <a:r>
              <a:rPr sz="1800">
                <a:solidFill>
                  <a:srgbClr val="172C42"/>
                </a:solidFill>
                <a:latin typeface="Consolas"/>
              </a:rPr>
              <a:t> (req, res) =&gt; {</a:t>
            </a:r>
          </a:p>
          <a:p>
            <a:pPr>
              <a:lnSpc>
                <a:spcPts val="2160"/>
              </a:lnSpc>
              <a:spcBef>
                <a:spcPts val="0"/>
              </a:spcBef>
              <a:spcAft>
                <a:spcPts val="0"/>
              </a:spcAft>
            </a:pPr>
            <a:r>
              <a:rPr sz="1800">
                <a:solidFill>
                  <a:srgbClr val="172C42"/>
                </a:solidFill>
                <a:latin typeface="Consolas"/>
              </a:rPr>
              <a:t>    </a:t>
            </a:r>
            <a:r>
              <a:rPr sz="1800" b="1">
                <a:solidFill>
                  <a:srgbClr val="6B3FA0"/>
                </a:solidFill>
                <a:latin typeface="Consolas"/>
              </a:rPr>
              <a:t>const</a:t>
            </a:r>
            <a:r>
              <a:rPr sz="1800">
                <a:solidFill>
                  <a:srgbClr val="172C42"/>
                </a:solidFill>
                <a:latin typeface="Consolas"/>
              </a:rPr>
              <a:t> { db } = </a:t>
            </a:r>
            <a:r>
              <a:rPr sz="1800" b="1">
                <a:solidFill>
                  <a:srgbClr val="6B3FA0"/>
                </a:solidFill>
                <a:latin typeface="Consolas"/>
              </a:rPr>
              <a:t>await</a:t>
            </a:r>
            <a:r>
              <a:rPr sz="1800">
                <a:solidFill>
                  <a:srgbClr val="172C42"/>
                </a:solidFill>
                <a:latin typeface="Consolas"/>
              </a:rPr>
              <a:t> ownAccountOrStaff(</a:t>
            </a:r>
          </a:p>
          <a:p>
            <a:pPr>
              <a:lnSpc>
                <a:spcPts val="2160"/>
              </a:lnSpc>
              <a:spcBef>
                <a:spcPts val="0"/>
              </a:spcBef>
              <a:spcAft>
                <a:spcPts val="0"/>
              </a:spcAft>
            </a:pPr>
            <a:r>
              <a:rPr sz="1800">
                <a:solidFill>
                  <a:srgbClr val="172C42"/>
                </a:solidFill>
                <a:latin typeface="Consolas"/>
              </a:rPr>
              <a:t>      req, req.params.accountNumber);</a:t>
            </a:r>
          </a:p>
          <a:p>
            <a:pPr>
              <a:lnSpc>
                <a:spcPts val="2160"/>
              </a:lnSpc>
              <a:spcBef>
                <a:spcPts val="0"/>
              </a:spcBef>
              <a:spcAft>
                <a:spcPts val="0"/>
              </a:spcAft>
            </a:pPr>
            <a:r>
              <a:rPr sz="1800">
                <a:solidFill>
                  <a:srgbClr val="172C42"/>
                </a:solidFill>
                <a:latin typeface="Consolas"/>
              </a:rPr>
              <a:t>    </a:t>
            </a:r>
            <a:r>
              <a:rPr sz="1800" b="1">
                <a:solidFill>
                  <a:srgbClr val="6B3FA0"/>
                </a:solidFill>
                <a:latin typeface="Consolas"/>
              </a:rPr>
              <a:t>const</a:t>
            </a:r>
            <a:r>
              <a:rPr sz="1800">
                <a:solidFill>
                  <a:srgbClr val="172C42"/>
                </a:solidFill>
                <a:latin typeface="Consolas"/>
              </a:rPr>
              <a:t> updated = </a:t>
            </a:r>
            <a:r>
              <a:rPr sz="1800" b="1">
                <a:solidFill>
                  <a:srgbClr val="6B3FA0"/>
                </a:solidFill>
                <a:latin typeface="Consolas"/>
              </a:rPr>
              <a:t>await</a:t>
            </a:r>
            <a:r>
              <a:rPr sz="1800">
                <a:solidFill>
                  <a:srgbClr val="172C42"/>
                </a:solidFill>
                <a:latin typeface="Consolas"/>
              </a:rPr>
              <a:t> deposit(</a:t>
            </a:r>
          </a:p>
          <a:p>
            <a:pPr>
              <a:lnSpc>
                <a:spcPts val="2160"/>
              </a:lnSpc>
              <a:spcBef>
                <a:spcPts val="0"/>
              </a:spcBef>
              <a:spcAft>
                <a:spcPts val="0"/>
              </a:spcAft>
            </a:pPr>
            <a:r>
              <a:rPr sz="1800">
                <a:solidFill>
                  <a:srgbClr val="172C42"/>
                </a:solidFill>
                <a:latin typeface="Consolas"/>
              </a:rPr>
              <a:t>      db,</a:t>
            </a:r>
          </a:p>
          <a:p>
            <a:pPr>
              <a:lnSpc>
                <a:spcPts val="2160"/>
              </a:lnSpc>
              <a:spcBef>
                <a:spcPts val="0"/>
              </a:spcBef>
              <a:spcAft>
                <a:spcPts val="0"/>
              </a:spcAft>
            </a:pPr>
            <a:r>
              <a:rPr sz="1800">
                <a:solidFill>
                  <a:srgbClr val="172C42"/>
                </a:solidFill>
                <a:latin typeface="Consolas"/>
              </a:rPr>
              <a:t>      req.params.accountNumber,</a:t>
            </a:r>
          </a:p>
          <a:p>
            <a:pPr>
              <a:lnSpc>
                <a:spcPts val="2160"/>
              </a:lnSpc>
              <a:spcBef>
                <a:spcPts val="0"/>
              </a:spcBef>
              <a:spcAft>
                <a:spcPts val="0"/>
              </a:spcAft>
            </a:pPr>
            <a:r>
              <a:rPr sz="1800">
                <a:solidFill>
                  <a:srgbClr val="172C42"/>
                </a:solidFill>
                <a:latin typeface="Consolas"/>
              </a:rPr>
              <a:t>      dollarsToCents(req.body.amount));</a:t>
            </a:r>
          </a:p>
          <a:p>
            <a:pPr>
              <a:lnSpc>
                <a:spcPts val="2160"/>
              </a:lnSpc>
              <a:spcBef>
                <a:spcPts val="0"/>
              </a:spcBef>
              <a:spcAft>
                <a:spcPts val="0"/>
              </a:spcAft>
            </a:pPr>
            <a:r>
              <a:rPr sz="1800">
                <a:solidFill>
                  <a:srgbClr val="172C42"/>
                </a:solidFill>
                <a:latin typeface="Consolas"/>
              </a:rPr>
              <a:t>    res.json({ account: publicAccount(updated) });</a:t>
            </a:r>
          </a:p>
        </p:txBody>
      </p:sp>
      <p:sp>
        <p:nvSpPr>
          <p:cNvPr id="8" name="TextBox 20"/>
          <p:cNvSpPr txBox="1"/>
          <p:nvPr/>
        </p:nvSpPr>
        <p:spPr>
          <a:xfrm>
            <a:off x="8458200" y="2057400"/>
            <a:ext cx="3063240" cy="4069080"/>
          </a:xfrm>
          <a:prstGeom prst="rect">
            <a:avLst/>
          </a:prstGeom>
          <a:noFill/>
        </p:spPr>
        <p:txBody>
          <a:bodyPr wrap="square" lIns="0" tIns="0" rIns="0" bIns="0">
            <a:noAutofit/>
          </a:bodyPr>
          <a:lstStyle/>
          <a:p>
            <a:pPr>
              <a:lnSpc>
                <a:spcPts val="2520"/>
              </a:lnSpc>
              <a:spcBef>
                <a:spcPts val="0"/>
              </a:spcBef>
              <a:spcAft>
                <a:spcPts val="0"/>
              </a:spcAft>
            </a:pPr>
            <a:r>
              <a:rPr sz="2100">
                <a:solidFill>
                  <a:srgbClr val="172C42"/>
                </a:solidFill>
                <a:latin typeface="Aptos"/>
              </a:rPr>
              <a:t>req is the request from React.</a:t>
            </a:r>
          </a:p>
          <a:p>
            <a:pPr>
              <a:lnSpc>
                <a:spcPts val="2520"/>
              </a:lnSpc>
              <a:spcBef>
                <a:spcPts val="0"/>
              </a:spcBef>
              <a:spcAft>
                <a:spcPts val="0"/>
              </a:spcAft>
            </a:pPr>
            <a:endParaRPr sz="2100">
              <a:solidFill>
                <a:srgbClr val="172C42"/>
              </a:solidFill>
              <a:latin typeface="Aptos"/>
            </a:endParaRPr>
          </a:p>
          <a:p>
            <a:pPr>
              <a:lnSpc>
                <a:spcPts val="2520"/>
              </a:lnSpc>
              <a:spcBef>
                <a:spcPts val="0"/>
              </a:spcBef>
              <a:spcAft>
                <a:spcPts val="0"/>
              </a:spcAft>
            </a:pPr>
            <a:r>
              <a:rPr sz="2100">
                <a:solidFill>
                  <a:srgbClr val="172C42"/>
                </a:solidFill>
                <a:latin typeface="Aptos"/>
              </a:rPr>
              <a:t>req.body.amount is the number you typed.</a:t>
            </a:r>
          </a:p>
          <a:p>
            <a:pPr>
              <a:lnSpc>
                <a:spcPts val="2520"/>
              </a:lnSpc>
              <a:spcBef>
                <a:spcPts val="0"/>
              </a:spcBef>
              <a:spcAft>
                <a:spcPts val="0"/>
              </a:spcAft>
            </a:pPr>
            <a:endParaRPr sz="2100">
              <a:solidFill>
                <a:srgbClr val="172C42"/>
              </a:solidFill>
              <a:latin typeface="Aptos"/>
            </a:endParaRPr>
          </a:p>
          <a:p>
            <a:pPr>
              <a:lnSpc>
                <a:spcPts val="2520"/>
              </a:lnSpc>
              <a:spcBef>
                <a:spcPts val="0"/>
              </a:spcBef>
              <a:spcAft>
                <a:spcPts val="0"/>
              </a:spcAft>
            </a:pPr>
            <a:r>
              <a:rPr sz="2100">
                <a:solidFill>
                  <a:srgbClr val="172C42"/>
                </a:solidFill>
                <a:latin typeface="Aptos"/>
              </a:rPr>
              <a:t>res.json(...) is the reply the browser receives.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Rectangle 1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2">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4">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17"/>
          <p:cNvSpPr txBox="1"/>
          <p:nvPr/>
        </p:nvSpPr>
        <p:spPr>
          <a:xfrm>
            <a:off x="713232" y="365760"/>
            <a:ext cx="10972800" cy="594360"/>
          </a:xfrm>
          <a:prstGeom prst="rect">
            <a:avLst/>
          </a:prstGeom>
          <a:noFill/>
        </p:spPr>
        <p:txBody>
          <a:bodyPr wrap="square" lIns="0" tIns="0" rIns="0" bIns="0" anchor="t">
            <a:spAutoFit/>
          </a:bodyPr>
          <a:lstStyle/>
          <a:p>
            <a:pPr>
              <a:lnSpc>
                <a:spcPts val="3500"/>
              </a:lnSpc>
              <a:spcBef>
                <a:spcPts val="0"/>
              </a:spcBef>
              <a:spcAft>
                <a:spcPts val="0"/>
              </a:spcAft>
            </a:pPr>
            <a:r>
              <a:rPr sz="3200" b="1">
                <a:solidFill>
                  <a:srgbClr val="FFFFFF"/>
                </a:solidFill>
              </a:rPr>
              <a:t>MongoDB snippet</a:t>
            </a:r>
          </a:p>
        </p:txBody>
      </p:sp>
      <p:sp>
        <p:nvSpPr>
          <p:cNvPr id="6" name="TextBox 18"/>
          <p:cNvSpPr txBox="1"/>
          <p:nvPr/>
        </p:nvSpPr>
        <p:spPr>
          <a:xfrm>
            <a:off x="594360" y="1143000"/>
            <a:ext cx="109728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Account update and transaction record</a:t>
            </a:r>
          </a:p>
        </p:txBody>
      </p:sp>
      <p:sp>
        <p:nvSpPr>
          <p:cNvPr id="7" name="TextBox 9"/>
          <p:cNvSpPr txBox="1"/>
          <p:nvPr/>
        </p:nvSpPr>
        <p:spPr>
          <a:xfrm>
            <a:off x="594360" y="1819656"/>
            <a:ext cx="7635240" cy="4709160"/>
          </a:xfrm>
          <a:prstGeom prst="rect">
            <a:avLst/>
          </a:prstGeom>
          <a:noFill/>
        </p:spPr>
        <p:txBody>
          <a:bodyPr wrap="square" lIns="0" tIns="0" rIns="0" bIns="0">
            <a:spAutoFit/>
          </a:bodyPr>
          <a:lstStyle/>
          <a:p>
            <a:pPr>
              <a:lnSpc>
                <a:spcPts val="1938"/>
              </a:lnSpc>
              <a:spcBef>
                <a:spcPts val="0"/>
              </a:spcBef>
              <a:spcAft>
                <a:spcPts val="0"/>
              </a:spcAft>
            </a:pPr>
            <a:r>
              <a:rPr sz="1700" b="1">
                <a:solidFill>
                  <a:srgbClr val="6B3FA0"/>
                </a:solidFill>
                <a:latin typeface="Consolas"/>
              </a:rPr>
              <a:t>const</a:t>
            </a:r>
            <a:r>
              <a:rPr sz="1700" b="0">
                <a:solidFill>
                  <a:srgbClr val="172C42"/>
                </a:solidFill>
                <a:latin typeface="Consolas"/>
              </a:rPr>
              <a:t> db = </a:t>
            </a:r>
            <a:r>
              <a:rPr sz="1700" b="1">
                <a:solidFill>
                  <a:srgbClr val="6B3FA0"/>
                </a:solidFill>
                <a:latin typeface="Consolas"/>
              </a:rPr>
              <a:t>await</a:t>
            </a:r>
            <a:r>
              <a:rPr sz="1700" b="0">
                <a:solidFill>
                  <a:srgbClr val="172C42"/>
                </a:solidFill>
                <a:latin typeface="Consolas"/>
              </a:rPr>
              <a:t> getDb();</a:t>
            </a:r>
          </a:p>
          <a:p>
            <a:pPr>
              <a:lnSpc>
                <a:spcPts val="1938"/>
              </a:lnSpc>
              <a:spcBef>
                <a:spcPts val="0"/>
              </a:spcBef>
              <a:spcAft>
                <a:spcPts val="0"/>
              </a:spcAft>
            </a:pPr>
            <a:endParaRPr sz="1700" b="0">
              <a:solidFill>
                <a:srgbClr val="172C42"/>
              </a:solidFill>
              <a:latin typeface="Consolas"/>
            </a:endParaRPr>
          </a:p>
          <a:p>
            <a:pPr>
              <a:lnSpc>
                <a:spcPts val="1938"/>
              </a:lnSpc>
              <a:spcBef>
                <a:spcPts val="0"/>
              </a:spcBef>
              <a:spcAft>
                <a:spcPts val="0"/>
              </a:spcAft>
            </a:pPr>
            <a:r>
              <a:rPr sz="1700" b="1">
                <a:solidFill>
                  <a:srgbClr val="6B3FA0"/>
                </a:solidFill>
                <a:latin typeface="Consolas"/>
              </a:rPr>
              <a:t>const</a:t>
            </a:r>
            <a:r>
              <a:rPr sz="1700" b="0">
                <a:solidFill>
                  <a:srgbClr val="172C42"/>
                </a:solidFill>
                <a:latin typeface="Consolas"/>
              </a:rPr>
              <a:t> account = </a:t>
            </a:r>
            <a:r>
              <a:rPr sz="1700" b="1">
                <a:solidFill>
                  <a:srgbClr val="6B3FA0"/>
                </a:solidFill>
                <a:latin typeface="Consolas"/>
              </a:rPr>
              <a:t>await</a:t>
            </a:r>
            <a:r>
              <a:rPr sz="1700" b="0">
                <a:solidFill>
                  <a:srgbClr val="172C42"/>
                </a:solidFill>
                <a:latin typeface="Consolas"/>
              </a:rPr>
              <a:t> db.collection(</a:t>
            </a:r>
            <a:r>
              <a:rPr sz="1700" b="0">
                <a:solidFill>
                  <a:srgbClr val="2B6B4A"/>
                </a:solidFill>
                <a:latin typeface="Consolas"/>
              </a:rPr>
              <a:t>'accounts'</a:t>
            </a:r>
            <a:r>
              <a:rPr sz="1700" b="0">
                <a:solidFill>
                  <a:srgbClr val="172C42"/>
                </a:solidFill>
                <a:latin typeface="Consolas"/>
              </a:rPr>
              <a:t>).findOne({</a:t>
            </a:r>
          </a:p>
          <a:p>
            <a:pPr>
              <a:lnSpc>
                <a:spcPts val="1938"/>
              </a:lnSpc>
              <a:spcBef>
                <a:spcPts val="0"/>
              </a:spcBef>
              <a:spcAft>
                <a:spcPts val="0"/>
              </a:spcAft>
            </a:pPr>
            <a:r>
              <a:rPr sz="1700" b="0">
                <a:solidFill>
                  <a:srgbClr val="172C42"/>
                </a:solidFill>
                <a:latin typeface="Consolas"/>
              </a:rPr>
              <a:t>  accountNumber: </a:t>
            </a:r>
            <a:r>
              <a:rPr sz="1700" b="0">
                <a:solidFill>
                  <a:srgbClr val="2B6B4A"/>
                </a:solidFill>
                <a:latin typeface="Consolas"/>
              </a:rPr>
              <a:t>'10000001'</a:t>
            </a:r>
            <a:r>
              <a:rPr sz="1700" b="0">
                <a:solidFill>
                  <a:srgbClr val="172C42"/>
                </a:solidFill>
                <a:latin typeface="Consolas"/>
              </a:rPr>
              <a:t>,</a:t>
            </a:r>
          </a:p>
          <a:p>
            <a:pPr>
              <a:lnSpc>
                <a:spcPts val="1938"/>
              </a:lnSpc>
              <a:spcBef>
                <a:spcPts val="0"/>
              </a:spcBef>
              <a:spcAft>
                <a:spcPts val="0"/>
              </a:spcAft>
            </a:pPr>
            <a:r>
              <a:rPr sz="1700" b="0">
                <a:solidFill>
                  <a:srgbClr val="172C42"/>
                </a:solidFill>
                <a:latin typeface="Consolas"/>
              </a:rPr>
              <a:t>});</a:t>
            </a:r>
          </a:p>
          <a:p>
            <a:pPr>
              <a:lnSpc>
                <a:spcPts val="1938"/>
              </a:lnSpc>
              <a:spcBef>
                <a:spcPts val="0"/>
              </a:spcBef>
              <a:spcAft>
                <a:spcPts val="0"/>
              </a:spcAft>
            </a:pPr>
            <a:endParaRPr sz="1700" b="0">
              <a:solidFill>
                <a:srgbClr val="172C42"/>
              </a:solidFill>
              <a:latin typeface="Consolas"/>
            </a:endParaRPr>
          </a:p>
          <a:p>
            <a:pPr>
              <a:lnSpc>
                <a:spcPts val="1938"/>
              </a:lnSpc>
              <a:spcBef>
                <a:spcPts val="0"/>
              </a:spcBef>
              <a:spcAft>
                <a:spcPts val="0"/>
              </a:spcAft>
            </a:pPr>
            <a:r>
              <a:rPr sz="1700" b="1">
                <a:solidFill>
                  <a:srgbClr val="6B3FA0"/>
                </a:solidFill>
                <a:latin typeface="Consolas"/>
              </a:rPr>
              <a:t>await</a:t>
            </a:r>
            <a:r>
              <a:rPr sz="1700" b="0">
                <a:solidFill>
                  <a:srgbClr val="172C42"/>
                </a:solidFill>
                <a:latin typeface="Consolas"/>
              </a:rPr>
              <a:t> db.collection(</a:t>
            </a:r>
            <a:r>
              <a:rPr sz="1700" b="0">
                <a:solidFill>
                  <a:srgbClr val="2B6B4A"/>
                </a:solidFill>
                <a:latin typeface="Consolas"/>
              </a:rPr>
              <a:t>'accounts'</a:t>
            </a:r>
            <a:r>
              <a:rPr sz="1700" b="0">
                <a:solidFill>
                  <a:srgbClr val="172C42"/>
                </a:solidFill>
                <a:latin typeface="Consolas"/>
              </a:rPr>
              <a:t>).updateOne(</a:t>
            </a:r>
          </a:p>
          <a:p>
            <a:pPr>
              <a:lnSpc>
                <a:spcPts val="1938"/>
              </a:lnSpc>
              <a:spcBef>
                <a:spcPts val="0"/>
              </a:spcBef>
              <a:spcAft>
                <a:spcPts val="0"/>
              </a:spcAft>
            </a:pPr>
            <a:r>
              <a:rPr sz="1700" b="0">
                <a:solidFill>
                  <a:srgbClr val="172C42"/>
                </a:solidFill>
                <a:latin typeface="Consolas"/>
              </a:rPr>
              <a:t>  { _id: account._id },</a:t>
            </a:r>
          </a:p>
          <a:p>
            <a:pPr>
              <a:lnSpc>
                <a:spcPts val="1938"/>
              </a:lnSpc>
              <a:spcBef>
                <a:spcPts val="0"/>
              </a:spcBef>
              <a:spcAft>
                <a:spcPts val="0"/>
              </a:spcAft>
            </a:pPr>
            <a:r>
              <a:rPr sz="1700" b="0">
                <a:solidFill>
                  <a:srgbClr val="172C42"/>
                </a:solidFill>
                <a:latin typeface="Consolas"/>
              </a:rPr>
              <a:t>  { $set: { balanceCents: account.balanceCents + </a:t>
            </a:r>
            <a:r>
              <a:rPr sz="1700" b="0">
                <a:solidFill>
                  <a:srgbClr val="175D9A"/>
                </a:solidFill>
                <a:latin typeface="Consolas"/>
              </a:rPr>
              <a:t>2500</a:t>
            </a:r>
            <a:r>
              <a:rPr sz="1700" b="0">
                <a:solidFill>
                  <a:srgbClr val="172C42"/>
                </a:solidFill>
                <a:latin typeface="Consolas"/>
              </a:rPr>
              <a:t> } }</a:t>
            </a:r>
          </a:p>
          <a:p>
            <a:pPr>
              <a:lnSpc>
                <a:spcPts val="1938"/>
              </a:lnSpc>
              <a:spcBef>
                <a:spcPts val="0"/>
              </a:spcBef>
              <a:spcAft>
                <a:spcPts val="0"/>
              </a:spcAft>
            </a:pPr>
            <a:r>
              <a:rPr sz="1700" b="0">
                <a:solidFill>
                  <a:srgbClr val="172C42"/>
                </a:solidFill>
                <a:latin typeface="Consolas"/>
              </a:rPr>
              <a:t>);</a:t>
            </a:r>
          </a:p>
          <a:p>
            <a:pPr>
              <a:lnSpc>
                <a:spcPts val="1938"/>
              </a:lnSpc>
              <a:spcBef>
                <a:spcPts val="0"/>
              </a:spcBef>
              <a:spcAft>
                <a:spcPts val="0"/>
              </a:spcAft>
            </a:pPr>
            <a:endParaRPr sz="1700" b="0">
              <a:solidFill>
                <a:srgbClr val="172C42"/>
              </a:solidFill>
              <a:latin typeface="Consolas"/>
            </a:endParaRPr>
          </a:p>
          <a:p>
            <a:pPr>
              <a:lnSpc>
                <a:spcPts val="1938"/>
              </a:lnSpc>
              <a:spcBef>
                <a:spcPts val="0"/>
              </a:spcBef>
              <a:spcAft>
                <a:spcPts val="0"/>
              </a:spcAft>
            </a:pPr>
            <a:r>
              <a:rPr sz="1700" b="1">
                <a:solidFill>
                  <a:srgbClr val="6B3FA0"/>
                </a:solidFill>
                <a:latin typeface="Consolas"/>
              </a:rPr>
              <a:t>await</a:t>
            </a:r>
            <a:r>
              <a:rPr sz="1700" b="0">
                <a:solidFill>
                  <a:srgbClr val="172C42"/>
                </a:solidFill>
                <a:latin typeface="Consolas"/>
              </a:rPr>
              <a:t> db.collection(</a:t>
            </a:r>
            <a:r>
              <a:rPr sz="1700" b="0">
                <a:solidFill>
                  <a:srgbClr val="2B6B4A"/>
                </a:solidFill>
                <a:latin typeface="Consolas"/>
              </a:rPr>
              <a:t>'transactions'</a:t>
            </a:r>
            <a:r>
              <a:rPr sz="1700" b="0">
                <a:solidFill>
                  <a:srgbClr val="172C42"/>
                </a:solidFill>
                <a:latin typeface="Consolas"/>
              </a:rPr>
              <a:t>).insertOne({</a:t>
            </a:r>
          </a:p>
          <a:p>
            <a:pPr>
              <a:lnSpc>
                <a:spcPts val="1938"/>
              </a:lnSpc>
              <a:spcBef>
                <a:spcPts val="0"/>
              </a:spcBef>
              <a:spcAft>
                <a:spcPts val="0"/>
              </a:spcAft>
            </a:pPr>
            <a:r>
              <a:rPr sz="1700" b="0">
                <a:solidFill>
                  <a:srgbClr val="172C42"/>
                </a:solidFill>
                <a:latin typeface="Consolas"/>
              </a:rPr>
              <a:t>  accountNumber: </a:t>
            </a:r>
            <a:r>
              <a:rPr sz="1700" b="0">
                <a:solidFill>
                  <a:srgbClr val="2B6B4A"/>
                </a:solidFill>
                <a:latin typeface="Consolas"/>
              </a:rPr>
              <a:t>'10000001'</a:t>
            </a:r>
            <a:r>
              <a:rPr sz="1700" b="0">
                <a:solidFill>
                  <a:srgbClr val="172C42"/>
                </a:solidFill>
                <a:latin typeface="Consolas"/>
              </a:rPr>
              <a:t>,</a:t>
            </a:r>
          </a:p>
          <a:p>
            <a:pPr>
              <a:lnSpc>
                <a:spcPts val="1938"/>
              </a:lnSpc>
              <a:spcBef>
                <a:spcPts val="0"/>
              </a:spcBef>
              <a:spcAft>
                <a:spcPts val="0"/>
              </a:spcAft>
            </a:pPr>
            <a:r>
              <a:rPr sz="1700" b="0">
                <a:solidFill>
                  <a:srgbClr val="172C42"/>
                </a:solidFill>
                <a:latin typeface="Consolas"/>
              </a:rPr>
              <a:t>  type: </a:t>
            </a:r>
            <a:r>
              <a:rPr sz="1700" b="0">
                <a:solidFill>
                  <a:srgbClr val="2B6B4A"/>
                </a:solidFill>
                <a:latin typeface="Consolas"/>
              </a:rPr>
              <a:t>'deposit'</a:t>
            </a:r>
            <a:r>
              <a:rPr sz="1700" b="0">
                <a:solidFill>
                  <a:srgbClr val="172C42"/>
                </a:solidFill>
                <a:latin typeface="Consolas"/>
              </a:rPr>
              <a:t>,</a:t>
            </a:r>
          </a:p>
          <a:p>
            <a:pPr>
              <a:lnSpc>
                <a:spcPts val="1938"/>
              </a:lnSpc>
              <a:spcBef>
                <a:spcPts val="0"/>
              </a:spcBef>
              <a:spcAft>
                <a:spcPts val="0"/>
              </a:spcAft>
            </a:pPr>
            <a:r>
              <a:rPr sz="1700" b="0">
                <a:solidFill>
                  <a:srgbClr val="172C42"/>
                </a:solidFill>
                <a:latin typeface="Consolas"/>
              </a:rPr>
              <a:t>  amountCents: </a:t>
            </a:r>
            <a:r>
              <a:rPr sz="1700" b="0">
                <a:solidFill>
                  <a:srgbClr val="175D9A"/>
                </a:solidFill>
                <a:latin typeface="Consolas"/>
              </a:rPr>
              <a:t>2500</a:t>
            </a:r>
            <a:r>
              <a:rPr sz="1700" b="0">
                <a:solidFill>
                  <a:srgbClr val="172C42"/>
                </a:solidFill>
                <a:latin typeface="Consolas"/>
              </a:rPr>
              <a:t>,</a:t>
            </a:r>
          </a:p>
          <a:p>
            <a:pPr>
              <a:lnSpc>
                <a:spcPts val="1938"/>
              </a:lnSpc>
              <a:spcBef>
                <a:spcPts val="0"/>
              </a:spcBef>
              <a:spcAft>
                <a:spcPts val="0"/>
              </a:spcAft>
            </a:pPr>
            <a:r>
              <a:rPr sz="1700" b="0">
                <a:solidFill>
                  <a:srgbClr val="172C42"/>
                </a:solidFill>
                <a:latin typeface="Consolas"/>
              </a:rPr>
              <a:t>  status: </a:t>
            </a:r>
            <a:r>
              <a:rPr sz="1700" b="0">
                <a:solidFill>
                  <a:srgbClr val="2B6B4A"/>
                </a:solidFill>
                <a:latin typeface="Consolas"/>
              </a:rPr>
              <a:t>'completed'</a:t>
            </a:r>
            <a:r>
              <a:rPr sz="1700" b="0">
                <a:solidFill>
                  <a:srgbClr val="172C42"/>
                </a:solidFill>
                <a:latin typeface="Consolas"/>
              </a:rPr>
              <a:t>,</a:t>
            </a:r>
          </a:p>
          <a:p>
            <a:pPr>
              <a:lnSpc>
                <a:spcPts val="1938"/>
              </a:lnSpc>
              <a:spcBef>
                <a:spcPts val="0"/>
              </a:spcBef>
              <a:spcAft>
                <a:spcPts val="0"/>
              </a:spcAft>
            </a:pPr>
            <a:r>
              <a:rPr sz="1700" b="0">
                <a:solidFill>
                  <a:srgbClr val="172C42"/>
                </a:solidFill>
                <a:latin typeface="Consolas"/>
              </a:rPr>
              <a:t>});</a:t>
            </a:r>
          </a:p>
        </p:txBody>
      </p:sp>
      <p:sp>
        <p:nvSpPr>
          <p:cNvPr id="8" name="TextBox 10"/>
          <p:cNvSpPr txBox="1"/>
          <p:nvPr/>
        </p:nvSpPr>
        <p:spPr>
          <a:xfrm>
            <a:off x="8549640" y="2075688"/>
            <a:ext cx="3063240" cy="393192"/>
          </a:xfrm>
          <a:prstGeom prst="rect">
            <a:avLst/>
          </a:prstGeom>
          <a:noFill/>
        </p:spPr>
        <p:txBody>
          <a:bodyPr wrap="square" lIns="0" tIns="0" rIns="0" bIns="0">
            <a:spAutoFit/>
          </a:bodyPr>
          <a:lstStyle/>
          <a:p>
            <a:pPr>
              <a:lnSpc>
                <a:spcPts val="2279"/>
              </a:lnSpc>
              <a:spcBef>
                <a:spcPts val="0"/>
              </a:spcBef>
              <a:spcAft>
                <a:spcPts val="0"/>
              </a:spcAft>
            </a:pPr>
            <a:r>
              <a:rPr sz="2000" b="1">
                <a:solidFill>
                  <a:srgbClr val="172C42"/>
                </a:solidFill>
                <a:latin typeface="Aptos"/>
              </a:rPr>
              <a:t>findOne</a:t>
            </a:r>
          </a:p>
        </p:txBody>
      </p:sp>
      <p:sp>
        <p:nvSpPr>
          <p:cNvPr id="9" name="TextBox 11"/>
          <p:cNvSpPr txBox="1"/>
          <p:nvPr/>
        </p:nvSpPr>
        <p:spPr>
          <a:xfrm>
            <a:off x="8549640" y="2578608"/>
            <a:ext cx="2880360" cy="868680"/>
          </a:xfrm>
          <a:prstGeom prst="rect">
            <a:avLst/>
          </a:prstGeom>
          <a:noFill/>
        </p:spPr>
        <p:txBody>
          <a:bodyPr wrap="square" lIns="0" tIns="0" rIns="0" bIns="0">
            <a:spAutoFit/>
          </a:bodyPr>
          <a:lstStyle/>
          <a:p>
            <a:pPr>
              <a:lnSpc>
                <a:spcPts val="2394"/>
              </a:lnSpc>
              <a:spcBef>
                <a:spcPts val="0"/>
              </a:spcBef>
              <a:spcAft>
                <a:spcPts val="0"/>
              </a:spcAft>
            </a:pPr>
            <a:r>
              <a:rPr sz="2100" b="0">
                <a:solidFill>
                  <a:srgbClr val="172C42"/>
                </a:solidFill>
                <a:latin typeface="Aptos"/>
              </a:rPr>
              <a:t>Read the one card that matches</a:t>
            </a:r>
          </a:p>
        </p:txBody>
      </p:sp>
      <p:sp>
        <p:nvSpPr>
          <p:cNvPr id="10" name="TextBox 12"/>
          <p:cNvSpPr txBox="1"/>
          <p:nvPr/>
        </p:nvSpPr>
        <p:spPr>
          <a:xfrm>
            <a:off x="8549640" y="3456432"/>
            <a:ext cx="3063240" cy="393192"/>
          </a:xfrm>
          <a:prstGeom prst="rect">
            <a:avLst/>
          </a:prstGeom>
          <a:noFill/>
        </p:spPr>
        <p:txBody>
          <a:bodyPr wrap="square" lIns="0" tIns="0" rIns="0" bIns="0">
            <a:spAutoFit/>
          </a:bodyPr>
          <a:lstStyle/>
          <a:p>
            <a:pPr>
              <a:lnSpc>
                <a:spcPts val="2279"/>
              </a:lnSpc>
              <a:spcBef>
                <a:spcPts val="0"/>
              </a:spcBef>
              <a:spcAft>
                <a:spcPts val="0"/>
              </a:spcAft>
            </a:pPr>
            <a:r>
              <a:rPr sz="2000" b="1">
                <a:solidFill>
                  <a:srgbClr val="172C42"/>
                </a:solidFill>
                <a:latin typeface="Aptos"/>
              </a:rPr>
              <a:t>updateOne with $set</a:t>
            </a:r>
          </a:p>
        </p:txBody>
      </p:sp>
      <p:sp>
        <p:nvSpPr>
          <p:cNvPr id="11" name="TextBox 13"/>
          <p:cNvSpPr txBox="1"/>
          <p:nvPr/>
        </p:nvSpPr>
        <p:spPr>
          <a:xfrm>
            <a:off x="8549640" y="3959352"/>
            <a:ext cx="2880360" cy="868680"/>
          </a:xfrm>
          <a:prstGeom prst="rect">
            <a:avLst/>
          </a:prstGeom>
          <a:noFill/>
        </p:spPr>
        <p:txBody>
          <a:bodyPr wrap="square" lIns="0" tIns="0" rIns="0" bIns="0">
            <a:spAutoFit/>
          </a:bodyPr>
          <a:lstStyle/>
          <a:p>
            <a:pPr>
              <a:lnSpc>
                <a:spcPts val="2394"/>
              </a:lnSpc>
              <a:spcBef>
                <a:spcPts val="0"/>
              </a:spcBef>
              <a:spcAft>
                <a:spcPts val="0"/>
              </a:spcAft>
            </a:pPr>
            <a:r>
              <a:rPr sz="2100" b="0">
                <a:solidFill>
                  <a:srgbClr val="172C42"/>
                </a:solidFill>
                <a:latin typeface="Aptos"/>
              </a:rPr>
              <a:t>Change fields on that card</a:t>
            </a:r>
          </a:p>
        </p:txBody>
      </p:sp>
      <p:sp>
        <p:nvSpPr>
          <p:cNvPr id="12" name="TextBox 14"/>
          <p:cNvSpPr txBox="1"/>
          <p:nvPr/>
        </p:nvSpPr>
        <p:spPr>
          <a:xfrm>
            <a:off x="8549640" y="4837176"/>
            <a:ext cx="3063240" cy="393192"/>
          </a:xfrm>
          <a:prstGeom prst="rect">
            <a:avLst/>
          </a:prstGeom>
          <a:noFill/>
        </p:spPr>
        <p:txBody>
          <a:bodyPr wrap="square" lIns="0" tIns="0" rIns="0" bIns="0">
            <a:spAutoFit/>
          </a:bodyPr>
          <a:lstStyle/>
          <a:p>
            <a:pPr>
              <a:lnSpc>
                <a:spcPts val="2279"/>
              </a:lnSpc>
              <a:spcBef>
                <a:spcPts val="0"/>
              </a:spcBef>
              <a:spcAft>
                <a:spcPts val="0"/>
              </a:spcAft>
            </a:pPr>
            <a:r>
              <a:rPr sz="2000" b="1">
                <a:solidFill>
                  <a:srgbClr val="172C42"/>
                </a:solidFill>
                <a:latin typeface="Aptos"/>
              </a:rPr>
              <a:t>insertOne</a:t>
            </a:r>
          </a:p>
        </p:txBody>
      </p:sp>
      <p:sp>
        <p:nvSpPr>
          <p:cNvPr id="13" name="TextBox 15"/>
          <p:cNvSpPr txBox="1"/>
          <p:nvPr/>
        </p:nvSpPr>
        <p:spPr>
          <a:xfrm>
            <a:off x="8549640" y="5340096"/>
            <a:ext cx="2880360" cy="868680"/>
          </a:xfrm>
          <a:prstGeom prst="rect">
            <a:avLst/>
          </a:prstGeom>
          <a:noFill/>
        </p:spPr>
        <p:txBody>
          <a:bodyPr wrap="square" lIns="0" tIns="0" rIns="0" bIns="0">
            <a:spAutoFit/>
          </a:bodyPr>
          <a:lstStyle/>
          <a:p>
            <a:pPr>
              <a:lnSpc>
                <a:spcPts val="2394"/>
              </a:lnSpc>
              <a:spcBef>
                <a:spcPts val="0"/>
              </a:spcBef>
              <a:spcAft>
                <a:spcPts val="0"/>
              </a:spcAft>
            </a:pPr>
            <a:r>
              <a:rPr sz="2100" b="0">
                <a:solidFill>
                  <a:srgbClr val="172C42"/>
                </a:solidFill>
                <a:latin typeface="Aptos"/>
              </a:rPr>
              <a:t>Add a new card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2">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4">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17"/>
          <p:cNvSpPr txBox="1"/>
          <p:nvPr/>
        </p:nvSpPr>
        <p:spPr>
          <a:xfrm>
            <a:off x="713232" y="365760"/>
            <a:ext cx="10972800" cy="594360"/>
          </a:xfrm>
          <a:prstGeom prst="rect">
            <a:avLst/>
          </a:prstGeom>
          <a:noFill/>
        </p:spPr>
        <p:txBody>
          <a:bodyPr wrap="square" lIns="0" tIns="0" rIns="0" bIns="0" anchor="t">
            <a:spAutoFit/>
          </a:bodyPr>
          <a:lstStyle/>
          <a:p>
            <a:pPr>
              <a:lnSpc>
                <a:spcPts val="3500"/>
              </a:lnSpc>
              <a:spcBef>
                <a:spcPts val="0"/>
              </a:spcBef>
              <a:spcAft>
                <a:spcPts val="0"/>
              </a:spcAft>
            </a:pPr>
            <a:r>
              <a:rPr sz="3200" b="1">
                <a:solidFill>
                  <a:srgbClr val="FFFFFF"/>
                </a:solidFill>
              </a:rPr>
              <a:t>Banking app concepts</a:t>
            </a:r>
          </a:p>
        </p:txBody>
      </p:sp>
      <p:sp>
        <p:nvSpPr>
          <p:cNvPr id="6" name="TextBox 18"/>
          <p:cNvSpPr txBox="1"/>
          <p:nvPr/>
        </p:nvSpPr>
        <p:spPr>
          <a:xfrm>
            <a:off x="594360" y="1143000"/>
            <a:ext cx="54864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Concept reference 1 of 3</a:t>
            </a:r>
          </a:p>
        </p:txBody>
      </p:sp>
      <p:graphicFrame>
        <p:nvGraphicFramePr>
          <p:cNvPr id="7" name="Content Placeholder 3">
            <a:extLst>
              <a:ext uri="{FF2B5EF4-FFF2-40B4-BE49-F238E27FC236}">
                <a16:creationId xmlns:a16="http://schemas.microsoft.com/office/drawing/2014/main" id="{4445418C-91C3-2E0D-2A53-4F37B891DF30}"/>
              </a:ext>
            </a:extLst>
          </p:cNvPr>
          <p:cNvGraphicFramePr>
            <a:graphicFrameLocks noGrp="1"/>
          </p:cNvGraphicFramePr>
          <p:nvPr>
            <p:ph idx="1"/>
            <p:extLst>
              <p:ext uri="{D42A27DB-BD31-4B8C-83A1-F6EECF244321}">
                <p14:modId xmlns:p14="http://schemas.microsoft.com/office/powerpoint/2010/main" val="1369642502"/>
              </p:ext>
            </p:extLst>
          </p:nvPr>
        </p:nvGraphicFramePr>
        <p:xfrm>
          <a:off x="457200" y="1783080"/>
          <a:ext cx="11274552" cy="4754880"/>
        </p:xfrm>
        <a:graphic>
          <a:graphicData uri="http://schemas.openxmlformats.org/drawingml/2006/table">
            <a:tbl>
              <a:tblPr>
                <a:tableStyleId>{5C22544A-7EE6-4342-B048-85BDC9FD1C3A}</a:tableStyleId>
              </a:tblPr>
              <a:tblGrid>
                <a:gridCol w="1865376">
                  <a:extLst>
                    <a:ext uri="{9D8B030D-6E8A-4147-A177-3AD203B41FA5}">
                      <a16:colId xmlns:a16="http://schemas.microsoft.com/office/drawing/2014/main" val="1821425524"/>
                    </a:ext>
                  </a:extLst>
                </a:gridCol>
                <a:gridCol w="4023360">
                  <a:extLst>
                    <a:ext uri="{9D8B030D-6E8A-4147-A177-3AD203B41FA5}">
                      <a16:colId xmlns:a16="http://schemas.microsoft.com/office/drawing/2014/main" val="2487578819"/>
                    </a:ext>
                  </a:extLst>
                </a:gridCol>
                <a:gridCol w="5385816">
                  <a:extLst>
                    <a:ext uri="{9D8B030D-6E8A-4147-A177-3AD203B41FA5}">
                      <a16:colId xmlns:a16="http://schemas.microsoft.com/office/drawing/2014/main" val="568689609"/>
                    </a:ext>
                  </a:extLst>
                </a:gridCol>
              </a:tblGrid>
              <a:tr h="438912">
                <a:tc>
                  <a:txBody>
                    <a:bodyPr/>
                    <a:lstStyle/>
                    <a:p>
                      <a:pPr algn="l" fontAlgn="t">
                        <a:lnSpc>
                          <a:spcPts val="1850"/>
                        </a:lnSpc>
                        <a:spcBef>
                          <a:spcPts val="0"/>
                        </a:spcBef>
                        <a:spcAft>
                          <a:spcPts val="0"/>
                        </a:spcAft>
                        <a:buNone/>
                      </a:pPr>
                      <a:r>
                        <a:rPr lang="en-IN" sz="1600" b="1">
                          <a:solidFill>
                            <a:srgbClr val="FFFFFF"/>
                          </a:solidFill>
                          <a:effectLst/>
                          <a:latin typeface="Aptos"/>
                        </a:rPr>
                        <a:t>Concept</a:t>
                      </a:r>
                      <a:endParaRPr lang="en-IN" sz="1050" b="0" i="0">
                        <a:solidFill>
                          <a:srgbClr val="F0F0F0"/>
                        </a:solidFill>
                        <a:effectLst/>
                        <a:latin typeface="Segoe WPC"/>
                      </a:endParaRPr>
                    </a:p>
                  </a:txBody>
                  <a:tcPr marL="128016" marR="128016" marT="109728" marB="82296">
                    <a:solidFill>
                      <a:srgbClr val="173D50"/>
                    </a:solidFill>
                  </a:tcPr>
                </a:tc>
                <a:tc>
                  <a:txBody>
                    <a:bodyPr/>
                    <a:lstStyle/>
                    <a:p>
                      <a:pPr algn="l" fontAlgn="t">
                        <a:lnSpc>
                          <a:spcPts val="1850"/>
                        </a:lnSpc>
                        <a:spcBef>
                          <a:spcPts val="0"/>
                        </a:spcBef>
                        <a:spcAft>
                          <a:spcPts val="0"/>
                        </a:spcAft>
                        <a:buNone/>
                      </a:pPr>
                      <a:r>
                        <a:rPr lang="en-IN" sz="1600" b="1">
                          <a:solidFill>
                            <a:srgbClr val="FFFFFF"/>
                          </a:solidFill>
                          <a:effectLst/>
                          <a:latin typeface="Aptos"/>
                        </a:rPr>
                        <a:t>Plain meaning</a:t>
                      </a:r>
                      <a:endParaRPr lang="en-IN" sz="1050" b="0" i="0">
                        <a:solidFill>
                          <a:srgbClr val="F0F0F0"/>
                        </a:solidFill>
                        <a:effectLst/>
                        <a:latin typeface="Segoe WPC"/>
                      </a:endParaRPr>
                    </a:p>
                  </a:txBody>
                  <a:tcPr marL="128016" marR="128016" marT="109728" marB="82296">
                    <a:solidFill>
                      <a:srgbClr val="173D50"/>
                    </a:solidFill>
                  </a:tcPr>
                </a:tc>
                <a:tc>
                  <a:txBody>
                    <a:bodyPr/>
                    <a:lstStyle/>
                    <a:p>
                      <a:pPr algn="l" fontAlgn="t">
                        <a:lnSpc>
                          <a:spcPts val="1850"/>
                        </a:lnSpc>
                        <a:spcBef>
                          <a:spcPts val="0"/>
                        </a:spcBef>
                        <a:spcAft>
                          <a:spcPts val="0"/>
                        </a:spcAft>
                        <a:buNone/>
                      </a:pPr>
                      <a:r>
                        <a:rPr lang="en-IN" sz="1600" b="1">
                          <a:solidFill>
                            <a:srgbClr val="FFFFFF"/>
                          </a:solidFill>
                          <a:effectLst/>
                          <a:latin typeface="Aptos"/>
                        </a:rPr>
                        <a:t>Where it shows up</a:t>
                      </a:r>
                      <a:endParaRPr lang="en-IN" sz="1050" b="0" i="0">
                        <a:solidFill>
                          <a:srgbClr val="F0F0F0"/>
                        </a:solidFill>
                        <a:effectLst/>
                        <a:latin typeface="Segoe WPC"/>
                      </a:endParaRPr>
                    </a:p>
                  </a:txBody>
                  <a:tcPr marL="128016" marR="128016" marT="109728" marB="82296">
                    <a:solidFill>
                      <a:srgbClr val="173D50"/>
                    </a:solidFill>
                  </a:tcPr>
                </a:tc>
                <a:extLst>
                  <a:ext uri="{0D108BD9-81ED-4DB2-BD59-A6C34878D82A}">
                    <a16:rowId xmlns:a16="http://schemas.microsoft.com/office/drawing/2014/main" val="3327697577"/>
                  </a:ext>
                </a:extLst>
              </a:tr>
              <a:tr h="1078992">
                <a:tc>
                  <a:txBody>
                    <a:bodyPr/>
                    <a:lstStyle/>
                    <a:p>
                      <a:pPr algn="l" fontAlgn="t" latinLnBrk="0">
                        <a:lnSpc>
                          <a:spcPts val="1850"/>
                        </a:lnSpc>
                        <a:spcBef>
                          <a:spcPts val="0"/>
                        </a:spcBef>
                        <a:spcAft>
                          <a:spcPts val="0"/>
                        </a:spcAft>
                        <a:buNone/>
                      </a:pPr>
                      <a:r>
                        <a:rPr lang="en-IN" sz="1600" b="1">
                          <a:solidFill>
                            <a:srgbClr val="172C42"/>
                          </a:solidFill>
                          <a:effectLst/>
                          <a:latin typeface="Aptos"/>
                        </a:rPr>
                        <a:t>JSON</a:t>
                      </a:r>
                      <a:endParaRPr lang="en-IN" sz="1050" b="0" i="0">
                        <a:solidFill>
                          <a:srgbClr val="F0F0F0"/>
                        </a:solidFill>
                        <a:effectLst/>
                        <a:latin typeface="Segoe WPC"/>
                      </a:endParaRPr>
                    </a:p>
                  </a:txBody>
                  <a:tcPr marL="128016" marR="128016" marT="109728" marB="82296">
                    <a:solidFill>
                      <a:srgbClr val="F0F4F6"/>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The text shape of a request and a reply, such as { "amount": 25 }</a:t>
                      </a:r>
                      <a:endParaRPr lang="en-IN" sz="1050" b="0" i="0">
                        <a:solidFill>
                          <a:srgbClr val="F0F0F0"/>
                        </a:solidFill>
                        <a:effectLst/>
                        <a:latin typeface="Segoe WPC"/>
                      </a:endParaRPr>
                    </a:p>
                  </a:txBody>
                  <a:tcPr marL="128016" marR="128016" marT="109728" marB="82296">
                    <a:solidFill>
                      <a:srgbClr val="F0F4F6"/>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React sends it. Node reads req.body.amount and replies with res.json(...).</a:t>
                      </a:r>
                      <a:endParaRPr lang="en-IN" sz="1050" b="0" i="0">
                        <a:solidFill>
                          <a:srgbClr val="F0F0F0"/>
                        </a:solidFill>
                        <a:effectLst/>
                        <a:latin typeface="Segoe WPC"/>
                      </a:endParaRPr>
                    </a:p>
                  </a:txBody>
                  <a:tcPr marL="128016" marR="128016" marT="109728" marB="82296">
                    <a:solidFill>
                      <a:srgbClr val="F0F4F6"/>
                    </a:solidFill>
                  </a:tcPr>
                </a:tc>
                <a:extLst>
                  <a:ext uri="{0D108BD9-81ED-4DB2-BD59-A6C34878D82A}">
                    <a16:rowId xmlns:a16="http://schemas.microsoft.com/office/drawing/2014/main" val="2718931030"/>
                  </a:ext>
                </a:extLst>
              </a:tr>
              <a:tr h="1078992">
                <a:tc>
                  <a:txBody>
                    <a:bodyPr/>
                    <a:lstStyle/>
                    <a:p>
                      <a:pPr algn="l" fontAlgn="t" latinLnBrk="0">
                        <a:lnSpc>
                          <a:spcPts val="1850"/>
                        </a:lnSpc>
                        <a:spcBef>
                          <a:spcPts val="0"/>
                        </a:spcBef>
                        <a:spcAft>
                          <a:spcPts val="0"/>
                        </a:spcAft>
                        <a:buNone/>
                      </a:pPr>
                      <a:r>
                        <a:rPr lang="en-IN" sz="1600" b="1">
                          <a:solidFill>
                            <a:srgbClr val="172C42"/>
                          </a:solidFill>
                          <a:effectLst/>
                          <a:latin typeface="Aptos"/>
                        </a:rPr>
                        <a:t>Route parameter</a:t>
                      </a:r>
                      <a:endParaRPr lang="en-IN" sz="1050" b="0" i="0">
                        <a:solidFill>
                          <a:srgbClr val="F0F0F0"/>
                        </a:solidFill>
                        <a:effectLst/>
                        <a:latin typeface="Segoe WPC"/>
                      </a:endParaRPr>
                    </a:p>
                  </a:txBody>
                  <a:tcPr marL="128016" marR="128016" marT="109728" marB="82296">
                    <a:solidFill>
                      <a:srgbClr val="FFFFFF"/>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A part of the address that changes per account</a:t>
                      </a:r>
                      <a:endParaRPr lang="en-IN" sz="1050" b="0" i="0">
                        <a:solidFill>
                          <a:srgbClr val="F0F0F0"/>
                        </a:solidFill>
                        <a:effectLst/>
                        <a:latin typeface="Segoe WPC"/>
                      </a:endParaRPr>
                    </a:p>
                  </a:txBody>
                  <a:tcPr marL="128016" marR="128016" marT="109728" marB="82296">
                    <a:solidFill>
                      <a:srgbClr val="FFFFFF"/>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/api/accounts/10000001/deposit. 10000001 is req.params.accountNumber.</a:t>
                      </a:r>
                      <a:endParaRPr lang="en-IN" sz="1050" b="0" i="0">
                        <a:solidFill>
                          <a:srgbClr val="F0F0F0"/>
                        </a:solidFill>
                        <a:effectLst/>
                        <a:latin typeface="Segoe WPC"/>
                      </a:endParaRPr>
                    </a:p>
                  </a:txBody>
                  <a:tcPr marL="128016" marR="128016" marT="109728" marB="82296">
                    <a:solidFill>
                      <a:srgbClr val="FFFFFF"/>
                    </a:solidFill>
                  </a:tcPr>
                </a:tc>
                <a:extLst>
                  <a:ext uri="{0D108BD9-81ED-4DB2-BD59-A6C34878D82A}">
                    <a16:rowId xmlns:a16="http://schemas.microsoft.com/office/drawing/2014/main" val="3195183277"/>
                  </a:ext>
                </a:extLst>
              </a:tr>
              <a:tr h="1078992">
                <a:tc>
                  <a:txBody>
                    <a:bodyPr/>
                    <a:lstStyle/>
                    <a:p>
                      <a:pPr algn="l" fontAlgn="t" latinLnBrk="0">
                        <a:lnSpc>
                          <a:spcPts val="1850"/>
                        </a:lnSpc>
                        <a:spcBef>
                          <a:spcPts val="0"/>
                        </a:spcBef>
                        <a:spcAft>
                          <a:spcPts val="0"/>
                        </a:spcAft>
                        <a:buNone/>
                      </a:pPr>
                      <a:r>
                        <a:rPr lang="en-IN" sz="1600" b="1">
                          <a:solidFill>
                            <a:srgbClr val="172C42"/>
                          </a:solidFill>
                          <a:effectLst/>
                          <a:latin typeface="Aptos"/>
                        </a:rPr>
                        <a:t>Middleware</a:t>
                      </a:r>
                      <a:endParaRPr lang="en-IN" sz="1050" b="0" i="0">
                        <a:solidFill>
                          <a:srgbClr val="F0F0F0"/>
                        </a:solidFill>
                        <a:effectLst/>
                        <a:latin typeface="Segoe WPC"/>
                      </a:endParaRPr>
                    </a:p>
                  </a:txBody>
                  <a:tcPr marL="128016" marR="128016" marT="109728" marB="82296">
                    <a:solidFill>
                      <a:srgbClr val="F0F4F6"/>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A check that runs before the real job</a:t>
                      </a:r>
                      <a:endParaRPr lang="en-IN" sz="1050" b="0" i="0">
                        <a:solidFill>
                          <a:srgbClr val="F0F0F0"/>
                        </a:solidFill>
                        <a:effectLst/>
                        <a:latin typeface="Segoe WPC"/>
                      </a:endParaRPr>
                    </a:p>
                  </a:txBody>
                  <a:tcPr marL="128016" marR="128016" marT="109728" marB="82296">
                    <a:solidFill>
                      <a:srgbClr val="F0F4F6"/>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requireAuth demands a login slip. requireRole allows only a customer or teller. blockAtm stops a transfer at the ATM.</a:t>
                      </a:r>
                      <a:endParaRPr lang="en-IN" sz="1050" b="0" i="0">
                        <a:solidFill>
                          <a:srgbClr val="F0F0F0"/>
                        </a:solidFill>
                        <a:effectLst/>
                        <a:latin typeface="Segoe WPC"/>
                      </a:endParaRPr>
                    </a:p>
                  </a:txBody>
                  <a:tcPr marL="128016" marR="128016" marT="109728" marB="82296">
                    <a:solidFill>
                      <a:srgbClr val="F0F4F6"/>
                    </a:solidFill>
                  </a:tcPr>
                </a:tc>
                <a:extLst>
                  <a:ext uri="{0D108BD9-81ED-4DB2-BD59-A6C34878D82A}">
                    <a16:rowId xmlns:a16="http://schemas.microsoft.com/office/drawing/2014/main" val="233808387"/>
                  </a:ext>
                </a:extLst>
              </a:tr>
              <a:tr h="1078992">
                <a:tc>
                  <a:txBody>
                    <a:bodyPr/>
                    <a:lstStyle/>
                    <a:p>
                      <a:pPr algn="l" fontAlgn="t" latinLnBrk="0">
                        <a:lnSpc>
                          <a:spcPts val="1850"/>
                        </a:lnSpc>
                        <a:spcBef>
                          <a:spcPts val="0"/>
                        </a:spcBef>
                        <a:spcAft>
                          <a:spcPts val="0"/>
                        </a:spcAft>
                        <a:buNone/>
                      </a:pPr>
                      <a:r>
                        <a:rPr lang="en-IN" sz="1600" b="1">
                          <a:solidFill>
                            <a:srgbClr val="172C42"/>
                          </a:solidFill>
                          <a:effectLst/>
                          <a:latin typeface="Aptos"/>
                        </a:rPr>
                        <a:t>Login token</a:t>
                      </a:r>
                      <a:endParaRPr lang="en-IN" sz="1050" b="0" i="0">
                        <a:solidFill>
                          <a:srgbClr val="F0F0F0"/>
                        </a:solidFill>
                        <a:effectLst/>
                        <a:latin typeface="Segoe WPC"/>
                      </a:endParaRPr>
                    </a:p>
                  </a:txBody>
                  <a:tcPr marL="128016" marR="128016" marT="109728" marB="82296">
                    <a:solidFill>
                      <a:srgbClr val="FFFFFF"/>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A slip that proves who you are after the password check</a:t>
                      </a:r>
                      <a:endParaRPr lang="en-IN" sz="1050" b="0" i="0">
                        <a:solidFill>
                          <a:srgbClr val="F0F0F0"/>
                        </a:solidFill>
                        <a:effectLst/>
                        <a:latin typeface="Segoe WPC"/>
                      </a:endParaRPr>
                    </a:p>
                  </a:txBody>
                  <a:tcPr marL="128016" marR="128016" marT="109728" marB="82296">
                    <a:solidFill>
                      <a:srgbClr val="FFFFFF"/>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server/auth.js creates it. React stores it as banking_token and sends it on later requests.</a:t>
                      </a:r>
                      <a:endParaRPr lang="en-IN" sz="1050" b="0" i="0">
                        <a:solidFill>
                          <a:srgbClr val="F0F0F0"/>
                        </a:solidFill>
                        <a:effectLst/>
                        <a:latin typeface="Segoe WPC"/>
                      </a:endParaRPr>
                    </a:p>
                  </a:txBody>
                  <a:tcPr marL="128016" marR="128016" marT="109728" marB="82296">
                    <a:solidFill>
                      <a:srgbClr val="FFFFFF"/>
                    </a:solidFill>
                  </a:tcPr>
                </a:tc>
                <a:extLst>
                  <a:ext uri="{0D108BD9-81ED-4DB2-BD59-A6C34878D82A}">
                    <a16:rowId xmlns:a16="http://schemas.microsoft.com/office/drawing/2014/main" val="2929587452"/>
                  </a:ext>
                </a:extLst>
              </a:tr>
            </a:tbl>
          </a:graphicData>
        </a:graphic>
      </p:graphicFrame>
    </p:spTree>
    <p:extLst>
      <p:ext uri="{BB962C8B-B14F-4D97-AF65-F5344CB8AC3E}">
        <p14:creationId xmlns:p14="http://schemas.microsoft.com/office/powerpoint/2010/main" val="8309886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2">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4">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17"/>
          <p:cNvSpPr txBox="1"/>
          <p:nvPr/>
        </p:nvSpPr>
        <p:spPr>
          <a:xfrm>
            <a:off x="713232" y="365760"/>
            <a:ext cx="10972800" cy="594360"/>
          </a:xfrm>
          <a:prstGeom prst="rect">
            <a:avLst/>
          </a:prstGeom>
          <a:noFill/>
        </p:spPr>
        <p:txBody>
          <a:bodyPr wrap="square" lIns="0" tIns="0" rIns="0" bIns="0" anchor="t">
            <a:spAutoFit/>
          </a:bodyPr>
          <a:lstStyle/>
          <a:p>
            <a:pPr>
              <a:lnSpc>
                <a:spcPts val="3500"/>
              </a:lnSpc>
              <a:spcBef>
                <a:spcPts val="0"/>
              </a:spcBef>
              <a:spcAft>
                <a:spcPts val="0"/>
              </a:spcAft>
            </a:pPr>
            <a:r>
              <a:rPr sz="3200" b="1">
                <a:solidFill>
                  <a:srgbClr val="FFFFFF"/>
                </a:solidFill>
              </a:rPr>
              <a:t>Banking app concepts</a:t>
            </a:r>
          </a:p>
        </p:txBody>
      </p:sp>
      <p:sp>
        <p:nvSpPr>
          <p:cNvPr id="6" name="TextBox 18"/>
          <p:cNvSpPr txBox="1"/>
          <p:nvPr/>
        </p:nvSpPr>
        <p:spPr>
          <a:xfrm>
            <a:off x="594360" y="1143000"/>
            <a:ext cx="54864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Concept reference 2 of 3</a:t>
            </a:r>
          </a:p>
        </p:txBody>
      </p:sp>
      <p:graphicFrame>
        <p:nvGraphicFramePr>
          <p:cNvPr id="7" name="Content Placeholder 3">
            <a:extLst>
              <a:ext uri="{FF2B5EF4-FFF2-40B4-BE49-F238E27FC236}">
                <a16:creationId xmlns:a16="http://schemas.microsoft.com/office/drawing/2014/main" id="{4445418C-91C3-2E0D-2A53-4F37B891DF30}"/>
              </a:ext>
            </a:extLst>
          </p:cNvPr>
          <p:cNvGraphicFramePr>
            <a:graphicFrameLocks noGrp="1"/>
          </p:cNvGraphicFramePr>
          <p:nvPr>
            <p:ph idx="1"/>
            <p:extLst>
              <p:ext uri="{D42A27DB-BD31-4B8C-83A1-F6EECF244321}">
                <p14:modId xmlns:p14="http://schemas.microsoft.com/office/powerpoint/2010/main" val="1369642502"/>
              </p:ext>
            </p:extLst>
          </p:nvPr>
        </p:nvGraphicFramePr>
        <p:xfrm>
          <a:off x="457200" y="1783080"/>
          <a:ext cx="11274552" cy="4754880"/>
        </p:xfrm>
        <a:graphic>
          <a:graphicData uri="http://schemas.openxmlformats.org/drawingml/2006/table">
            <a:tbl>
              <a:tblPr>
                <a:tableStyleId>{5C22544A-7EE6-4342-B048-85BDC9FD1C3A}</a:tableStyleId>
              </a:tblPr>
              <a:tblGrid>
                <a:gridCol w="1865376">
                  <a:extLst>
                    <a:ext uri="{9D8B030D-6E8A-4147-A177-3AD203B41FA5}">
                      <a16:colId xmlns:a16="http://schemas.microsoft.com/office/drawing/2014/main" val="1821425524"/>
                    </a:ext>
                  </a:extLst>
                </a:gridCol>
                <a:gridCol w="4023360">
                  <a:extLst>
                    <a:ext uri="{9D8B030D-6E8A-4147-A177-3AD203B41FA5}">
                      <a16:colId xmlns:a16="http://schemas.microsoft.com/office/drawing/2014/main" val="2487578819"/>
                    </a:ext>
                  </a:extLst>
                </a:gridCol>
                <a:gridCol w="5385816">
                  <a:extLst>
                    <a:ext uri="{9D8B030D-6E8A-4147-A177-3AD203B41FA5}">
                      <a16:colId xmlns:a16="http://schemas.microsoft.com/office/drawing/2014/main" val="568689609"/>
                    </a:ext>
                  </a:extLst>
                </a:gridCol>
              </a:tblGrid>
              <a:tr h="438912">
                <a:tc>
                  <a:txBody>
                    <a:bodyPr/>
                    <a:lstStyle/>
                    <a:p>
                      <a:pPr algn="l" fontAlgn="t">
                        <a:lnSpc>
                          <a:spcPts val="1850"/>
                        </a:lnSpc>
                        <a:spcBef>
                          <a:spcPts val="0"/>
                        </a:spcBef>
                        <a:spcAft>
                          <a:spcPts val="0"/>
                        </a:spcAft>
                        <a:buNone/>
                      </a:pPr>
                      <a:r>
                        <a:rPr lang="en-IN" sz="1600" b="1">
                          <a:solidFill>
                            <a:srgbClr val="FFFFFF"/>
                          </a:solidFill>
                          <a:effectLst/>
                          <a:latin typeface="Aptos"/>
                        </a:rPr>
                        <a:t>Concept</a:t>
                      </a:r>
                      <a:endParaRPr lang="en-IN" sz="1050" b="0" i="0">
                        <a:solidFill>
                          <a:srgbClr val="F0F0F0"/>
                        </a:solidFill>
                        <a:effectLst/>
                        <a:latin typeface="Segoe WPC"/>
                      </a:endParaRPr>
                    </a:p>
                  </a:txBody>
                  <a:tcPr marL="128016" marR="128016" marT="109728" marB="82296">
                    <a:solidFill>
                      <a:srgbClr val="173D50"/>
                    </a:solidFill>
                  </a:tcPr>
                </a:tc>
                <a:tc>
                  <a:txBody>
                    <a:bodyPr/>
                    <a:lstStyle/>
                    <a:p>
                      <a:pPr algn="l" fontAlgn="t">
                        <a:lnSpc>
                          <a:spcPts val="1850"/>
                        </a:lnSpc>
                        <a:spcBef>
                          <a:spcPts val="0"/>
                        </a:spcBef>
                        <a:spcAft>
                          <a:spcPts val="0"/>
                        </a:spcAft>
                        <a:buNone/>
                      </a:pPr>
                      <a:r>
                        <a:rPr lang="en-IN" sz="1600" b="1">
                          <a:solidFill>
                            <a:srgbClr val="FFFFFF"/>
                          </a:solidFill>
                          <a:effectLst/>
                          <a:latin typeface="Aptos"/>
                        </a:rPr>
                        <a:t>Plain meaning</a:t>
                      </a:r>
                      <a:endParaRPr lang="en-IN" sz="1050" b="0" i="0">
                        <a:solidFill>
                          <a:srgbClr val="F0F0F0"/>
                        </a:solidFill>
                        <a:effectLst/>
                        <a:latin typeface="Segoe WPC"/>
                      </a:endParaRPr>
                    </a:p>
                  </a:txBody>
                  <a:tcPr marL="128016" marR="128016" marT="109728" marB="82296">
                    <a:solidFill>
                      <a:srgbClr val="173D50"/>
                    </a:solidFill>
                  </a:tcPr>
                </a:tc>
                <a:tc>
                  <a:txBody>
                    <a:bodyPr/>
                    <a:lstStyle/>
                    <a:p>
                      <a:pPr algn="l" fontAlgn="t">
                        <a:lnSpc>
                          <a:spcPts val="1850"/>
                        </a:lnSpc>
                        <a:spcBef>
                          <a:spcPts val="0"/>
                        </a:spcBef>
                        <a:spcAft>
                          <a:spcPts val="0"/>
                        </a:spcAft>
                        <a:buNone/>
                      </a:pPr>
                      <a:r>
                        <a:rPr lang="en-IN" sz="1600" b="1">
                          <a:solidFill>
                            <a:srgbClr val="FFFFFF"/>
                          </a:solidFill>
                          <a:effectLst/>
                          <a:latin typeface="Aptos"/>
                        </a:rPr>
                        <a:t>Where it shows up</a:t>
                      </a:r>
                      <a:endParaRPr lang="en-IN" sz="1050" b="0" i="0">
                        <a:solidFill>
                          <a:srgbClr val="F0F0F0"/>
                        </a:solidFill>
                        <a:effectLst/>
                        <a:latin typeface="Segoe WPC"/>
                      </a:endParaRPr>
                    </a:p>
                  </a:txBody>
                  <a:tcPr marL="128016" marR="128016" marT="109728" marB="82296">
                    <a:solidFill>
                      <a:srgbClr val="173D50"/>
                    </a:solidFill>
                  </a:tcPr>
                </a:tc>
                <a:extLst>
                  <a:ext uri="{0D108BD9-81ED-4DB2-BD59-A6C34878D82A}">
                    <a16:rowId xmlns:a16="http://schemas.microsoft.com/office/drawing/2014/main" val="3327697577"/>
                  </a:ext>
                </a:extLst>
              </a:tr>
              <a:tr h="1078992">
                <a:tc>
                  <a:txBody>
                    <a:bodyPr/>
                    <a:lstStyle/>
                    <a:p>
                      <a:pPr algn="l" fontAlgn="t" latinLnBrk="0">
                        <a:lnSpc>
                          <a:spcPts val="1850"/>
                        </a:lnSpc>
                        <a:spcBef>
                          <a:spcPts val="0"/>
                        </a:spcBef>
                        <a:spcAft>
                          <a:spcPts val="0"/>
                        </a:spcAft>
                        <a:buNone/>
                      </a:pPr>
                      <a:r>
                        <a:rPr lang="en-IN" sz="1600" b="1">
                          <a:solidFill>
                            <a:srgbClr val="172C42"/>
                          </a:solidFill>
                          <a:effectLst/>
                          <a:latin typeface="Aptos"/>
                        </a:rPr>
                        <a:t>Password hash</a:t>
                      </a:r>
                      <a:endParaRPr lang="en-IN" sz="1050" b="0" i="0">
                        <a:solidFill>
                          <a:srgbClr val="F0F0F0"/>
                        </a:solidFill>
                        <a:effectLst/>
                        <a:latin typeface="Segoe WPC"/>
                      </a:endParaRPr>
                    </a:p>
                  </a:txBody>
                  <a:tcPr marL="128016" marR="128016" marT="109728" marB="82296">
                    <a:solidFill>
                      <a:srgbClr val="F0F4F6"/>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The stored password is scrambled, so the cabinet never keeps Test1234! itself</a:t>
                      </a:r>
                      <a:endParaRPr lang="en-IN" sz="1050" b="0" i="0">
                        <a:solidFill>
                          <a:srgbClr val="F0F0F0"/>
                        </a:solidFill>
                        <a:effectLst/>
                        <a:latin typeface="Segoe WPC"/>
                      </a:endParaRPr>
                    </a:p>
                  </a:txBody>
                  <a:tcPr marL="128016" marR="128016" marT="109728" marB="82296">
                    <a:solidFill>
                      <a:srgbClr val="F0F4F6"/>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Login uses bcrypt.compare in server/index.js.</a:t>
                      </a:r>
                      <a:endParaRPr lang="en-IN" sz="1050" b="0" i="0">
                        <a:solidFill>
                          <a:srgbClr val="F0F0F0"/>
                        </a:solidFill>
                        <a:effectLst/>
                        <a:latin typeface="Segoe WPC"/>
                      </a:endParaRPr>
                    </a:p>
                  </a:txBody>
                  <a:tcPr marL="128016" marR="128016" marT="109728" marB="82296">
                    <a:solidFill>
                      <a:srgbClr val="F0F4F6"/>
                    </a:solidFill>
                  </a:tcPr>
                </a:tc>
                <a:extLst>
                  <a:ext uri="{0D108BD9-81ED-4DB2-BD59-A6C34878D82A}">
                    <a16:rowId xmlns:a16="http://schemas.microsoft.com/office/drawing/2014/main" val="2718931030"/>
                  </a:ext>
                </a:extLst>
              </a:tr>
              <a:tr h="1078992">
                <a:tc>
                  <a:txBody>
                    <a:bodyPr/>
                    <a:lstStyle/>
                    <a:p>
                      <a:pPr algn="l" fontAlgn="t" latinLnBrk="0">
                        <a:lnSpc>
                          <a:spcPts val="1850"/>
                        </a:lnSpc>
                        <a:spcBef>
                          <a:spcPts val="0"/>
                        </a:spcBef>
                        <a:spcAft>
                          <a:spcPts val="0"/>
                        </a:spcAft>
                        <a:buNone/>
                      </a:pPr>
                      <a:r>
                        <a:rPr lang="en-IN" sz="1600" b="1">
                          <a:solidFill>
                            <a:srgbClr val="172C42"/>
                          </a:solidFill>
                          <a:effectLst/>
                          <a:latin typeface="Aptos"/>
                        </a:rPr>
                        <a:t>Async and await</a:t>
                      </a:r>
                      <a:endParaRPr lang="en-IN" sz="1050" b="0" i="0">
                        <a:solidFill>
                          <a:srgbClr val="F0F0F0"/>
                        </a:solidFill>
                        <a:effectLst/>
                        <a:latin typeface="Segoe WPC"/>
                      </a:endParaRPr>
                    </a:p>
                  </a:txBody>
                  <a:tcPr marL="128016" marR="128016" marT="109728" marB="82296">
                    <a:solidFill>
                      <a:srgbClr val="FFFFFF"/>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Pause until MongoDB answers, then continue</a:t>
                      </a:r>
                      <a:endParaRPr lang="en-IN" sz="1050" b="0" i="0">
                        <a:solidFill>
                          <a:srgbClr val="F0F0F0"/>
                        </a:solidFill>
                        <a:effectLst/>
                        <a:latin typeface="Segoe WPC"/>
                      </a:endParaRPr>
                    </a:p>
                  </a:txBody>
                  <a:tcPr marL="128016" marR="128016" marT="109728" marB="82296">
                    <a:solidFill>
                      <a:srgbClr val="FFFFFF"/>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await db.collection('accounts').findOne(...) in server/banking.js.</a:t>
                      </a:r>
                      <a:endParaRPr lang="en-IN" sz="1050" b="0" i="0">
                        <a:solidFill>
                          <a:srgbClr val="F0F0F0"/>
                        </a:solidFill>
                        <a:effectLst/>
                        <a:latin typeface="Segoe WPC"/>
                      </a:endParaRPr>
                    </a:p>
                  </a:txBody>
                  <a:tcPr marL="128016" marR="128016" marT="109728" marB="82296">
                    <a:solidFill>
                      <a:srgbClr val="FFFFFF"/>
                    </a:solidFill>
                  </a:tcPr>
                </a:tc>
                <a:extLst>
                  <a:ext uri="{0D108BD9-81ED-4DB2-BD59-A6C34878D82A}">
                    <a16:rowId xmlns:a16="http://schemas.microsoft.com/office/drawing/2014/main" val="3195183277"/>
                  </a:ext>
                </a:extLst>
              </a:tr>
              <a:tr h="1078992">
                <a:tc>
                  <a:txBody>
                    <a:bodyPr/>
                    <a:lstStyle/>
                    <a:p>
                      <a:pPr algn="l" fontAlgn="t" latinLnBrk="0">
                        <a:lnSpc>
                          <a:spcPts val="1850"/>
                        </a:lnSpc>
                        <a:spcBef>
                          <a:spcPts val="0"/>
                        </a:spcBef>
                        <a:spcAft>
                          <a:spcPts val="0"/>
                        </a:spcAft>
                        <a:buNone/>
                      </a:pPr>
                      <a:r>
                        <a:rPr lang="en-IN" sz="1600" b="1">
                          <a:solidFill>
                            <a:srgbClr val="172C42"/>
                          </a:solidFill>
                          <a:effectLst/>
                          <a:latin typeface="Aptos"/>
                        </a:rPr>
                        <a:t>Environment variable</a:t>
                      </a:r>
                      <a:endParaRPr lang="en-IN" sz="1050" b="0" i="0">
                        <a:solidFill>
                          <a:srgbClr val="F0F0F0"/>
                        </a:solidFill>
                        <a:effectLst/>
                        <a:latin typeface="Segoe WPC"/>
                      </a:endParaRPr>
                    </a:p>
                  </a:txBody>
                  <a:tcPr marL="128016" marR="128016" marT="109728" marB="82296">
                    <a:solidFill>
                      <a:srgbClr val="F0F4F6"/>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A secret kept outside the code</a:t>
                      </a:r>
                      <a:endParaRPr lang="en-IN" sz="1050" b="0" i="0">
                        <a:solidFill>
                          <a:srgbClr val="F0F0F0"/>
                        </a:solidFill>
                        <a:effectLst/>
                        <a:latin typeface="Segoe WPC"/>
                      </a:endParaRPr>
                    </a:p>
                  </a:txBody>
                  <a:tcPr marL="128016" marR="128016" marT="109728" marB="82296">
                    <a:solidFill>
                      <a:srgbClr val="F0F4F6"/>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MONGODB_URI and JWT_SECRET live in .env. server/db.js reads the cabinet address from there.</a:t>
                      </a:r>
                      <a:endParaRPr lang="en-IN" sz="1050" b="0" i="0">
                        <a:solidFill>
                          <a:srgbClr val="F0F0F0"/>
                        </a:solidFill>
                        <a:effectLst/>
                        <a:latin typeface="Segoe WPC"/>
                      </a:endParaRPr>
                    </a:p>
                  </a:txBody>
                  <a:tcPr marL="128016" marR="128016" marT="109728" marB="82296">
                    <a:solidFill>
                      <a:srgbClr val="F0F4F6"/>
                    </a:solidFill>
                  </a:tcPr>
                </a:tc>
                <a:extLst>
                  <a:ext uri="{0D108BD9-81ED-4DB2-BD59-A6C34878D82A}">
                    <a16:rowId xmlns:a16="http://schemas.microsoft.com/office/drawing/2014/main" val="233808387"/>
                  </a:ext>
                </a:extLst>
              </a:tr>
              <a:tr h="1078992">
                <a:tc>
                  <a:txBody>
                    <a:bodyPr/>
                    <a:lstStyle/>
                    <a:p>
                      <a:pPr algn="l" fontAlgn="t" latinLnBrk="0">
                        <a:lnSpc>
                          <a:spcPts val="1850"/>
                        </a:lnSpc>
                        <a:spcBef>
                          <a:spcPts val="0"/>
                        </a:spcBef>
                        <a:spcAft>
                          <a:spcPts val="0"/>
                        </a:spcAft>
                        <a:buNone/>
                      </a:pPr>
                      <a:r>
                        <a:rPr lang="en-IN" sz="1600" b="1">
                          <a:solidFill>
                            <a:srgbClr val="172C42"/>
                          </a:solidFill>
                          <a:effectLst/>
                          <a:latin typeface="Aptos"/>
                        </a:rPr>
                        <a:t>Status code</a:t>
                      </a:r>
                      <a:endParaRPr lang="en-IN" sz="1050" b="0" i="0">
                        <a:solidFill>
                          <a:srgbClr val="F0F0F0"/>
                        </a:solidFill>
                        <a:effectLst/>
                        <a:latin typeface="Segoe WPC"/>
                      </a:endParaRPr>
                    </a:p>
                  </a:txBody>
                  <a:tcPr marL="128016" marR="128016" marT="109728" marB="82296">
                    <a:solidFill>
                      <a:srgbClr val="FFFFFF"/>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A number that tells the page how the job ended</a:t>
                      </a:r>
                      <a:endParaRPr lang="en-IN" sz="1050" b="0" i="0">
                        <a:solidFill>
                          <a:srgbClr val="F0F0F0"/>
                        </a:solidFill>
                        <a:effectLst/>
                        <a:latin typeface="Segoe WPC"/>
                      </a:endParaRPr>
                    </a:p>
                  </a:txBody>
                  <a:tcPr marL="128016" marR="128016" marT="109728" marB="82296">
                    <a:solidFill>
                      <a:srgbClr val="FFFFFF"/>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401 means log in again. 403 means this role cannot do that. 400 means the amount or the account is not acceptable.</a:t>
                      </a:r>
                      <a:endParaRPr lang="en-IN" sz="1050" b="0" i="0">
                        <a:solidFill>
                          <a:srgbClr val="F0F0F0"/>
                        </a:solidFill>
                        <a:effectLst/>
                        <a:latin typeface="Segoe WPC"/>
                      </a:endParaRPr>
                    </a:p>
                  </a:txBody>
                  <a:tcPr marL="128016" marR="128016" marT="109728" marB="82296">
                    <a:solidFill>
                      <a:srgbClr val="FFFFFF"/>
                    </a:solidFill>
                  </a:tcPr>
                </a:tc>
                <a:extLst>
                  <a:ext uri="{0D108BD9-81ED-4DB2-BD59-A6C34878D82A}">
                    <a16:rowId xmlns:a16="http://schemas.microsoft.com/office/drawing/2014/main" val="2929587452"/>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2">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4">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17"/>
          <p:cNvSpPr txBox="1"/>
          <p:nvPr/>
        </p:nvSpPr>
        <p:spPr>
          <a:xfrm>
            <a:off x="713232" y="365760"/>
            <a:ext cx="10972800" cy="594360"/>
          </a:xfrm>
          <a:prstGeom prst="rect">
            <a:avLst/>
          </a:prstGeom>
          <a:noFill/>
        </p:spPr>
        <p:txBody>
          <a:bodyPr wrap="square" lIns="0" tIns="0" rIns="0" bIns="0" anchor="t">
            <a:spAutoFit/>
          </a:bodyPr>
          <a:lstStyle/>
          <a:p>
            <a:pPr>
              <a:lnSpc>
                <a:spcPts val="3500"/>
              </a:lnSpc>
              <a:spcBef>
                <a:spcPts val="0"/>
              </a:spcBef>
              <a:spcAft>
                <a:spcPts val="0"/>
              </a:spcAft>
            </a:pPr>
            <a:r>
              <a:rPr sz="3200" b="1">
                <a:solidFill>
                  <a:srgbClr val="FFFFFF"/>
                </a:solidFill>
              </a:rPr>
              <a:t>Banking app concepts</a:t>
            </a:r>
          </a:p>
        </p:txBody>
      </p:sp>
      <p:sp>
        <p:nvSpPr>
          <p:cNvPr id="6" name="TextBox 18"/>
          <p:cNvSpPr txBox="1"/>
          <p:nvPr/>
        </p:nvSpPr>
        <p:spPr>
          <a:xfrm>
            <a:off x="594360" y="1143000"/>
            <a:ext cx="54864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Concept reference 3 of 3</a:t>
            </a:r>
          </a:p>
        </p:txBody>
      </p:sp>
      <p:graphicFrame>
        <p:nvGraphicFramePr>
          <p:cNvPr id="7" name="Content Placeholder 3">
            <a:extLst>
              <a:ext uri="{FF2B5EF4-FFF2-40B4-BE49-F238E27FC236}">
                <a16:creationId xmlns:a16="http://schemas.microsoft.com/office/drawing/2014/main" id="{4445418C-91C3-2E0D-2A53-4F37B891DF30}"/>
              </a:ext>
            </a:extLst>
          </p:cNvPr>
          <p:cNvGraphicFramePr>
            <a:graphicFrameLocks noGrp="1"/>
          </p:cNvGraphicFramePr>
          <p:nvPr>
            <p:ph idx="1"/>
            <p:extLst>
              <p:ext uri="{D42A27DB-BD31-4B8C-83A1-F6EECF244321}">
                <p14:modId xmlns:p14="http://schemas.microsoft.com/office/powerpoint/2010/main" val="1369642502"/>
              </p:ext>
            </p:extLst>
          </p:nvPr>
        </p:nvGraphicFramePr>
        <p:xfrm>
          <a:off x="457200" y="1783080"/>
          <a:ext cx="11274552" cy="4754880"/>
        </p:xfrm>
        <a:graphic>
          <a:graphicData uri="http://schemas.openxmlformats.org/drawingml/2006/table">
            <a:tbl>
              <a:tblPr>
                <a:tableStyleId>{5C22544A-7EE6-4342-B048-85BDC9FD1C3A}</a:tableStyleId>
              </a:tblPr>
              <a:tblGrid>
                <a:gridCol w="1865376">
                  <a:extLst>
                    <a:ext uri="{9D8B030D-6E8A-4147-A177-3AD203B41FA5}">
                      <a16:colId xmlns:a16="http://schemas.microsoft.com/office/drawing/2014/main" val="1821425524"/>
                    </a:ext>
                  </a:extLst>
                </a:gridCol>
                <a:gridCol w="4023360">
                  <a:extLst>
                    <a:ext uri="{9D8B030D-6E8A-4147-A177-3AD203B41FA5}">
                      <a16:colId xmlns:a16="http://schemas.microsoft.com/office/drawing/2014/main" val="2487578819"/>
                    </a:ext>
                  </a:extLst>
                </a:gridCol>
                <a:gridCol w="5385816">
                  <a:extLst>
                    <a:ext uri="{9D8B030D-6E8A-4147-A177-3AD203B41FA5}">
                      <a16:colId xmlns:a16="http://schemas.microsoft.com/office/drawing/2014/main" val="568689609"/>
                    </a:ext>
                  </a:extLst>
                </a:gridCol>
              </a:tblGrid>
              <a:tr h="438912">
                <a:tc>
                  <a:txBody>
                    <a:bodyPr/>
                    <a:lstStyle/>
                    <a:p>
                      <a:pPr algn="l" fontAlgn="t">
                        <a:lnSpc>
                          <a:spcPts val="1850"/>
                        </a:lnSpc>
                        <a:spcBef>
                          <a:spcPts val="0"/>
                        </a:spcBef>
                        <a:spcAft>
                          <a:spcPts val="0"/>
                        </a:spcAft>
                        <a:buNone/>
                      </a:pPr>
                      <a:r>
                        <a:rPr lang="en-IN" sz="1600" b="1">
                          <a:solidFill>
                            <a:srgbClr val="FFFFFF"/>
                          </a:solidFill>
                          <a:effectLst/>
                          <a:latin typeface="Aptos"/>
                        </a:rPr>
                        <a:t>Concept</a:t>
                      </a:r>
                      <a:endParaRPr lang="en-IN" sz="1050" b="0" i="0">
                        <a:solidFill>
                          <a:srgbClr val="F0F0F0"/>
                        </a:solidFill>
                        <a:effectLst/>
                        <a:latin typeface="Segoe WPC"/>
                      </a:endParaRPr>
                    </a:p>
                  </a:txBody>
                  <a:tcPr marL="128016" marR="128016" marT="109728" marB="82296">
                    <a:solidFill>
                      <a:srgbClr val="173D50"/>
                    </a:solidFill>
                  </a:tcPr>
                </a:tc>
                <a:tc>
                  <a:txBody>
                    <a:bodyPr/>
                    <a:lstStyle/>
                    <a:p>
                      <a:pPr algn="l" fontAlgn="t">
                        <a:lnSpc>
                          <a:spcPts val="1850"/>
                        </a:lnSpc>
                        <a:spcBef>
                          <a:spcPts val="0"/>
                        </a:spcBef>
                        <a:spcAft>
                          <a:spcPts val="0"/>
                        </a:spcAft>
                        <a:buNone/>
                      </a:pPr>
                      <a:r>
                        <a:rPr lang="en-IN" sz="1600" b="1">
                          <a:solidFill>
                            <a:srgbClr val="FFFFFF"/>
                          </a:solidFill>
                          <a:effectLst/>
                          <a:latin typeface="Aptos"/>
                        </a:rPr>
                        <a:t>Plain meaning</a:t>
                      </a:r>
                      <a:endParaRPr lang="en-IN" sz="1050" b="0" i="0">
                        <a:solidFill>
                          <a:srgbClr val="F0F0F0"/>
                        </a:solidFill>
                        <a:effectLst/>
                        <a:latin typeface="Segoe WPC"/>
                      </a:endParaRPr>
                    </a:p>
                  </a:txBody>
                  <a:tcPr marL="128016" marR="128016" marT="109728" marB="82296">
                    <a:solidFill>
                      <a:srgbClr val="173D50"/>
                    </a:solidFill>
                  </a:tcPr>
                </a:tc>
                <a:tc>
                  <a:txBody>
                    <a:bodyPr/>
                    <a:lstStyle/>
                    <a:p>
                      <a:pPr algn="l" fontAlgn="t">
                        <a:lnSpc>
                          <a:spcPts val="1850"/>
                        </a:lnSpc>
                        <a:spcBef>
                          <a:spcPts val="0"/>
                        </a:spcBef>
                        <a:spcAft>
                          <a:spcPts val="0"/>
                        </a:spcAft>
                        <a:buNone/>
                      </a:pPr>
                      <a:r>
                        <a:rPr lang="en-IN" sz="1600" b="1">
                          <a:solidFill>
                            <a:srgbClr val="FFFFFF"/>
                          </a:solidFill>
                          <a:effectLst/>
                          <a:latin typeface="Aptos"/>
                        </a:rPr>
                        <a:t>Where it shows up</a:t>
                      </a:r>
                      <a:endParaRPr lang="en-IN" sz="1050" b="0" i="0">
                        <a:solidFill>
                          <a:srgbClr val="F0F0F0"/>
                        </a:solidFill>
                        <a:effectLst/>
                        <a:latin typeface="Segoe WPC"/>
                      </a:endParaRPr>
                    </a:p>
                  </a:txBody>
                  <a:tcPr marL="128016" marR="128016" marT="109728" marB="82296">
                    <a:solidFill>
                      <a:srgbClr val="173D50"/>
                    </a:solidFill>
                  </a:tcPr>
                </a:tc>
                <a:extLst>
                  <a:ext uri="{0D108BD9-81ED-4DB2-BD59-A6C34878D82A}">
                    <a16:rowId xmlns:a16="http://schemas.microsoft.com/office/drawing/2014/main" val="3327697577"/>
                  </a:ext>
                </a:extLst>
              </a:tr>
              <a:tr h="1078992">
                <a:tc>
                  <a:txBody>
                    <a:bodyPr/>
                    <a:lstStyle/>
                    <a:p>
                      <a:pPr algn="l" fontAlgn="t" latinLnBrk="0">
                        <a:lnSpc>
                          <a:spcPts val="1850"/>
                        </a:lnSpc>
                        <a:spcBef>
                          <a:spcPts val="0"/>
                        </a:spcBef>
                        <a:spcAft>
                          <a:spcPts val="0"/>
                        </a:spcAft>
                        <a:buNone/>
                      </a:pPr>
                      <a:r>
                        <a:rPr lang="en-IN" sz="1600" b="1">
                          <a:solidFill>
                            <a:srgbClr val="172C42"/>
                          </a:solidFill>
                          <a:effectLst/>
                          <a:latin typeface="Aptos"/>
                        </a:rPr>
                        <a:t>Money in cents</a:t>
                      </a:r>
                      <a:endParaRPr lang="en-IN" sz="1050" b="0" i="0">
                        <a:solidFill>
                          <a:srgbClr val="F0F0F0"/>
                        </a:solidFill>
                        <a:effectLst/>
                        <a:latin typeface="Segoe WPC"/>
                      </a:endParaRPr>
                    </a:p>
                  </a:txBody>
                  <a:tcPr marL="128016" marR="128016" marT="109728" marB="82296">
                    <a:solidFill>
                      <a:srgbClr val="F0F4F6"/>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Store 2500 instead of 25.00 so rounding does not drift</a:t>
                      </a:r>
                      <a:endParaRPr lang="en-IN" sz="1050" b="0" i="0">
                        <a:solidFill>
                          <a:srgbClr val="F0F0F0"/>
                        </a:solidFill>
                        <a:effectLst/>
                        <a:latin typeface="Segoe WPC"/>
                      </a:endParaRPr>
                    </a:p>
                  </a:txBody>
                  <a:tcPr marL="128016" marR="128016" marT="109728" marB="82296">
                    <a:solidFill>
                      <a:srgbClr val="F0F4F6"/>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server/money.js. The screen turns cents back into $25.00.</a:t>
                      </a:r>
                      <a:endParaRPr lang="en-IN" sz="1050" b="0" i="0">
                        <a:solidFill>
                          <a:srgbClr val="F0F0F0"/>
                        </a:solidFill>
                        <a:effectLst/>
                        <a:latin typeface="Segoe WPC"/>
                      </a:endParaRPr>
                    </a:p>
                  </a:txBody>
                  <a:tcPr marL="128016" marR="128016" marT="109728" marB="82296">
                    <a:solidFill>
                      <a:srgbClr val="F0F4F6"/>
                    </a:solidFill>
                  </a:tcPr>
                </a:tc>
                <a:extLst>
                  <a:ext uri="{0D108BD9-81ED-4DB2-BD59-A6C34878D82A}">
                    <a16:rowId xmlns:a16="http://schemas.microsoft.com/office/drawing/2014/main" val="2718931030"/>
                  </a:ext>
                </a:extLst>
              </a:tr>
              <a:tr h="1078992">
                <a:tc>
                  <a:txBody>
                    <a:bodyPr/>
                    <a:lstStyle/>
                    <a:p>
                      <a:pPr algn="l" fontAlgn="t" latinLnBrk="0">
                        <a:lnSpc>
                          <a:spcPts val="1850"/>
                        </a:lnSpc>
                        <a:spcBef>
                          <a:spcPts val="0"/>
                        </a:spcBef>
                        <a:spcAft>
                          <a:spcPts val="0"/>
                        </a:spcAft>
                        <a:buNone/>
                      </a:pPr>
                      <a:r>
                        <a:rPr lang="en-IN" sz="1600" b="1">
                          <a:solidFill>
                            <a:srgbClr val="172C42"/>
                          </a:solidFill>
                          <a:effectLst/>
                          <a:latin typeface="Aptos"/>
                        </a:rPr>
                        <a:t>Database transaction</a:t>
                      </a:r>
                      <a:endParaRPr lang="en-IN" sz="1050" b="0" i="0">
                        <a:solidFill>
                          <a:srgbClr val="F0F0F0"/>
                        </a:solidFill>
                        <a:effectLst/>
                        <a:latin typeface="Segoe WPC"/>
                      </a:endParaRPr>
                    </a:p>
                  </a:txBody>
                  <a:tcPr marL="128016" marR="128016" marT="109728" marB="82296">
                    <a:solidFill>
                      <a:srgbClr val="FFFFFF"/>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Several cabinet writes that succeed or fail together</a:t>
                      </a:r>
                      <a:endParaRPr lang="en-IN" sz="1050" b="0" i="0">
                        <a:solidFill>
                          <a:srgbClr val="F0F0F0"/>
                        </a:solidFill>
                        <a:effectLst/>
                        <a:latin typeface="Segoe WPC"/>
                      </a:endParaRPr>
                    </a:p>
                  </a:txBody>
                  <a:tcPr marL="128016" marR="128016" marT="109728" marB="82296">
                    <a:solidFill>
                      <a:srgbClr val="FFFFFF"/>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A transfer takes money from one account and adds it to the other inside withSession in server/banking.js.</a:t>
                      </a:r>
                      <a:endParaRPr lang="en-IN" sz="1050" b="0" i="0">
                        <a:solidFill>
                          <a:srgbClr val="F0F0F0"/>
                        </a:solidFill>
                        <a:effectLst/>
                        <a:latin typeface="Segoe WPC"/>
                      </a:endParaRPr>
                    </a:p>
                  </a:txBody>
                  <a:tcPr marL="128016" marR="128016" marT="109728" marB="82296">
                    <a:solidFill>
                      <a:srgbClr val="FFFFFF"/>
                    </a:solidFill>
                  </a:tcPr>
                </a:tc>
                <a:extLst>
                  <a:ext uri="{0D108BD9-81ED-4DB2-BD59-A6C34878D82A}">
                    <a16:rowId xmlns:a16="http://schemas.microsoft.com/office/drawing/2014/main" val="3195183277"/>
                  </a:ext>
                </a:extLst>
              </a:tr>
              <a:tr h="1078992">
                <a:tc>
                  <a:txBody>
                    <a:bodyPr/>
                    <a:lstStyle/>
                    <a:p>
                      <a:pPr algn="l" fontAlgn="t" latinLnBrk="0">
                        <a:lnSpc>
                          <a:spcPts val="1850"/>
                        </a:lnSpc>
                        <a:spcBef>
                          <a:spcPts val="0"/>
                        </a:spcBef>
                        <a:spcAft>
                          <a:spcPts val="0"/>
                        </a:spcAft>
                        <a:buNone/>
                      </a:pPr>
                      <a:r>
                        <a:rPr lang="en-IN" sz="1600" b="1">
                          <a:solidFill>
                            <a:srgbClr val="172C42"/>
                          </a:solidFill>
                          <a:effectLst/>
                          <a:latin typeface="Aptos"/>
                        </a:rPr>
                        <a:t>Props</a:t>
                      </a:r>
                      <a:endParaRPr lang="en-IN" sz="1050" b="0" i="0">
                        <a:solidFill>
                          <a:srgbClr val="F0F0F0"/>
                        </a:solidFill>
                        <a:effectLst/>
                        <a:latin typeface="Segoe WPC"/>
                      </a:endParaRPr>
                    </a:p>
                  </a:txBody>
                  <a:tcPr marL="128016" marR="128016" marT="109728" marB="82296">
                    <a:solidFill>
                      <a:srgbClr val="F0F4F6"/>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Values a parent screen hands to a child screen</a:t>
                      </a:r>
                      <a:endParaRPr lang="en-IN" sz="1050" b="0" i="0">
                        <a:solidFill>
                          <a:srgbClr val="F0F0F0"/>
                        </a:solidFill>
                        <a:effectLst/>
                        <a:latin typeface="Segoe WPC"/>
                      </a:endParaRPr>
                    </a:p>
                  </a:txBody>
                  <a:tcPr marL="128016" marR="128016" marT="109728" marB="82296">
                    <a:solidFill>
                      <a:srgbClr val="F0F4F6"/>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App.jsx passes session into CustomerView.</a:t>
                      </a:r>
                      <a:endParaRPr lang="en-IN" sz="1050" b="0" i="0">
                        <a:solidFill>
                          <a:srgbClr val="F0F0F0"/>
                        </a:solidFill>
                        <a:effectLst/>
                        <a:latin typeface="Segoe WPC"/>
                      </a:endParaRPr>
                    </a:p>
                  </a:txBody>
                  <a:tcPr marL="128016" marR="128016" marT="109728" marB="82296">
                    <a:solidFill>
                      <a:srgbClr val="F0F4F6"/>
                    </a:solidFill>
                  </a:tcPr>
                </a:tc>
                <a:extLst>
                  <a:ext uri="{0D108BD9-81ED-4DB2-BD59-A6C34878D82A}">
                    <a16:rowId xmlns:a16="http://schemas.microsoft.com/office/drawing/2014/main" val="233808387"/>
                  </a:ext>
                </a:extLst>
              </a:tr>
              <a:tr h="1078992">
                <a:tc>
                  <a:txBody>
                    <a:bodyPr/>
                    <a:lstStyle/>
                    <a:p>
                      <a:pPr algn="l" fontAlgn="t" latinLnBrk="0">
                        <a:lnSpc>
                          <a:spcPts val="1850"/>
                        </a:lnSpc>
                        <a:spcBef>
                          <a:spcPts val="0"/>
                        </a:spcBef>
                        <a:spcAft>
                          <a:spcPts val="0"/>
                        </a:spcAft>
                        <a:buNone/>
                      </a:pPr>
                      <a:r>
                        <a:rPr lang="en-IN" sz="1600" b="1">
                          <a:solidFill>
                            <a:srgbClr val="172C42"/>
                          </a:solidFill>
                          <a:effectLst/>
                          <a:latin typeface="Aptos"/>
                        </a:rPr>
                        <a:t>useEffect</a:t>
                      </a:r>
                      <a:endParaRPr lang="en-IN" sz="1050" b="0" i="0">
                        <a:solidFill>
                          <a:srgbClr val="F0F0F0"/>
                        </a:solidFill>
                        <a:effectLst/>
                        <a:latin typeface="Segoe WPC"/>
                      </a:endParaRPr>
                    </a:p>
                  </a:txBody>
                  <a:tcPr marL="128016" marR="128016" marT="109728" marB="82296">
                    <a:solidFill>
                      <a:srgbClr val="FFFFFF"/>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Work that runs after the screen appears</a:t>
                      </a:r>
                      <a:endParaRPr lang="en-IN" sz="1050" b="0" i="0">
                        <a:solidFill>
                          <a:srgbClr val="F0F0F0"/>
                        </a:solidFill>
                        <a:effectLst/>
                        <a:latin typeface="Segoe WPC"/>
                      </a:endParaRPr>
                    </a:p>
                  </a:txBody>
                  <a:tcPr marL="128016" marR="128016" marT="109728" marB="82296">
                    <a:solidFill>
                      <a:srgbClr val="FFFFFF"/>
                    </a:solidFill>
                  </a:tcPr>
                </a:tc>
                <a:tc>
                  <a:txBody>
                    <a:bodyPr/>
                    <a:lstStyle/>
                    <a:p>
                      <a:pPr algn="l" fontAlgn="t" latinLnBrk="0">
                        <a:lnSpc>
                          <a:spcPts val="1850"/>
                        </a:lnSpc>
                        <a:spcBef>
                          <a:spcPts val="0"/>
                        </a:spcBef>
                        <a:spcAft>
                          <a:spcPts val="0"/>
                        </a:spcAft>
                        <a:buNone/>
                      </a:pPr>
                      <a:r>
                        <a:rPr lang="en-IN" sz="1600" b="0">
                          <a:solidFill>
                            <a:srgbClr val="172C42"/>
                          </a:solidFill>
                          <a:effectLst/>
                          <a:latin typeface="Aptos"/>
                        </a:rPr>
                        <a:t>On load, App.jsx calls GET /api/me if a login slip is already saved.</a:t>
                      </a:r>
                      <a:endParaRPr lang="en-IN" sz="1050" b="0" i="0">
                        <a:solidFill>
                          <a:srgbClr val="F0F0F0"/>
                        </a:solidFill>
                        <a:effectLst/>
                        <a:latin typeface="Segoe WPC"/>
                      </a:endParaRPr>
                    </a:p>
                  </a:txBody>
                  <a:tcPr marL="128016" marR="128016" marT="109728" marB="82296">
                    <a:solidFill>
                      <a:srgbClr val="FFFFFF"/>
                    </a:solidFill>
                  </a:tcPr>
                </a:tc>
                <a:extLst>
                  <a:ext uri="{0D108BD9-81ED-4DB2-BD59-A6C34878D82A}">
                    <a16:rowId xmlns:a16="http://schemas.microsoft.com/office/drawing/2014/main" val="2929587452"/>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dirty="0">
                <a:solidFill>
                  <a:srgbClr val="172C42"/>
                </a:solidFill>
              </a:rPr>
              <a:t>Testing types</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321451747"/>
              </p:ext>
            </p:extLst>
          </p:nvPr>
        </p:nvGraphicFramePr>
        <p:xfrm>
          <a:off x="594360" y="1143000"/>
          <a:ext cx="11000231" cy="5635752"/>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5513832">
                  <a:extLst>
                    <a:ext uri="{9D8B030D-6E8A-4147-A177-3AD203B41FA5}">
                      <a16:colId xmlns:a16="http://schemas.microsoft.com/office/drawing/2014/main" val="20002"/>
                    </a:ext>
                  </a:extLst>
                </a:gridCol>
              </a:tblGrid>
              <a:tr h="438912">
                <a:tc>
                  <a:txBody>
                    <a:bodyPr/>
                    <a:lstStyle/>
                    <a:p>
                      <a:pPr algn="l">
                        <a:lnSpc>
                          <a:spcPts val="2100"/>
                        </a:lnSpc>
                        <a:spcBef>
                          <a:spcPts val="0"/>
                        </a:spcBef>
                        <a:spcAft>
                          <a:spcPts val="0"/>
                        </a:spcAft>
                      </a:pPr>
                      <a:r>
                        <a:rPr sz="1700" b="1">
                          <a:solidFill>
                            <a:srgbClr val="FFFFFF"/>
                          </a:solidFill>
                        </a:rPr>
                        <a:t>Type</a:t>
                      </a:r>
                    </a:p>
                  </a:txBody>
                  <a:tcPr marL="164592" marR="164592" marT="73152" marB="73152">
                    <a:lnL>
                      <a:noFill/>
                    </a:lnL>
                    <a:lnR>
                      <a:noFill/>
                    </a:lnR>
                    <a:lnT>
                      <a:noFill/>
                    </a:lnT>
                    <a:lnB>
                      <a:noFill/>
                    </a:lnB>
                    <a:solidFill>
                      <a:srgbClr val="172C42"/>
                    </a:solidFill>
                  </a:tcPr>
                </a:tc>
                <a:tc>
                  <a:txBody>
                    <a:bodyPr/>
                    <a:lstStyle/>
                    <a:p>
                      <a:pPr algn="l">
                        <a:lnSpc>
                          <a:spcPts val="2100"/>
                        </a:lnSpc>
                        <a:spcBef>
                          <a:spcPts val="0"/>
                        </a:spcBef>
                        <a:spcAft>
                          <a:spcPts val="0"/>
                        </a:spcAft>
                      </a:pPr>
                      <a:r>
                        <a:rPr sz="1700" b="1">
                          <a:solidFill>
                            <a:srgbClr val="FFFFFF"/>
                          </a:solidFill>
                        </a:rPr>
                        <a:t>What is checked</a:t>
                      </a:r>
                    </a:p>
                  </a:txBody>
                  <a:tcPr marL="164592" marR="164592" marT="73152" marB="73152">
                    <a:lnL>
                      <a:noFill/>
                    </a:lnL>
                    <a:lnR>
                      <a:noFill/>
                    </a:lnR>
                    <a:lnT>
                      <a:noFill/>
                    </a:lnT>
                    <a:lnB>
                      <a:noFill/>
                    </a:lnB>
                    <a:solidFill>
                      <a:srgbClr val="172C42"/>
                    </a:solidFill>
                  </a:tcPr>
                </a:tc>
                <a:tc>
                  <a:txBody>
                    <a:bodyPr/>
                    <a:lstStyle/>
                    <a:p>
                      <a:pPr algn="l">
                        <a:lnSpc>
                          <a:spcPts val="2100"/>
                        </a:lnSpc>
                        <a:spcBef>
                          <a:spcPts val="0"/>
                        </a:spcBef>
                        <a:spcAft>
                          <a:spcPts val="0"/>
                        </a:spcAft>
                      </a:pPr>
                      <a:r>
                        <a:rPr sz="1700" b="1">
                          <a:solidFill>
                            <a:srgbClr val="FFFFFF"/>
                          </a:solidFill>
                        </a:rPr>
                        <a:t>In this bank</a:t>
                      </a:r>
                    </a:p>
                  </a:txBody>
                  <a:tcPr marL="164592" marR="164592" marT="73152" marB="73152">
                    <a:lnL>
                      <a:noFill/>
                    </a:lnL>
                    <a:lnR>
                      <a:noFill/>
                    </a:lnR>
                    <a:lnT>
                      <a:noFill/>
                    </a:lnT>
                    <a:lnB>
                      <a:noFill/>
                    </a:lnB>
                    <a:solidFill>
                      <a:srgbClr val="172C42"/>
                    </a:solidFill>
                  </a:tcPr>
                </a:tc>
                <a:extLst>
                  <a:ext uri="{0D108BD9-81ED-4DB2-BD59-A6C34878D82A}">
                    <a16:rowId xmlns:a16="http://schemas.microsoft.com/office/drawing/2014/main" val="10000"/>
                  </a:ext>
                </a:extLst>
              </a:tr>
              <a:tr h="694944">
                <a:tc>
                  <a:txBody>
                    <a:bodyPr/>
                    <a:lstStyle/>
                    <a:p>
                      <a:pPr algn="l">
                        <a:lnSpc>
                          <a:spcPts val="2100"/>
                        </a:lnSpc>
                        <a:spcBef>
                          <a:spcPts val="0"/>
                        </a:spcBef>
                        <a:spcAft>
                          <a:spcPts val="0"/>
                        </a:spcAft>
                      </a:pPr>
                      <a:r>
                        <a:rPr sz="1800" b="1">
                          <a:solidFill>
                            <a:srgbClr val="172C42"/>
                          </a:solidFill>
                        </a:rPr>
                        <a:t>Unit</a:t>
                      </a:r>
                    </a:p>
                  </a:txBody>
                  <a:tcPr marL="164592" marR="164592" marT="73152" marB="73152">
                    <a:lnL>
                      <a:noFill/>
                    </a:lnL>
                    <a:lnR>
                      <a:noFill/>
                    </a:lnR>
                    <a:lnT>
                      <a:noFill/>
                    </a:lnT>
                    <a:lnB>
                      <a:noFill/>
                    </a:lnB>
                    <a:solidFill>
                      <a:srgbClr val="EDF2F5"/>
                    </a:solidFill>
                  </a:tcPr>
                </a:tc>
                <a:tc>
                  <a:txBody>
                    <a:bodyPr/>
                    <a:lstStyle/>
                    <a:p>
                      <a:pPr algn="l">
                        <a:lnSpc>
                          <a:spcPts val="2100"/>
                        </a:lnSpc>
                        <a:spcBef>
                          <a:spcPts val="0"/>
                        </a:spcBef>
                        <a:spcAft>
                          <a:spcPts val="0"/>
                        </a:spcAft>
                      </a:pPr>
                      <a:r>
                        <a:rPr sz="1800" b="0">
                          <a:solidFill>
                            <a:srgbClr val="172C42"/>
                          </a:solidFill>
                        </a:rPr>
                        <a:t>One function, with no browser and no real database</a:t>
                      </a:r>
                    </a:p>
                  </a:txBody>
                  <a:tcPr marL="164592" marR="164592" marT="73152" marB="73152">
                    <a:lnL>
                      <a:noFill/>
                    </a:lnL>
                    <a:lnR>
                      <a:noFill/>
                    </a:lnR>
                    <a:lnT>
                      <a:noFill/>
                    </a:lnT>
                    <a:lnB>
                      <a:noFill/>
                    </a:lnB>
                    <a:solidFill>
                      <a:srgbClr val="EDF2F5"/>
                    </a:solidFill>
                  </a:tcPr>
                </a:tc>
                <a:tc>
                  <a:txBody>
                    <a:bodyPr/>
                    <a:lstStyle/>
                    <a:p>
                      <a:pPr algn="l">
                        <a:lnSpc>
                          <a:spcPts val="2100"/>
                        </a:lnSpc>
                        <a:spcBef>
                          <a:spcPts val="0"/>
                        </a:spcBef>
                        <a:spcAft>
                          <a:spcPts val="0"/>
                        </a:spcAft>
                      </a:pPr>
                      <a:r>
                        <a:rPr sz="1800" b="0">
                          <a:solidFill>
                            <a:srgbClr val="172C42"/>
                          </a:solidFill>
                        </a:rPr>
                        <a:t>deposit adds cents and refuses a closed account</a:t>
                      </a:r>
                    </a:p>
                  </a:txBody>
                  <a:tcPr marL="164592" marR="164592" marT="73152" marB="73152">
                    <a:lnL>
                      <a:noFill/>
                    </a:lnL>
                    <a:lnR>
                      <a:noFill/>
                    </a:lnR>
                    <a:lnT>
                      <a:noFill/>
                    </a:lnT>
                    <a:lnB>
                      <a:noFill/>
                    </a:lnB>
                    <a:solidFill>
                      <a:srgbClr val="EDF2F5"/>
                    </a:solidFill>
                  </a:tcPr>
                </a:tc>
                <a:extLst>
                  <a:ext uri="{0D108BD9-81ED-4DB2-BD59-A6C34878D82A}">
                    <a16:rowId xmlns:a16="http://schemas.microsoft.com/office/drawing/2014/main" val="10001"/>
                  </a:ext>
                </a:extLst>
              </a:tr>
              <a:tr h="694944">
                <a:tc>
                  <a:txBody>
                    <a:bodyPr/>
                    <a:lstStyle/>
                    <a:p>
                      <a:pPr algn="l">
                        <a:lnSpc>
                          <a:spcPts val="2100"/>
                        </a:lnSpc>
                        <a:spcBef>
                          <a:spcPts val="0"/>
                        </a:spcBef>
                        <a:spcAft>
                          <a:spcPts val="0"/>
                        </a:spcAft>
                      </a:pPr>
                      <a:r>
                        <a:rPr sz="1800" b="1">
                          <a:solidFill>
                            <a:srgbClr val="172C42"/>
                          </a:solidFill>
                        </a:rPr>
                        <a:t>Integration</a:t>
                      </a:r>
                    </a:p>
                  </a:txBody>
                  <a:tcPr marL="164592" marR="164592" marT="73152" marB="73152">
                    <a:lnL>
                      <a:noFill/>
                    </a:lnL>
                    <a:lnR>
                      <a:noFill/>
                    </a:lnR>
                    <a:lnT>
                      <a:noFill/>
                    </a:lnT>
                    <a:lnB>
                      <a:noFill/>
                    </a:lnB>
                    <a:solidFill>
                      <a:srgbClr val="FFFFFF"/>
                    </a:solidFill>
                  </a:tcPr>
                </a:tc>
                <a:tc>
                  <a:txBody>
                    <a:bodyPr/>
                    <a:lstStyle/>
                    <a:p>
                      <a:pPr algn="l">
                        <a:lnSpc>
                          <a:spcPts val="2100"/>
                        </a:lnSpc>
                        <a:spcBef>
                          <a:spcPts val="0"/>
                        </a:spcBef>
                        <a:spcAft>
                          <a:spcPts val="0"/>
                        </a:spcAft>
                      </a:pPr>
                      <a:r>
                        <a:rPr sz="1800" b="0">
                          <a:solidFill>
                            <a:srgbClr val="172C42"/>
                          </a:solidFill>
                        </a:rPr>
                        <a:t>Two parts working together</a:t>
                      </a:r>
                    </a:p>
                  </a:txBody>
                  <a:tcPr marL="164592" marR="164592" marT="73152" marB="73152">
                    <a:lnL>
                      <a:noFill/>
                    </a:lnL>
                    <a:lnR>
                      <a:noFill/>
                    </a:lnR>
                    <a:lnT>
                      <a:noFill/>
                    </a:lnT>
                    <a:lnB>
                      <a:noFill/>
                    </a:lnB>
                    <a:solidFill>
                      <a:srgbClr val="FFFFFF"/>
                    </a:solidFill>
                  </a:tcPr>
                </a:tc>
                <a:tc>
                  <a:txBody>
                    <a:bodyPr/>
                    <a:lstStyle/>
                    <a:p>
                      <a:pPr algn="l">
                        <a:lnSpc>
                          <a:spcPts val="2100"/>
                        </a:lnSpc>
                        <a:spcBef>
                          <a:spcPts val="0"/>
                        </a:spcBef>
                        <a:spcAft>
                          <a:spcPts val="0"/>
                        </a:spcAft>
                      </a:pPr>
                      <a:r>
                        <a:rPr sz="1800" b="0" err="1">
                          <a:solidFill>
                            <a:srgbClr val="172C42"/>
                          </a:solidFill>
                        </a:rPr>
                        <a:t>Node reads an account from MongoDB and writes the new balance</a:t>
                      </a:r>
                    </a:p>
                  </a:txBody>
                  <a:tcPr marL="164592" marR="164592" marT="73152" marB="73152">
                    <a:lnL>
                      <a:noFill/>
                    </a:lnL>
                    <a:lnR>
                      <a:noFill/>
                    </a:lnR>
                    <a:lnT>
                      <a:noFill/>
                    </a:lnT>
                    <a:lnB>
                      <a:noFill/>
                    </a:lnB>
                    <a:solidFill>
                      <a:srgbClr val="FFFFFF"/>
                    </a:solidFill>
                  </a:tcPr>
                </a:tc>
                <a:extLst>
                  <a:ext uri="{0D108BD9-81ED-4DB2-BD59-A6C34878D82A}">
                    <a16:rowId xmlns:a16="http://schemas.microsoft.com/office/drawing/2014/main" val="10002"/>
                  </a:ext>
                </a:extLst>
              </a:tr>
              <a:tr h="905256">
                <a:tc>
                  <a:txBody>
                    <a:bodyPr/>
                    <a:lstStyle/>
                    <a:p>
                      <a:pPr algn="l">
                        <a:lnSpc>
                          <a:spcPts val="2100"/>
                        </a:lnSpc>
                        <a:spcBef>
                          <a:spcPts val="0"/>
                        </a:spcBef>
                        <a:spcAft>
                          <a:spcPts val="0"/>
                        </a:spcAft>
                      </a:pPr>
                      <a:r>
                        <a:rPr sz="1800" b="1">
                          <a:solidFill>
                            <a:srgbClr val="172C42"/>
                          </a:solidFill>
                        </a:rPr>
                        <a:t>API</a:t>
                      </a:r>
                    </a:p>
                  </a:txBody>
                  <a:tcPr marL="164592" marR="164592" marT="73152" marB="73152">
                    <a:lnL>
                      <a:noFill/>
                    </a:lnL>
                    <a:lnR>
                      <a:noFill/>
                    </a:lnR>
                    <a:lnT>
                      <a:noFill/>
                    </a:lnT>
                    <a:lnB>
                      <a:noFill/>
                    </a:lnB>
                    <a:solidFill>
                      <a:srgbClr val="EDF2F5"/>
                    </a:solidFill>
                  </a:tcPr>
                </a:tc>
                <a:tc>
                  <a:txBody>
                    <a:bodyPr/>
                    <a:lstStyle/>
                    <a:p>
                      <a:pPr algn="l">
                        <a:lnSpc>
                          <a:spcPts val="2100"/>
                        </a:lnSpc>
                        <a:spcBef>
                          <a:spcPts val="0"/>
                        </a:spcBef>
                        <a:spcAft>
                          <a:spcPts val="0"/>
                        </a:spcAft>
                      </a:pPr>
                      <a:r>
                        <a:rPr sz="1800" b="0">
                          <a:solidFill>
                            <a:srgbClr val="172C42"/>
                          </a:solidFill>
                        </a:rPr>
                        <a:t>One address, such as a GET or POST, without clicking the screen</a:t>
                      </a:r>
                    </a:p>
                  </a:txBody>
                  <a:tcPr marL="164592" marR="164592" marT="73152" marB="73152">
                    <a:lnL>
                      <a:noFill/>
                    </a:lnL>
                    <a:lnR>
                      <a:noFill/>
                    </a:lnR>
                    <a:lnT>
                      <a:noFill/>
                    </a:lnT>
                    <a:lnB>
                      <a:noFill/>
                    </a:lnB>
                    <a:solidFill>
                      <a:srgbClr val="EDF2F5"/>
                    </a:solidFill>
                  </a:tcPr>
                </a:tc>
                <a:tc>
                  <a:txBody>
                    <a:bodyPr/>
                    <a:lstStyle/>
                    <a:p>
                      <a:pPr algn="l">
                        <a:lnSpc>
                          <a:spcPts val="2100"/>
                        </a:lnSpc>
                        <a:spcBef>
                          <a:spcPts val="0"/>
                        </a:spcBef>
                        <a:spcAft>
                          <a:spcPts val="0"/>
                        </a:spcAft>
                      </a:pPr>
                      <a:r>
                        <a:rPr sz="1800" b="0" err="1">
                          <a:solidFill>
                            <a:srgbClr val="172C42"/>
                          </a:solidFill>
                        </a:rPr>
                        <a:t>curl.exe http://localhost:3001/api/health expects {"ok":true}</a:t>
                      </a:r>
                    </a:p>
                  </a:txBody>
                  <a:tcPr marL="164592" marR="164592" marT="73152" marB="73152">
                    <a:lnL>
                      <a:noFill/>
                    </a:lnL>
                    <a:lnR>
                      <a:noFill/>
                    </a:lnR>
                    <a:lnT>
                      <a:noFill/>
                    </a:lnT>
                    <a:lnB>
                      <a:noFill/>
                    </a:lnB>
                    <a:solidFill>
                      <a:srgbClr val="EDF2F5"/>
                    </a:solidFill>
                  </a:tcPr>
                </a:tc>
                <a:extLst>
                  <a:ext uri="{0D108BD9-81ED-4DB2-BD59-A6C34878D82A}">
                    <a16:rowId xmlns:a16="http://schemas.microsoft.com/office/drawing/2014/main" val="1400381985"/>
                  </a:ext>
                </a:extLst>
              </a:tr>
              <a:tr h="749808">
                <a:tc>
                  <a:txBody>
                    <a:bodyPr/>
                    <a:lstStyle/>
                    <a:p>
                      <a:pPr algn="l">
                        <a:lnSpc>
                          <a:spcPts val="2100"/>
                        </a:lnSpc>
                        <a:spcBef>
                          <a:spcPts val="0"/>
                        </a:spcBef>
                        <a:spcAft>
                          <a:spcPts val="0"/>
                        </a:spcAft>
                      </a:pPr>
                      <a:r>
                        <a:rPr sz="1800" b="1">
                          <a:solidFill>
                            <a:srgbClr val="172C42"/>
                          </a:solidFill>
                        </a:rPr>
                        <a:t>End-to-end</a:t>
                      </a:r>
                    </a:p>
                  </a:txBody>
                  <a:tcPr marL="164592" marR="164592" marT="73152" marB="73152">
                    <a:lnL>
                      <a:noFill/>
                    </a:lnL>
                    <a:lnR>
                      <a:noFill/>
                    </a:lnR>
                    <a:lnT>
                      <a:noFill/>
                    </a:lnT>
                    <a:lnB>
                      <a:noFill/>
                    </a:lnB>
                    <a:solidFill>
                      <a:srgbClr val="FFFFFF"/>
                    </a:solidFill>
                  </a:tcPr>
                </a:tc>
                <a:tc>
                  <a:txBody>
                    <a:bodyPr/>
                    <a:lstStyle/>
                    <a:p>
                      <a:pPr algn="l">
                        <a:lnSpc>
                          <a:spcPts val="2100"/>
                        </a:lnSpc>
                        <a:spcBef>
                          <a:spcPts val="0"/>
                        </a:spcBef>
                        <a:spcAft>
                          <a:spcPts val="0"/>
                        </a:spcAft>
                      </a:pPr>
                      <a:r>
                        <a:rPr sz="1800" b="0">
                          <a:solidFill>
                            <a:srgbClr val="172C42"/>
                          </a:solidFill>
                        </a:rPr>
                        <a:t>The path a person takes: page, clerk, and cabinet</a:t>
                      </a:r>
                    </a:p>
                  </a:txBody>
                  <a:tcPr marL="164592" marR="164592" marT="73152" marB="73152">
                    <a:lnL>
                      <a:noFill/>
                    </a:lnL>
                    <a:lnR>
                      <a:noFill/>
                    </a:lnR>
                    <a:lnT>
                      <a:noFill/>
                    </a:lnT>
                    <a:lnB>
                      <a:noFill/>
                    </a:lnB>
                    <a:solidFill>
                      <a:srgbClr val="FFFFFF"/>
                    </a:solidFill>
                  </a:tcPr>
                </a:tc>
                <a:tc>
                  <a:txBody>
                    <a:bodyPr/>
                    <a:lstStyle/>
                    <a:p>
                      <a:pPr algn="l">
                        <a:lnSpc>
                          <a:spcPts val="2100"/>
                        </a:lnSpc>
                        <a:spcBef>
                          <a:spcPts val="0"/>
                        </a:spcBef>
                        <a:spcAft>
                          <a:spcPts val="0"/>
                        </a:spcAft>
                      </a:pPr>
                      <a:r>
                        <a:rPr sz="1800" b="0" err="1">
                          <a:solidFill>
                            <a:srgbClr val="172C42"/>
                          </a:solidFill>
                        </a:rPr>
                        <a:t>tests/customer-login.test.js signs in and looks for account 10000001</a:t>
                      </a:r>
                    </a:p>
                  </a:txBody>
                  <a:tcPr marL="164592" marR="164592" marT="73152" marB="73152">
                    <a:lnL>
                      <a:noFill/>
                    </a:lnL>
                    <a:lnR>
                      <a:noFill/>
                    </a:lnR>
                    <a:lnT>
                      <a:noFill/>
                    </a:lnT>
                    <a:lnB>
                      <a:noFill/>
                    </a:lnB>
                    <a:solidFill>
                      <a:srgbClr val="FFFFFF"/>
                    </a:solidFill>
                  </a:tcPr>
                </a:tc>
                <a:extLst>
                  <a:ext uri="{0D108BD9-81ED-4DB2-BD59-A6C34878D82A}">
                    <a16:rowId xmlns:a16="http://schemas.microsoft.com/office/drawing/2014/main" val="4278584518"/>
                  </a:ext>
                </a:extLst>
              </a:tr>
              <a:tr h="640080">
                <a:tc>
                  <a:txBody>
                    <a:bodyPr/>
                    <a:lstStyle/>
                    <a:p>
                      <a:pPr algn="l">
                        <a:lnSpc>
                          <a:spcPts val="2100"/>
                        </a:lnSpc>
                        <a:spcBef>
                          <a:spcPts val="0"/>
                        </a:spcBef>
                        <a:spcAft>
                          <a:spcPts val="0"/>
                        </a:spcAft>
                      </a:pPr>
                      <a:r>
                        <a:rPr sz="1800" b="1">
                          <a:solidFill>
                            <a:srgbClr val="172C42"/>
                          </a:solidFill>
                        </a:rPr>
                        <a:t>Smoke</a:t>
                      </a:r>
                    </a:p>
                  </a:txBody>
                  <a:tcPr marL="164592" marR="164592" marT="73152" marB="73152">
                    <a:lnL>
                      <a:noFill/>
                    </a:lnL>
                    <a:lnR>
                      <a:noFill/>
                    </a:lnR>
                    <a:lnT>
                      <a:noFill/>
                    </a:lnT>
                    <a:lnB>
                      <a:noFill/>
                    </a:lnB>
                    <a:solidFill>
                      <a:srgbClr val="EDF2F5"/>
                    </a:solidFill>
                  </a:tcPr>
                </a:tc>
                <a:tc>
                  <a:txBody>
                    <a:bodyPr/>
                    <a:lstStyle/>
                    <a:p>
                      <a:pPr algn="l">
                        <a:lnSpc>
                          <a:spcPts val="2100"/>
                        </a:lnSpc>
                        <a:spcBef>
                          <a:spcPts val="0"/>
                        </a:spcBef>
                        <a:spcAft>
                          <a:spcPts val="0"/>
                        </a:spcAft>
                      </a:pPr>
                      <a:r>
                        <a:rPr sz="1800" b="0">
                          <a:solidFill>
                            <a:srgbClr val="172C42"/>
                          </a:solidFill>
                        </a:rPr>
                        <a:t>A few fast checks that the app is awake</a:t>
                      </a:r>
                    </a:p>
                  </a:txBody>
                  <a:tcPr marL="164592" marR="164592" marT="73152" marB="73152">
                    <a:lnL>
                      <a:noFill/>
                    </a:lnL>
                    <a:lnR>
                      <a:noFill/>
                    </a:lnR>
                    <a:lnT>
                      <a:noFill/>
                    </a:lnT>
                    <a:lnB>
                      <a:noFill/>
                    </a:lnB>
                    <a:solidFill>
                      <a:srgbClr val="EDF2F5"/>
                    </a:solidFill>
                  </a:tcPr>
                </a:tc>
                <a:tc>
                  <a:txBody>
                    <a:bodyPr/>
                    <a:lstStyle/>
                    <a:p>
                      <a:pPr algn="l">
                        <a:lnSpc>
                          <a:spcPts val="2100"/>
                        </a:lnSpc>
                        <a:spcBef>
                          <a:spcPts val="0"/>
                        </a:spcBef>
                        <a:spcAft>
                          <a:spcPts val="0"/>
                        </a:spcAft>
                      </a:pPr>
                      <a:r>
                        <a:rPr sz="1800" b="0" err="1">
                          <a:solidFill>
                            <a:srgbClr val="172C42"/>
                          </a:solidFill>
                        </a:rPr>
                        <a:t>The health address answers, and the login page opens</a:t>
                      </a:r>
                    </a:p>
                  </a:txBody>
                  <a:tcPr marL="164592" marR="164592" marT="73152" marB="73152">
                    <a:lnL>
                      <a:noFill/>
                    </a:lnL>
                    <a:lnR>
                      <a:noFill/>
                    </a:lnR>
                    <a:lnT>
                      <a:noFill/>
                    </a:lnT>
                    <a:lnB>
                      <a:noFill/>
                    </a:lnB>
                    <a:solidFill>
                      <a:srgbClr val="EDF2F5"/>
                    </a:solidFill>
                  </a:tcPr>
                </a:tc>
                <a:extLst>
                  <a:ext uri="{0D108BD9-81ED-4DB2-BD59-A6C34878D82A}">
                    <a16:rowId xmlns:a16="http://schemas.microsoft.com/office/drawing/2014/main" val="2623264471"/>
                  </a:ext>
                </a:extLst>
              </a:tr>
              <a:tr h="722376">
                <a:tc>
                  <a:txBody>
                    <a:bodyPr/>
                    <a:lstStyle/>
                    <a:p>
                      <a:pPr algn="l">
                        <a:lnSpc>
                          <a:spcPts val="2100"/>
                        </a:lnSpc>
                        <a:spcBef>
                          <a:spcPts val="0"/>
                        </a:spcBef>
                        <a:spcAft>
                          <a:spcPts val="0"/>
                        </a:spcAft>
                      </a:pPr>
                      <a:r>
                        <a:rPr sz="1800" b="1">
                          <a:solidFill>
                            <a:srgbClr val="172C42"/>
                          </a:solidFill>
                        </a:rPr>
                        <a:t>Regression</a:t>
                      </a:r>
                    </a:p>
                  </a:txBody>
                  <a:tcPr marL="164592" marR="164592" marT="73152" marB="73152">
                    <a:lnL>
                      <a:noFill/>
                    </a:lnL>
                    <a:lnR>
                      <a:noFill/>
                    </a:lnR>
                    <a:lnT>
                      <a:noFill/>
                    </a:lnT>
                    <a:lnB>
                      <a:noFill/>
                    </a:lnB>
                    <a:solidFill>
                      <a:srgbClr val="FFFFFF"/>
                    </a:solidFill>
                  </a:tcPr>
                </a:tc>
                <a:tc>
                  <a:txBody>
                    <a:bodyPr/>
                    <a:lstStyle/>
                    <a:p>
                      <a:pPr algn="l">
                        <a:lnSpc>
                          <a:spcPts val="2100"/>
                        </a:lnSpc>
                        <a:spcBef>
                          <a:spcPts val="0"/>
                        </a:spcBef>
                        <a:spcAft>
                          <a:spcPts val="0"/>
                        </a:spcAft>
                      </a:pPr>
                      <a:r>
                        <a:rPr sz="1800" b="0">
                          <a:solidFill>
                            <a:srgbClr val="172C42"/>
                          </a:solidFill>
                        </a:rPr>
                        <a:t>Old behavior still works after a change</a:t>
                      </a:r>
                    </a:p>
                  </a:txBody>
                  <a:tcPr marL="164592" marR="164592" marT="73152" marB="73152">
                    <a:lnL>
                      <a:noFill/>
                    </a:lnL>
                    <a:lnR>
                      <a:noFill/>
                    </a:lnR>
                    <a:lnT>
                      <a:noFill/>
                    </a:lnT>
                    <a:lnB>
                      <a:noFill/>
                    </a:lnB>
                    <a:solidFill>
                      <a:srgbClr val="FFFFFF"/>
                    </a:solidFill>
                  </a:tcPr>
                </a:tc>
                <a:tc>
                  <a:txBody>
                    <a:bodyPr/>
                    <a:lstStyle/>
                    <a:p>
                      <a:pPr algn="l">
                        <a:lnSpc>
                          <a:spcPts val="2100"/>
                        </a:lnSpc>
                        <a:spcBef>
                          <a:spcPts val="0"/>
                        </a:spcBef>
                        <a:spcAft>
                          <a:spcPts val="0"/>
                        </a:spcAft>
                      </a:pPr>
                      <a:r>
                        <a:rPr sz="1800" b="0" err="1">
                          <a:solidFill>
                            <a:srgbClr val="172C42"/>
                          </a:solidFill>
                        </a:rPr>
                        <a:t>After a transfer change, deposit and the ATM rule still behave as before</a:t>
                      </a:r>
                    </a:p>
                  </a:txBody>
                  <a:tcPr marL="164592" marR="164592" marT="73152" marB="73152">
                    <a:lnL>
                      <a:noFill/>
                    </a:lnL>
                    <a:lnR>
                      <a:noFill/>
                    </a:lnR>
                    <a:lnT>
                      <a:noFill/>
                    </a:lnT>
                    <a:lnB>
                      <a:noFill/>
                    </a:lnB>
                    <a:solidFill>
                      <a:srgbClr val="FFFFFF"/>
                    </a:solidFill>
                  </a:tcPr>
                </a:tc>
                <a:extLst>
                  <a:ext uri="{0D108BD9-81ED-4DB2-BD59-A6C34878D82A}">
                    <a16:rowId xmlns:a16="http://schemas.microsoft.com/office/drawing/2014/main" val="245809966"/>
                  </a:ext>
                </a:extLst>
              </a:tr>
              <a:tr h="749808">
                <a:tc>
                  <a:txBody>
                    <a:bodyPr/>
                    <a:lstStyle/>
                    <a:p>
                      <a:pPr algn="l">
                        <a:lnSpc>
                          <a:spcPts val="2100"/>
                        </a:lnSpc>
                        <a:spcBef>
                          <a:spcPts val="0"/>
                        </a:spcBef>
                        <a:spcAft>
                          <a:spcPts val="0"/>
                        </a:spcAft>
                      </a:pPr>
                      <a:r>
                        <a:rPr sz="1800" b="1">
                          <a:solidFill>
                            <a:srgbClr val="172C42"/>
                          </a:solidFill>
                        </a:rPr>
                        <a:t>Acceptance</a:t>
                      </a:r>
                    </a:p>
                  </a:txBody>
                  <a:tcPr marL="164592" marR="164592" marT="73152" marB="73152">
                    <a:lnL>
                      <a:noFill/>
                    </a:lnL>
                    <a:lnR>
                      <a:noFill/>
                    </a:lnR>
                    <a:lnT>
                      <a:noFill/>
                    </a:lnT>
                    <a:lnB>
                      <a:noFill/>
                    </a:lnB>
                    <a:solidFill>
                      <a:srgbClr val="EDF2F5"/>
                    </a:solidFill>
                  </a:tcPr>
                </a:tc>
                <a:tc>
                  <a:txBody>
                    <a:bodyPr/>
                    <a:lstStyle/>
                    <a:p>
                      <a:pPr algn="l">
                        <a:lnSpc>
                          <a:spcPts val="2100"/>
                        </a:lnSpc>
                        <a:spcBef>
                          <a:spcPts val="0"/>
                        </a:spcBef>
                        <a:spcAft>
                          <a:spcPts val="0"/>
                        </a:spcAft>
                      </a:pPr>
                      <a:r>
                        <a:rPr sz="1800" b="0">
                          <a:solidFill>
                            <a:srgbClr val="172C42"/>
                          </a:solidFill>
                        </a:rPr>
                        <a:t>The finished behavior matches the use case</a:t>
                      </a:r>
                    </a:p>
                  </a:txBody>
                  <a:tcPr marL="164592" marR="164592" marT="73152" marB="73152">
                    <a:lnL>
                      <a:noFill/>
                    </a:lnL>
                    <a:lnR>
                      <a:noFill/>
                    </a:lnR>
                    <a:lnT>
                      <a:noFill/>
                    </a:lnT>
                    <a:lnB>
                      <a:noFill/>
                    </a:lnB>
                    <a:solidFill>
                      <a:srgbClr val="EDF2F5"/>
                    </a:solidFill>
                  </a:tcPr>
                </a:tc>
                <a:tc>
                  <a:txBody>
                    <a:bodyPr/>
                    <a:lstStyle/>
                    <a:p>
                      <a:pPr algn="l">
                        <a:lnSpc>
                          <a:spcPts val="2100"/>
                        </a:lnSpc>
                        <a:spcBef>
                          <a:spcPts val="0"/>
                        </a:spcBef>
                        <a:spcAft>
                          <a:spcPts val="0"/>
                        </a:spcAft>
                      </a:pPr>
                      <a:r>
                        <a:rPr sz="1800" b="0" err="1">
                          <a:solidFill>
                            <a:srgbClr val="172C42"/>
                          </a:solidFill>
                        </a:rPr>
                        <a:t>A branch customer can transfer. An ATM customer cannot see Transfer funds</a:t>
                      </a:r>
                    </a:p>
                  </a:txBody>
                  <a:tcPr marL="164592" marR="164592" marT="73152" marB="73152">
                    <a:lnL>
                      <a:noFill/>
                    </a:lnL>
                    <a:lnR>
                      <a:noFill/>
                    </a:lnR>
                    <a:lnT>
                      <a:noFill/>
                    </a:lnT>
                    <a:lnB>
                      <a:noFill/>
                    </a:lnB>
                    <a:solidFill>
                      <a:srgbClr val="EDF2F5"/>
                    </a:solidFill>
                  </a:tcPr>
                </a:tc>
                <a:extLst>
                  <a:ext uri="{0D108BD9-81ED-4DB2-BD59-A6C34878D82A}">
                    <a16:rowId xmlns:a16="http://schemas.microsoft.com/office/drawing/2014/main" val="3377957902"/>
                  </a:ext>
                </a:extLst>
              </a:tr>
            </a:tbl>
          </a:graphicData>
        </a:graphic>
      </p:graphicFrame>
    </p:spTree>
    <p:extLst>
      <p:ext uri="{BB962C8B-B14F-4D97-AF65-F5344CB8AC3E}">
        <p14:creationId xmlns:p14="http://schemas.microsoft.com/office/powerpoint/2010/main" val="34561924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Seven ways to check the bank</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078992"/>
            <a:ext cx="10972800" cy="502920"/>
          </a:xfrm>
        </p:spPr>
        <p:txBody>
          <a:bodyPr wrap="square" lIns="0" tIns="0" rIns="0" bIns="0"/>
          <a:lstStyle/>
          <a:p>
            <a:pPr marL="0" indent="0" algn="l">
              <a:spcAft>
                <a:spcPts val="600"/>
              </a:spcAft>
              <a:buNone/>
            </a:pPr>
            <a:r>
              <a:rPr lang="en-US" sz="2200" b="0">
                <a:solidFill>
                  <a:srgbClr val="3C4A58"/>
                </a:solidFill>
              </a:rPr>
              <a:t>Different scopes and purposes can describe the same test.</a:t>
            </a:r>
            <a:endParaRPr lang="en-US"/>
          </a:p>
        </p:txBody>
      </p:sp>
      <p:sp>
        <p:nvSpPr>
          <p:cNvPr id="4" name="TextBox 3"/>
          <p:cNvSpPr txBox="1"/>
          <p:nvPr/>
        </p:nvSpPr>
        <p:spPr>
          <a:xfrm>
            <a:off x="594360" y="1737360"/>
            <a:ext cx="10972800" cy="320040"/>
          </a:xfrm>
          <a:prstGeom prst="rect">
            <a:avLst/>
          </a:prstGeom>
          <a:noFill/>
        </p:spPr>
        <p:txBody>
          <a:bodyPr wrap="square" lIns="0" tIns="0" rIns="0" bIns="0">
            <a:spAutoFit/>
          </a:bodyPr>
          <a:lstStyle/>
          <a:p>
            <a:pPr>
              <a:lnSpc>
                <a:spcPct val="105000"/>
              </a:lnSpc>
              <a:spcAft>
                <a:spcPts val="0"/>
              </a:spcAft>
            </a:pPr>
            <a:r>
              <a:rPr sz="1700" b="1">
                <a:solidFill>
                  <a:srgbClr val="007D87"/>
                </a:solidFill>
              </a:rPr>
              <a:t>WHAT DO WE CHECK?</a:t>
            </a:r>
          </a:p>
        </p:txBody>
      </p:sp>
      <p:sp>
        <p:nvSpPr>
          <p:cNvPr id="5" name="TextBox 4"/>
          <p:cNvSpPr txBox="1"/>
          <p:nvPr/>
        </p:nvSpPr>
        <p:spPr>
          <a:xfrm>
            <a:off x="594360" y="2176272"/>
            <a:ext cx="2496312" cy="365760"/>
          </a:xfrm>
          <a:prstGeom prst="rect">
            <a:avLst/>
          </a:prstGeom>
          <a:noFill/>
        </p:spPr>
        <p:txBody>
          <a:bodyPr wrap="square" lIns="0" tIns="0" rIns="0" bIns="0">
            <a:spAutoFit/>
          </a:bodyPr>
          <a:lstStyle/>
          <a:p>
            <a:pPr>
              <a:lnSpc>
                <a:spcPct val="105000"/>
              </a:lnSpc>
              <a:spcAft>
                <a:spcPts val="0"/>
              </a:spcAft>
            </a:pPr>
            <a:r>
              <a:rPr sz="2300" b="1">
                <a:solidFill>
                  <a:srgbClr val="172C42"/>
                </a:solidFill>
              </a:rPr>
              <a:t>Unit</a:t>
            </a:r>
          </a:p>
        </p:txBody>
      </p:sp>
      <p:sp>
        <p:nvSpPr>
          <p:cNvPr id="6" name="TextBox 5"/>
          <p:cNvSpPr txBox="1"/>
          <p:nvPr/>
        </p:nvSpPr>
        <p:spPr>
          <a:xfrm>
            <a:off x="3429000" y="2176272"/>
            <a:ext cx="2496312" cy="365760"/>
          </a:xfrm>
          <a:prstGeom prst="rect">
            <a:avLst/>
          </a:prstGeom>
          <a:noFill/>
        </p:spPr>
        <p:txBody>
          <a:bodyPr wrap="square" lIns="0" tIns="0" rIns="0" bIns="0">
            <a:spAutoFit/>
          </a:bodyPr>
          <a:lstStyle/>
          <a:p>
            <a:pPr>
              <a:lnSpc>
                <a:spcPct val="105000"/>
              </a:lnSpc>
              <a:spcAft>
                <a:spcPts val="0"/>
              </a:spcAft>
            </a:pPr>
            <a:r>
              <a:rPr sz="2300" b="1">
                <a:solidFill>
                  <a:srgbClr val="172C42"/>
                </a:solidFill>
              </a:rPr>
              <a:t>Integration</a:t>
            </a:r>
          </a:p>
        </p:txBody>
      </p:sp>
      <p:sp>
        <p:nvSpPr>
          <p:cNvPr id="7" name="TextBox 6"/>
          <p:cNvSpPr txBox="1"/>
          <p:nvPr/>
        </p:nvSpPr>
        <p:spPr>
          <a:xfrm>
            <a:off x="6263640" y="2176272"/>
            <a:ext cx="2496312" cy="365760"/>
          </a:xfrm>
          <a:prstGeom prst="rect">
            <a:avLst/>
          </a:prstGeom>
          <a:noFill/>
        </p:spPr>
        <p:txBody>
          <a:bodyPr wrap="square" lIns="0" tIns="0" rIns="0" bIns="0">
            <a:spAutoFit/>
          </a:bodyPr>
          <a:lstStyle/>
          <a:p>
            <a:pPr>
              <a:lnSpc>
                <a:spcPct val="105000"/>
              </a:lnSpc>
              <a:spcAft>
                <a:spcPts val="0"/>
              </a:spcAft>
            </a:pPr>
            <a:r>
              <a:rPr sz="2300" b="1">
                <a:solidFill>
                  <a:srgbClr val="172C42"/>
                </a:solidFill>
              </a:rPr>
              <a:t>API</a:t>
            </a:r>
          </a:p>
        </p:txBody>
      </p:sp>
      <p:sp>
        <p:nvSpPr>
          <p:cNvPr id="8" name="TextBox 7"/>
          <p:cNvSpPr txBox="1"/>
          <p:nvPr/>
        </p:nvSpPr>
        <p:spPr>
          <a:xfrm>
            <a:off x="9098280" y="2176272"/>
            <a:ext cx="2496312" cy="365760"/>
          </a:xfrm>
          <a:prstGeom prst="rect">
            <a:avLst/>
          </a:prstGeom>
          <a:noFill/>
        </p:spPr>
        <p:txBody>
          <a:bodyPr wrap="square" lIns="0" tIns="0" rIns="0" bIns="0">
            <a:spAutoFit/>
          </a:bodyPr>
          <a:lstStyle/>
          <a:p>
            <a:pPr>
              <a:lnSpc>
                <a:spcPct val="105000"/>
              </a:lnSpc>
              <a:spcAft>
                <a:spcPts val="0"/>
              </a:spcAft>
            </a:pPr>
            <a:r>
              <a:rPr sz="2300" b="1">
                <a:solidFill>
                  <a:srgbClr val="172C42"/>
                </a:solidFill>
              </a:rPr>
              <a:t>End-to-end</a:t>
            </a:r>
          </a:p>
        </p:txBody>
      </p:sp>
      <p:pic>
        <p:nvPicPr>
          <p:cNvPr id="9" name="Picture 8" descr="image-3f19b9171268e7c04c175d741ba35fd9-scene-0.png"/>
          <p:cNvPicPr>
            <a:picLocks noChangeAspect="1"/>
          </p:cNvPicPr>
          <p:nvPr/>
        </p:nvPicPr>
        <p:blipFill>
          <a:blip r:embed="rId3"/>
          <a:stretch>
            <a:fillRect/>
          </a:stretch>
        </p:blipFill>
        <p:spPr>
          <a:xfrm>
            <a:off x="1219544" y="2615184"/>
            <a:ext cx="1245943" cy="1508760"/>
          </a:xfrm>
          <a:prstGeom prst="rect">
            <a:avLst/>
          </a:prstGeom>
        </p:spPr>
      </p:pic>
      <p:pic>
        <p:nvPicPr>
          <p:cNvPr id="10" name="Picture 9" descr="image-3f19b9171268e7c04c175d741ba35fd9-scene-1.png"/>
          <p:cNvPicPr>
            <a:picLocks noChangeAspect="1"/>
          </p:cNvPicPr>
          <p:nvPr/>
        </p:nvPicPr>
        <p:blipFill>
          <a:blip r:embed="rId4"/>
          <a:stretch>
            <a:fillRect/>
          </a:stretch>
        </p:blipFill>
        <p:spPr>
          <a:xfrm>
            <a:off x="4054184" y="2615184"/>
            <a:ext cx="1245943" cy="1508760"/>
          </a:xfrm>
          <a:prstGeom prst="rect">
            <a:avLst/>
          </a:prstGeom>
        </p:spPr>
      </p:pic>
      <p:pic>
        <p:nvPicPr>
          <p:cNvPr id="11" name="Picture 10" descr="image-3f19b9171268e7c04c175d741ba35fd9-scene-2.png"/>
          <p:cNvPicPr>
            <a:picLocks noChangeAspect="1"/>
          </p:cNvPicPr>
          <p:nvPr/>
        </p:nvPicPr>
        <p:blipFill>
          <a:blip r:embed="rId5"/>
          <a:stretch>
            <a:fillRect/>
          </a:stretch>
        </p:blipFill>
        <p:spPr>
          <a:xfrm>
            <a:off x="6875845" y="2615184"/>
            <a:ext cx="1271900" cy="1508760"/>
          </a:xfrm>
          <a:prstGeom prst="rect">
            <a:avLst/>
          </a:prstGeom>
        </p:spPr>
      </p:pic>
      <p:pic>
        <p:nvPicPr>
          <p:cNvPr id="12" name="Picture 11" descr="image-3f19b9171268e7c04c175d741ba35fd9-scene-3.png"/>
          <p:cNvPicPr>
            <a:picLocks noChangeAspect="1"/>
          </p:cNvPicPr>
          <p:nvPr/>
        </p:nvPicPr>
        <p:blipFill>
          <a:blip r:embed="rId6"/>
          <a:stretch>
            <a:fillRect/>
          </a:stretch>
        </p:blipFill>
        <p:spPr>
          <a:xfrm>
            <a:off x="9736442" y="2615184"/>
            <a:ext cx="1219986" cy="1508760"/>
          </a:xfrm>
          <a:prstGeom prst="rect">
            <a:avLst/>
          </a:prstGeom>
        </p:spPr>
      </p:pic>
      <p:sp>
        <p:nvSpPr>
          <p:cNvPr id="13" name="TextBox 12"/>
          <p:cNvSpPr txBox="1"/>
          <p:nvPr/>
        </p:nvSpPr>
        <p:spPr>
          <a:xfrm>
            <a:off x="594360" y="4160520"/>
            <a:ext cx="2496312" cy="932688"/>
          </a:xfrm>
          <a:prstGeom prst="rect">
            <a:avLst/>
          </a:prstGeom>
          <a:noFill/>
        </p:spPr>
        <p:txBody>
          <a:bodyPr wrap="square" lIns="0" tIns="0" rIns="0" bIns="0">
            <a:spAutoFit/>
          </a:bodyPr>
          <a:lstStyle/>
          <a:p>
            <a:pPr>
              <a:lnSpc>
                <a:spcPct val="105000"/>
              </a:lnSpc>
              <a:spcAft>
                <a:spcPts val="0"/>
              </a:spcAft>
            </a:pPr>
            <a:r>
              <a:rPr sz="1900" b="0">
                <a:solidFill>
                  <a:srgbClr val="172C42"/>
                </a:solidFill>
              </a:rPr>
              <a:t>One function alone.</a:t>
            </a:r>
          </a:p>
          <a:p>
            <a:pPr>
              <a:lnSpc>
                <a:spcPct val="105000"/>
              </a:lnSpc>
              <a:spcAft>
                <a:spcPts val="0"/>
              </a:spcAft>
            </a:pPr>
            <a:r>
              <a:rPr sz="1900" b="0">
                <a:solidFill>
                  <a:srgbClr val="172C42"/>
                </a:solidFill>
              </a:rPr>
              <a:t>deposit adds cents.</a:t>
            </a:r>
          </a:p>
        </p:txBody>
      </p:sp>
      <p:sp>
        <p:nvSpPr>
          <p:cNvPr id="14" name="TextBox 13"/>
          <p:cNvSpPr txBox="1"/>
          <p:nvPr/>
        </p:nvSpPr>
        <p:spPr>
          <a:xfrm>
            <a:off x="3429000" y="4160520"/>
            <a:ext cx="2496312" cy="932688"/>
          </a:xfrm>
          <a:prstGeom prst="rect">
            <a:avLst/>
          </a:prstGeom>
          <a:noFill/>
        </p:spPr>
        <p:txBody>
          <a:bodyPr wrap="square" lIns="0" tIns="0" rIns="0" bIns="0">
            <a:spAutoFit/>
          </a:bodyPr>
          <a:lstStyle/>
          <a:p>
            <a:pPr>
              <a:lnSpc>
                <a:spcPct val="105000"/>
              </a:lnSpc>
              <a:spcAft>
                <a:spcPts val="0"/>
              </a:spcAft>
            </a:pPr>
            <a:r>
              <a:rPr sz="1900" b="0">
                <a:solidFill>
                  <a:srgbClr val="172C42"/>
                </a:solidFill>
              </a:rPr>
              <a:t>Parts work together.</a:t>
            </a:r>
          </a:p>
          <a:p>
            <a:pPr>
              <a:lnSpc>
                <a:spcPct val="105000"/>
              </a:lnSpc>
              <a:spcAft>
                <a:spcPts val="0"/>
              </a:spcAft>
            </a:pPr>
            <a:r>
              <a:rPr sz="1900" b="0">
                <a:solidFill>
                  <a:srgbClr val="172C42"/>
                </a:solidFill>
              </a:rPr>
              <a:t>Node reads/writes MongoDB.</a:t>
            </a:r>
          </a:p>
        </p:txBody>
      </p:sp>
      <p:sp>
        <p:nvSpPr>
          <p:cNvPr id="15" name="TextBox 14"/>
          <p:cNvSpPr txBox="1"/>
          <p:nvPr/>
        </p:nvSpPr>
        <p:spPr>
          <a:xfrm>
            <a:off x="6263640" y="4160520"/>
            <a:ext cx="2496312" cy="932688"/>
          </a:xfrm>
          <a:prstGeom prst="rect">
            <a:avLst/>
          </a:prstGeom>
          <a:noFill/>
        </p:spPr>
        <p:txBody>
          <a:bodyPr wrap="square" lIns="0" tIns="0" rIns="0" bIns="0">
            <a:spAutoFit/>
          </a:bodyPr>
          <a:lstStyle/>
          <a:p>
            <a:pPr>
              <a:lnSpc>
                <a:spcPct val="105000"/>
              </a:lnSpc>
              <a:spcAft>
                <a:spcPts val="0"/>
              </a:spcAft>
            </a:pPr>
            <a:r>
              <a:rPr sz="1900" b="0">
                <a:solidFill>
                  <a:srgbClr val="172C42"/>
                </a:solidFill>
              </a:rPr>
              <a:t>Call an endpoint directly.</a:t>
            </a:r>
          </a:p>
          <a:p>
            <a:pPr>
              <a:lnSpc>
                <a:spcPct val="105000"/>
              </a:lnSpc>
              <a:spcAft>
                <a:spcPts val="0"/>
              </a:spcAft>
            </a:pPr>
            <a:r>
              <a:rPr sz="1900" b="0">
                <a:solidFill>
                  <a:srgbClr val="172C42"/>
                </a:solidFill>
              </a:rPr>
              <a:t>GET /api/health</a:t>
            </a:r>
          </a:p>
        </p:txBody>
      </p:sp>
      <p:sp>
        <p:nvSpPr>
          <p:cNvPr id="16" name="TextBox 15"/>
          <p:cNvSpPr txBox="1"/>
          <p:nvPr/>
        </p:nvSpPr>
        <p:spPr>
          <a:xfrm>
            <a:off x="9098280" y="4160520"/>
            <a:ext cx="2496312" cy="932688"/>
          </a:xfrm>
          <a:prstGeom prst="rect">
            <a:avLst/>
          </a:prstGeom>
          <a:noFill/>
        </p:spPr>
        <p:txBody>
          <a:bodyPr wrap="square" lIns="0" tIns="0" rIns="0" bIns="0">
            <a:spAutoFit/>
          </a:bodyPr>
          <a:lstStyle/>
          <a:p>
            <a:pPr>
              <a:lnSpc>
                <a:spcPct val="105000"/>
              </a:lnSpc>
              <a:spcAft>
                <a:spcPts val="0"/>
              </a:spcAft>
            </a:pPr>
            <a:r>
              <a:rPr sz="1900" b="0">
                <a:solidFill>
                  <a:srgbClr val="172C42"/>
                </a:solidFill>
              </a:rPr>
              <a:t>Full user journey.</a:t>
            </a:r>
          </a:p>
          <a:p>
            <a:pPr>
              <a:lnSpc>
                <a:spcPct val="105000"/>
              </a:lnSpc>
              <a:spcAft>
                <a:spcPts val="0"/>
              </a:spcAft>
            </a:pPr>
            <a:r>
              <a:rPr sz="1900" b="0">
                <a:solidFill>
                  <a:srgbClr val="172C42"/>
                </a:solidFill>
              </a:rPr>
              <a:t>Login reveals the account.</a:t>
            </a:r>
          </a:p>
        </p:txBody>
      </p:sp>
      <p:sp>
        <p:nvSpPr>
          <p:cNvPr id="17" name="TextBox 16"/>
          <p:cNvSpPr txBox="1"/>
          <p:nvPr/>
        </p:nvSpPr>
        <p:spPr>
          <a:xfrm>
            <a:off x="594360" y="5202936"/>
            <a:ext cx="10972800" cy="274320"/>
          </a:xfrm>
          <a:prstGeom prst="rect">
            <a:avLst/>
          </a:prstGeom>
          <a:noFill/>
        </p:spPr>
        <p:txBody>
          <a:bodyPr wrap="square" lIns="0" tIns="0" rIns="0" bIns="0">
            <a:spAutoFit/>
          </a:bodyPr>
          <a:lstStyle/>
          <a:p>
            <a:pPr>
              <a:lnSpc>
                <a:spcPct val="105000"/>
              </a:lnSpc>
              <a:spcAft>
                <a:spcPts val="0"/>
              </a:spcAft>
            </a:pPr>
            <a:r>
              <a:rPr sz="1700" b="1">
                <a:solidFill>
                  <a:srgbClr val="007D87"/>
                </a:solidFill>
              </a:rPr>
              <a:t>WHY DO WE CHECK?</a:t>
            </a:r>
          </a:p>
        </p:txBody>
      </p:sp>
      <p:sp>
        <p:nvSpPr>
          <p:cNvPr id="18" name="TextBox 17"/>
          <p:cNvSpPr txBox="1"/>
          <p:nvPr/>
        </p:nvSpPr>
        <p:spPr>
          <a:xfrm>
            <a:off x="594360" y="5632704"/>
            <a:ext cx="3511296" cy="365760"/>
          </a:xfrm>
          <a:prstGeom prst="rect">
            <a:avLst/>
          </a:prstGeom>
          <a:noFill/>
        </p:spPr>
        <p:txBody>
          <a:bodyPr wrap="square" lIns="0" tIns="0" rIns="0" bIns="0">
            <a:spAutoFit/>
          </a:bodyPr>
          <a:lstStyle/>
          <a:p>
            <a:pPr>
              <a:lnSpc>
                <a:spcPct val="105000"/>
              </a:lnSpc>
              <a:spcAft>
                <a:spcPts val="0"/>
              </a:spcAft>
            </a:pPr>
            <a:r>
              <a:rPr sz="2000" b="1">
                <a:solidFill>
                  <a:srgbClr val="172C42"/>
                </a:solidFill>
              </a:rPr>
              <a:t>Smoke: “Are you awake?”</a:t>
            </a:r>
          </a:p>
        </p:txBody>
      </p:sp>
      <p:sp>
        <p:nvSpPr>
          <p:cNvPr id="19" name="TextBox 18"/>
          <p:cNvSpPr txBox="1"/>
          <p:nvPr/>
        </p:nvSpPr>
        <p:spPr>
          <a:xfrm>
            <a:off x="594360" y="6108192"/>
            <a:ext cx="3511296" cy="594360"/>
          </a:xfrm>
          <a:prstGeom prst="rect">
            <a:avLst/>
          </a:prstGeom>
          <a:noFill/>
        </p:spPr>
        <p:txBody>
          <a:bodyPr wrap="square" lIns="0" tIns="0" rIns="0" bIns="0">
            <a:spAutoFit/>
          </a:bodyPr>
          <a:lstStyle/>
          <a:p>
            <a:pPr>
              <a:lnSpc>
                <a:spcPct val="105000"/>
              </a:lnSpc>
              <a:spcAft>
                <a:spcPts val="0"/>
              </a:spcAft>
            </a:pPr>
            <a:r>
              <a:rPr sz="1800" b="0">
                <a:solidFill>
                  <a:srgbClr val="172C42"/>
                </a:solidFill>
              </a:rPr>
              <a:t>Health responds. Login opens.</a:t>
            </a:r>
          </a:p>
        </p:txBody>
      </p:sp>
      <p:sp>
        <p:nvSpPr>
          <p:cNvPr id="20" name="TextBox 19"/>
          <p:cNvSpPr txBox="1"/>
          <p:nvPr/>
        </p:nvSpPr>
        <p:spPr>
          <a:xfrm>
            <a:off x="4343400" y="5632704"/>
            <a:ext cx="3511296" cy="365760"/>
          </a:xfrm>
          <a:prstGeom prst="rect">
            <a:avLst/>
          </a:prstGeom>
          <a:noFill/>
        </p:spPr>
        <p:txBody>
          <a:bodyPr wrap="square" lIns="0" tIns="0" rIns="0" bIns="0">
            <a:spAutoFit/>
          </a:bodyPr>
          <a:lstStyle/>
          <a:p>
            <a:pPr>
              <a:lnSpc>
                <a:spcPct val="105000"/>
              </a:lnSpc>
              <a:spcAft>
                <a:spcPts val="0"/>
              </a:spcAft>
            </a:pPr>
            <a:r>
              <a:rPr sz="2000" b="1">
                <a:solidFill>
                  <a:srgbClr val="172C42"/>
                </a:solidFill>
              </a:rPr>
              <a:t>Regression: “Still working?”</a:t>
            </a:r>
          </a:p>
        </p:txBody>
      </p:sp>
      <p:sp>
        <p:nvSpPr>
          <p:cNvPr id="21" name="TextBox 20"/>
          <p:cNvSpPr txBox="1"/>
          <p:nvPr/>
        </p:nvSpPr>
        <p:spPr>
          <a:xfrm>
            <a:off x="4343400" y="6108192"/>
            <a:ext cx="3511296" cy="594360"/>
          </a:xfrm>
          <a:prstGeom prst="rect">
            <a:avLst/>
          </a:prstGeom>
          <a:noFill/>
        </p:spPr>
        <p:txBody>
          <a:bodyPr wrap="square" lIns="0" tIns="0" rIns="0" bIns="0">
            <a:spAutoFit/>
          </a:bodyPr>
          <a:lstStyle/>
          <a:p>
            <a:pPr>
              <a:lnSpc>
                <a:spcPct val="105000"/>
              </a:lnSpc>
              <a:spcAft>
                <a:spcPts val="0"/>
              </a:spcAft>
            </a:pPr>
            <a:r>
              <a:rPr sz="1800" b="0">
                <a:solidFill>
                  <a:srgbClr val="172C42"/>
                </a:solidFill>
              </a:rPr>
              <a:t>Deposit and ATM rules survive changes.</a:t>
            </a:r>
          </a:p>
        </p:txBody>
      </p:sp>
      <p:sp>
        <p:nvSpPr>
          <p:cNvPr id="22" name="TextBox 21"/>
          <p:cNvSpPr txBox="1"/>
          <p:nvPr/>
        </p:nvSpPr>
        <p:spPr>
          <a:xfrm>
            <a:off x="8092440" y="5632704"/>
            <a:ext cx="3511296" cy="365760"/>
          </a:xfrm>
          <a:prstGeom prst="rect">
            <a:avLst/>
          </a:prstGeom>
          <a:noFill/>
        </p:spPr>
        <p:txBody>
          <a:bodyPr wrap="square" lIns="0" tIns="0" rIns="0" bIns="0">
            <a:spAutoFit/>
          </a:bodyPr>
          <a:lstStyle/>
          <a:p>
            <a:pPr>
              <a:lnSpc>
                <a:spcPct val="105000"/>
              </a:lnSpc>
              <a:spcAft>
                <a:spcPts val="0"/>
              </a:spcAft>
            </a:pPr>
            <a:r>
              <a:rPr sz="2000" b="1">
                <a:solidFill>
                  <a:srgbClr val="172C42"/>
                </a:solidFill>
              </a:rPr>
              <a:t>Acceptance: “Deal kept?”</a:t>
            </a:r>
          </a:p>
        </p:txBody>
      </p:sp>
      <p:sp>
        <p:nvSpPr>
          <p:cNvPr id="23" name="TextBox 22"/>
          <p:cNvSpPr txBox="1"/>
          <p:nvPr/>
        </p:nvSpPr>
        <p:spPr>
          <a:xfrm>
            <a:off x="8092440" y="6108192"/>
            <a:ext cx="3511296" cy="594360"/>
          </a:xfrm>
          <a:prstGeom prst="rect">
            <a:avLst/>
          </a:prstGeom>
          <a:noFill/>
        </p:spPr>
        <p:txBody>
          <a:bodyPr wrap="square" lIns="0" tIns="0" rIns="0" bIns="0">
            <a:spAutoFit/>
          </a:bodyPr>
          <a:lstStyle/>
          <a:p>
            <a:pPr>
              <a:lnSpc>
                <a:spcPct val="105000"/>
              </a:lnSpc>
              <a:spcAft>
                <a:spcPts val="0"/>
              </a:spcAft>
            </a:pPr>
            <a:r>
              <a:rPr sz="1800" b="0">
                <a:solidFill>
                  <a:srgbClr val="172C42"/>
                </a:solidFill>
              </a:rPr>
              <a:t>Branch can transfer. ATM hides it.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Smoke, regression and acceptance testing</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078992"/>
            <a:ext cx="10972800" cy="502920"/>
          </a:xfrm>
        </p:spPr>
        <p:txBody>
          <a:bodyPr wrap="square" lIns="0" tIns="0" rIns="0" bIns="0"/>
          <a:lstStyle/>
          <a:p>
            <a:pPr marL="0" indent="0" algn="l">
              <a:spcAft>
                <a:spcPts val="600"/>
              </a:spcAft>
              <a:buNone/>
            </a:pPr>
            <a:r>
              <a:rPr lang="en-US" sz="2200" b="0">
                <a:solidFill>
                  <a:srgbClr val="3C4A58"/>
                </a:solidFill>
              </a:rPr>
              <a:t>Three questions: is it awake, still working, and doing what we promised?</a:t>
            </a:r>
            <a:endParaRPr lang="en-US"/>
          </a:p>
        </p:txBody>
      </p:sp>
      <p:sp>
        <p:nvSpPr>
          <p:cNvPr id="4" name="TextBox 3"/>
          <p:cNvSpPr txBox="1"/>
          <p:nvPr/>
        </p:nvSpPr>
        <p:spPr>
          <a:xfrm>
            <a:off x="594360" y="1783080"/>
            <a:ext cx="3456432" cy="365760"/>
          </a:xfrm>
          <a:prstGeom prst="rect">
            <a:avLst/>
          </a:prstGeom>
          <a:noFill/>
        </p:spPr>
        <p:txBody>
          <a:bodyPr wrap="square" lIns="0" tIns="0" rIns="0" bIns="0">
            <a:spAutoFit/>
          </a:bodyPr>
          <a:lstStyle/>
          <a:p>
            <a:pPr>
              <a:lnSpc>
                <a:spcPct val="105000"/>
              </a:lnSpc>
              <a:spcAft>
                <a:spcPts val="0"/>
              </a:spcAft>
            </a:pPr>
            <a:r>
              <a:rPr sz="2500" b="1">
                <a:solidFill>
                  <a:srgbClr val="172C42"/>
                </a:solidFill>
              </a:rPr>
              <a:t>Smoke</a:t>
            </a:r>
          </a:p>
        </p:txBody>
      </p:sp>
      <p:pic>
        <p:nvPicPr>
          <p:cNvPr id="5" name="Picture 4" descr="image-500af307ba54603b696a06df3593725c.jpg"/>
          <p:cNvPicPr>
            <a:picLocks noChangeAspect="1"/>
          </p:cNvPicPr>
          <p:nvPr/>
        </p:nvPicPr>
        <p:blipFill>
          <a:blip r:embed="rId3"/>
          <a:stretch>
            <a:fillRect/>
          </a:stretch>
        </p:blipFill>
        <p:spPr>
          <a:xfrm>
            <a:off x="1151281" y="2286000"/>
            <a:ext cx="2342588" cy="2121408"/>
          </a:xfrm>
          <a:prstGeom prst="rect">
            <a:avLst/>
          </a:prstGeom>
        </p:spPr>
      </p:pic>
      <p:sp>
        <p:nvSpPr>
          <p:cNvPr id="6" name="TextBox 5"/>
          <p:cNvSpPr txBox="1"/>
          <p:nvPr/>
        </p:nvSpPr>
        <p:spPr>
          <a:xfrm>
            <a:off x="594360" y="4590288"/>
            <a:ext cx="3456432" cy="457200"/>
          </a:xfrm>
          <a:prstGeom prst="rect">
            <a:avLst/>
          </a:prstGeom>
          <a:noFill/>
        </p:spPr>
        <p:txBody>
          <a:bodyPr wrap="square" lIns="0" tIns="0" rIns="0" bIns="0">
            <a:spAutoFit/>
          </a:bodyPr>
          <a:lstStyle/>
          <a:p>
            <a:pPr>
              <a:lnSpc>
                <a:spcPct val="105000"/>
              </a:lnSpc>
              <a:spcAft>
                <a:spcPts val="0"/>
              </a:spcAft>
            </a:pPr>
            <a:r>
              <a:rPr sz="2100" b="1">
                <a:solidFill>
                  <a:srgbClr val="007D87"/>
                </a:solidFill>
              </a:rPr>
              <a:t>“Hello? Anybody home?”</a:t>
            </a:r>
          </a:p>
        </p:txBody>
      </p:sp>
      <p:sp>
        <p:nvSpPr>
          <p:cNvPr id="7" name="TextBox 6"/>
          <p:cNvSpPr txBox="1"/>
          <p:nvPr/>
        </p:nvSpPr>
        <p:spPr>
          <a:xfrm>
            <a:off x="594360" y="5175504"/>
            <a:ext cx="3456432" cy="749808"/>
          </a:xfrm>
          <a:prstGeom prst="rect">
            <a:avLst/>
          </a:prstGeom>
          <a:noFill/>
        </p:spPr>
        <p:txBody>
          <a:bodyPr wrap="square" lIns="0" tIns="0" rIns="0" bIns="0">
            <a:spAutoFit/>
          </a:bodyPr>
          <a:lstStyle/>
          <a:p>
            <a:pPr>
              <a:lnSpc>
                <a:spcPct val="105000"/>
              </a:lnSpc>
              <a:spcAft>
                <a:spcPts val="0"/>
              </a:spcAft>
            </a:pPr>
            <a:r>
              <a:rPr sz="2100" b="1">
                <a:solidFill>
                  <a:srgbClr val="172C42"/>
                </a:solidFill>
              </a:rPr>
              <a:t>Fast checks of essential functions.</a:t>
            </a:r>
          </a:p>
        </p:txBody>
      </p:sp>
      <p:sp>
        <p:nvSpPr>
          <p:cNvPr id="8" name="TextBox 7"/>
          <p:cNvSpPr txBox="1"/>
          <p:nvPr/>
        </p:nvSpPr>
        <p:spPr>
          <a:xfrm>
            <a:off x="594360" y="5943600"/>
            <a:ext cx="3456432" cy="804672"/>
          </a:xfrm>
          <a:prstGeom prst="rect">
            <a:avLst/>
          </a:prstGeom>
          <a:noFill/>
        </p:spPr>
        <p:txBody>
          <a:bodyPr wrap="square" lIns="0" tIns="0" rIns="0" bIns="0">
            <a:spAutoFit/>
          </a:bodyPr>
          <a:lstStyle/>
          <a:p>
            <a:pPr>
              <a:lnSpc>
                <a:spcPct val="105000"/>
              </a:lnSpc>
              <a:spcAft>
                <a:spcPts val="0"/>
              </a:spcAft>
            </a:pPr>
            <a:r>
              <a:rPr sz="1800" b="0">
                <a:solidFill>
                  <a:srgbClr val="172C42"/>
                </a:solidFill>
              </a:rPr>
              <a:t>Health endpoint responds.</a:t>
            </a:r>
          </a:p>
          <a:p>
            <a:pPr>
              <a:lnSpc>
                <a:spcPct val="105000"/>
              </a:lnSpc>
              <a:spcAft>
                <a:spcPts val="0"/>
              </a:spcAft>
            </a:pPr>
            <a:r>
              <a:rPr sz="1800" b="0">
                <a:solidFill>
                  <a:srgbClr val="172C42"/>
                </a:solidFill>
              </a:rPr>
              <a:t>Login page opens.</a:t>
            </a:r>
          </a:p>
        </p:txBody>
      </p:sp>
      <p:sp>
        <p:nvSpPr>
          <p:cNvPr id="9" name="TextBox 8"/>
          <p:cNvSpPr txBox="1"/>
          <p:nvPr/>
        </p:nvSpPr>
        <p:spPr>
          <a:xfrm>
            <a:off x="4370832" y="1783080"/>
            <a:ext cx="3456432" cy="365760"/>
          </a:xfrm>
          <a:prstGeom prst="rect">
            <a:avLst/>
          </a:prstGeom>
          <a:noFill/>
        </p:spPr>
        <p:txBody>
          <a:bodyPr wrap="square" lIns="0" tIns="0" rIns="0" bIns="0">
            <a:spAutoFit/>
          </a:bodyPr>
          <a:lstStyle/>
          <a:p>
            <a:pPr>
              <a:lnSpc>
                <a:spcPct val="105000"/>
              </a:lnSpc>
              <a:spcAft>
                <a:spcPts val="0"/>
              </a:spcAft>
            </a:pPr>
            <a:r>
              <a:rPr sz="2500" b="1">
                <a:solidFill>
                  <a:srgbClr val="172C42"/>
                </a:solidFill>
              </a:rPr>
              <a:t>Regression</a:t>
            </a:r>
          </a:p>
        </p:txBody>
      </p:sp>
      <p:pic>
        <p:nvPicPr>
          <p:cNvPr id="10" name="Picture 9" descr="image-521fcc48476d064885cb931669494ca6.jpg"/>
          <p:cNvPicPr>
            <a:picLocks noChangeAspect="1"/>
          </p:cNvPicPr>
          <p:nvPr/>
        </p:nvPicPr>
        <p:blipFill>
          <a:blip r:embed="rId4"/>
          <a:stretch>
            <a:fillRect/>
          </a:stretch>
        </p:blipFill>
        <p:spPr>
          <a:xfrm>
            <a:off x="4992065" y="2286000"/>
            <a:ext cx="2213965" cy="2121408"/>
          </a:xfrm>
          <a:prstGeom prst="rect">
            <a:avLst/>
          </a:prstGeom>
        </p:spPr>
      </p:pic>
      <p:sp>
        <p:nvSpPr>
          <p:cNvPr id="11" name="TextBox 10"/>
          <p:cNvSpPr txBox="1"/>
          <p:nvPr/>
        </p:nvSpPr>
        <p:spPr>
          <a:xfrm>
            <a:off x="4370832" y="4590288"/>
            <a:ext cx="3456432" cy="457200"/>
          </a:xfrm>
          <a:prstGeom prst="rect">
            <a:avLst/>
          </a:prstGeom>
          <a:noFill/>
        </p:spPr>
        <p:txBody>
          <a:bodyPr wrap="square" lIns="0" tIns="0" rIns="0" bIns="0">
            <a:spAutoFit/>
          </a:bodyPr>
          <a:lstStyle/>
          <a:p>
            <a:pPr>
              <a:lnSpc>
                <a:spcPct val="105000"/>
              </a:lnSpc>
              <a:spcAft>
                <a:spcPts val="0"/>
              </a:spcAft>
            </a:pPr>
            <a:r>
              <a:rPr sz="2100" b="1">
                <a:solidFill>
                  <a:srgbClr val="007D87"/>
                </a:solidFill>
              </a:rPr>
              <a:t>“New gear. Old tricks?”</a:t>
            </a:r>
          </a:p>
        </p:txBody>
      </p:sp>
      <p:sp>
        <p:nvSpPr>
          <p:cNvPr id="12" name="TextBox 11"/>
          <p:cNvSpPr txBox="1"/>
          <p:nvPr/>
        </p:nvSpPr>
        <p:spPr>
          <a:xfrm>
            <a:off x="4370832" y="5175504"/>
            <a:ext cx="3456432" cy="749808"/>
          </a:xfrm>
          <a:prstGeom prst="rect">
            <a:avLst/>
          </a:prstGeom>
          <a:noFill/>
        </p:spPr>
        <p:txBody>
          <a:bodyPr wrap="square" lIns="0" tIns="0" rIns="0" bIns="0">
            <a:spAutoFit/>
          </a:bodyPr>
          <a:lstStyle/>
          <a:p>
            <a:pPr>
              <a:lnSpc>
                <a:spcPct val="105000"/>
              </a:lnSpc>
              <a:spcAft>
                <a:spcPts val="0"/>
              </a:spcAft>
            </a:pPr>
            <a:r>
              <a:rPr sz="2100" b="1">
                <a:solidFill>
                  <a:srgbClr val="172C42"/>
                </a:solidFill>
              </a:rPr>
              <a:t>Recheck existing behavior after a change.</a:t>
            </a:r>
          </a:p>
        </p:txBody>
      </p:sp>
      <p:sp>
        <p:nvSpPr>
          <p:cNvPr id="13" name="TextBox 12"/>
          <p:cNvSpPr txBox="1"/>
          <p:nvPr/>
        </p:nvSpPr>
        <p:spPr>
          <a:xfrm>
            <a:off x="4370832" y="5943600"/>
            <a:ext cx="3456432" cy="804672"/>
          </a:xfrm>
          <a:prstGeom prst="rect">
            <a:avLst/>
          </a:prstGeom>
          <a:noFill/>
        </p:spPr>
        <p:txBody>
          <a:bodyPr wrap="square" lIns="0" tIns="0" rIns="0" bIns="0">
            <a:spAutoFit/>
          </a:bodyPr>
          <a:lstStyle/>
          <a:p>
            <a:pPr>
              <a:lnSpc>
                <a:spcPct val="105000"/>
              </a:lnSpc>
              <a:spcAft>
                <a:spcPts val="0"/>
              </a:spcAft>
            </a:pPr>
            <a:r>
              <a:rPr sz="1800" b="0">
                <a:solidFill>
                  <a:srgbClr val="172C42"/>
                </a:solidFill>
              </a:rPr>
              <a:t>After a transfer change, deposit</a:t>
            </a:r>
          </a:p>
          <a:p>
            <a:pPr>
              <a:lnSpc>
                <a:spcPct val="105000"/>
              </a:lnSpc>
              <a:spcAft>
                <a:spcPts val="0"/>
              </a:spcAft>
            </a:pPr>
            <a:r>
              <a:rPr sz="1800" b="0">
                <a:solidFill>
                  <a:srgbClr val="172C42"/>
                </a:solidFill>
              </a:rPr>
              <a:t>and ATM rules still work.</a:t>
            </a:r>
          </a:p>
        </p:txBody>
      </p:sp>
      <p:sp>
        <p:nvSpPr>
          <p:cNvPr id="14" name="TextBox 13"/>
          <p:cNvSpPr txBox="1"/>
          <p:nvPr/>
        </p:nvSpPr>
        <p:spPr>
          <a:xfrm>
            <a:off x="8147304" y="1783080"/>
            <a:ext cx="3456432" cy="365760"/>
          </a:xfrm>
          <a:prstGeom prst="rect">
            <a:avLst/>
          </a:prstGeom>
          <a:noFill/>
        </p:spPr>
        <p:txBody>
          <a:bodyPr wrap="square" lIns="0" tIns="0" rIns="0" bIns="0">
            <a:spAutoFit/>
          </a:bodyPr>
          <a:lstStyle/>
          <a:p>
            <a:pPr>
              <a:lnSpc>
                <a:spcPct val="105000"/>
              </a:lnSpc>
              <a:spcAft>
                <a:spcPts val="0"/>
              </a:spcAft>
            </a:pPr>
            <a:r>
              <a:rPr sz="2500" b="1">
                <a:solidFill>
                  <a:srgbClr val="172C42"/>
                </a:solidFill>
              </a:rPr>
              <a:t>Acceptance</a:t>
            </a:r>
          </a:p>
        </p:txBody>
      </p:sp>
      <p:pic>
        <p:nvPicPr>
          <p:cNvPr id="15" name="Picture 14" descr="image-912f79ffda9694cbc387f6fb4b59e9c1.jpg"/>
          <p:cNvPicPr>
            <a:picLocks noChangeAspect="1"/>
          </p:cNvPicPr>
          <p:nvPr/>
        </p:nvPicPr>
        <p:blipFill>
          <a:blip r:embed="rId5"/>
          <a:stretch>
            <a:fillRect/>
          </a:stretch>
        </p:blipFill>
        <p:spPr>
          <a:xfrm>
            <a:off x="8787929" y="2286000"/>
            <a:ext cx="2175180" cy="2121408"/>
          </a:xfrm>
          <a:prstGeom prst="rect">
            <a:avLst/>
          </a:prstGeom>
        </p:spPr>
      </p:pic>
      <p:sp>
        <p:nvSpPr>
          <p:cNvPr id="16" name="TextBox 15"/>
          <p:cNvSpPr txBox="1"/>
          <p:nvPr/>
        </p:nvSpPr>
        <p:spPr>
          <a:xfrm>
            <a:off x="8147304" y="4590288"/>
            <a:ext cx="3456432" cy="457200"/>
          </a:xfrm>
          <a:prstGeom prst="rect">
            <a:avLst/>
          </a:prstGeom>
          <a:noFill/>
        </p:spPr>
        <p:txBody>
          <a:bodyPr wrap="square" lIns="0" tIns="0" rIns="0" bIns="0">
            <a:spAutoFit/>
          </a:bodyPr>
          <a:lstStyle/>
          <a:p>
            <a:pPr>
              <a:lnSpc>
                <a:spcPct val="105000"/>
              </a:lnSpc>
              <a:spcAft>
                <a:spcPts val="0"/>
              </a:spcAft>
            </a:pPr>
            <a:r>
              <a:rPr sz="2100" b="1">
                <a:solidFill>
                  <a:srgbClr val="007D87"/>
                </a:solidFill>
              </a:rPr>
              <a:t>“That’s what I ordered!”</a:t>
            </a:r>
          </a:p>
        </p:txBody>
      </p:sp>
      <p:sp>
        <p:nvSpPr>
          <p:cNvPr id="17" name="TextBox 16"/>
          <p:cNvSpPr txBox="1"/>
          <p:nvPr/>
        </p:nvSpPr>
        <p:spPr>
          <a:xfrm>
            <a:off x="8147304" y="5175504"/>
            <a:ext cx="3456432" cy="749808"/>
          </a:xfrm>
          <a:prstGeom prst="rect">
            <a:avLst/>
          </a:prstGeom>
          <a:noFill/>
        </p:spPr>
        <p:txBody>
          <a:bodyPr wrap="square" lIns="0" tIns="0" rIns="0" bIns="0">
            <a:spAutoFit/>
          </a:bodyPr>
          <a:lstStyle/>
          <a:p>
            <a:pPr>
              <a:lnSpc>
                <a:spcPct val="105000"/>
              </a:lnSpc>
              <a:spcAft>
                <a:spcPts val="0"/>
              </a:spcAft>
            </a:pPr>
            <a:r>
              <a:rPr sz="2100" b="1">
                <a:solidFill>
                  <a:srgbClr val="172C42"/>
                </a:solidFill>
              </a:rPr>
              <a:t>Check the agreed use case.</a:t>
            </a:r>
          </a:p>
        </p:txBody>
      </p:sp>
      <p:sp>
        <p:nvSpPr>
          <p:cNvPr id="18" name="TextBox 17"/>
          <p:cNvSpPr txBox="1"/>
          <p:nvPr/>
        </p:nvSpPr>
        <p:spPr>
          <a:xfrm>
            <a:off x="8147304" y="5943600"/>
            <a:ext cx="3456432" cy="804672"/>
          </a:xfrm>
          <a:prstGeom prst="rect">
            <a:avLst/>
          </a:prstGeom>
          <a:noFill/>
        </p:spPr>
        <p:txBody>
          <a:bodyPr wrap="square" lIns="0" tIns="0" rIns="0" bIns="0">
            <a:spAutoFit/>
          </a:bodyPr>
          <a:lstStyle/>
          <a:p>
            <a:pPr>
              <a:lnSpc>
                <a:spcPct val="105000"/>
              </a:lnSpc>
              <a:spcAft>
                <a:spcPts val="0"/>
              </a:spcAft>
            </a:pPr>
            <a:r>
              <a:rPr sz="1800" b="0">
                <a:solidFill>
                  <a:srgbClr val="172C42"/>
                </a:solidFill>
              </a:rPr>
              <a:t>Branch customer can transfer.</a:t>
            </a:r>
          </a:p>
          <a:p>
            <a:pPr>
              <a:lnSpc>
                <a:spcPct val="105000"/>
              </a:lnSpc>
              <a:spcAft>
                <a:spcPts val="0"/>
              </a:spcAft>
            </a:pPr>
            <a:r>
              <a:rPr sz="1800" b="0">
                <a:solidFill>
                  <a:srgbClr val="172C42"/>
                </a:solidFill>
              </a:rPr>
              <a:t>ATM customer cannot see</a:t>
            </a:r>
          </a:p>
          <a:p>
            <a:pPr>
              <a:lnSpc>
                <a:spcPct val="105000"/>
              </a:lnSpc>
              <a:spcAft>
                <a:spcPts val="0"/>
              </a:spcAft>
            </a:pPr>
            <a:r>
              <a:rPr sz="1800" b="0">
                <a:solidFill>
                  <a:srgbClr val="172C42"/>
                </a:solidFill>
              </a:rPr>
              <a:t>Transfer funds.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2">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4">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17"/>
          <p:cNvSpPr txBox="1"/>
          <p:nvPr/>
        </p:nvSpPr>
        <p:spPr>
          <a:xfrm>
            <a:off x="713232" y="365760"/>
            <a:ext cx="10972800" cy="594360"/>
          </a:xfrm>
          <a:prstGeom prst="rect">
            <a:avLst/>
          </a:prstGeom>
          <a:noFill/>
        </p:spPr>
        <p:txBody>
          <a:bodyPr wrap="square" lIns="0" tIns="0" rIns="0" bIns="0" anchor="t">
            <a:spAutoFit/>
          </a:bodyPr>
          <a:lstStyle/>
          <a:p>
            <a:pPr>
              <a:lnSpc>
                <a:spcPts val="3500"/>
              </a:lnSpc>
              <a:spcBef>
                <a:spcPts val="0"/>
              </a:spcBef>
              <a:spcAft>
                <a:spcPts val="0"/>
              </a:spcAft>
            </a:pPr>
            <a:r>
              <a:rPr sz="3200" b="1">
                <a:solidFill>
                  <a:srgbClr val="FFFFFF"/>
                </a:solidFill>
              </a:rPr>
              <a:t>Branch customer test case</a:t>
            </a:r>
          </a:p>
        </p:txBody>
      </p:sp>
      <p:sp>
        <p:nvSpPr>
          <p:cNvPr id="6" name="TextBox 18"/>
          <p:cNvSpPr txBox="1"/>
          <p:nvPr/>
        </p:nvSpPr>
        <p:spPr>
          <a:xfrm>
            <a:off x="594360" y="1143000"/>
            <a:ext cx="109728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Start state, action, expected result and cleanup</a:t>
            </a:r>
          </a:p>
        </p:txBody>
      </p:sp>
      <p:graphicFrame>
        <p:nvGraphicFramePr>
          <p:cNvPr id="7" name="Content Placeholder 3">
            <a:extLst>
              <a:ext uri="{FF2B5EF4-FFF2-40B4-BE49-F238E27FC236}">
                <a16:creationId xmlns:a16="http://schemas.microsoft.com/office/drawing/2014/main" id="{4445418C-91C3-2E0D-2A53-4F37B891DF30}"/>
              </a:ext>
            </a:extLst>
          </p:cNvPr>
          <p:cNvGraphicFramePr>
            <a:graphicFrameLocks noGrp="1"/>
          </p:cNvGraphicFramePr>
          <p:nvPr>
            <p:ph idx="1"/>
            <p:extLst>
              <p:ext uri="{D42A27DB-BD31-4B8C-83A1-F6EECF244321}">
                <p14:modId xmlns:p14="http://schemas.microsoft.com/office/powerpoint/2010/main" val="1369642502"/>
              </p:ext>
            </p:extLst>
          </p:nvPr>
        </p:nvGraphicFramePr>
        <p:xfrm>
          <a:off x="457200" y="1783080"/>
          <a:ext cx="11274552" cy="4787392"/>
        </p:xfrm>
        <a:graphic>
          <a:graphicData uri="http://schemas.openxmlformats.org/drawingml/2006/table">
            <a:tbl>
              <a:tblPr>
                <a:tableStyleId>{5C22544A-7EE6-4342-B048-85BDC9FD1C3A}</a:tableStyleId>
              </a:tblPr>
              <a:tblGrid>
                <a:gridCol w="1865376">
                  <a:extLst>
                    <a:ext uri="{9D8B030D-6E8A-4147-A177-3AD203B41FA5}">
                      <a16:colId xmlns:a16="http://schemas.microsoft.com/office/drawing/2014/main" val="1821425524"/>
                    </a:ext>
                  </a:extLst>
                </a:gridCol>
                <a:gridCol w="4023360">
                  <a:extLst>
                    <a:ext uri="{9D8B030D-6E8A-4147-A177-3AD203B41FA5}">
                      <a16:colId xmlns:a16="http://schemas.microsoft.com/office/drawing/2014/main" val="2487578819"/>
                    </a:ext>
                  </a:extLst>
                </a:gridCol>
                <a:gridCol w="5385816">
                  <a:extLst>
                    <a:ext uri="{9D8B030D-6E8A-4147-A177-3AD203B41FA5}">
                      <a16:colId xmlns:a16="http://schemas.microsoft.com/office/drawing/2014/main" val="568689609"/>
                    </a:ext>
                  </a:extLst>
                </a:gridCol>
              </a:tblGrid>
              <a:tr h="438912">
                <a:tc>
                  <a:txBody>
                    <a:bodyPr/>
                    <a:lstStyle/>
                    <a:p>
                      <a:pPr algn="l" fontAlgn="t">
                        <a:lnSpc>
                          <a:spcPts val="2200"/>
                        </a:lnSpc>
                        <a:spcBef>
                          <a:spcPts val="0"/>
                        </a:spcBef>
                        <a:spcAft>
                          <a:spcPts val="0"/>
                        </a:spcAft>
                        <a:buNone/>
                      </a:pPr>
                      <a:r>
                        <a:rPr lang="en-IN" sz="1800" b="1">
                          <a:solidFill>
                            <a:srgbClr val="FFFFFF"/>
                          </a:solidFill>
                          <a:effectLst/>
                          <a:latin typeface="Aptos"/>
                        </a:rPr>
                        <a:t>Part</a:t>
                      </a:r>
                      <a:endParaRPr lang="en-IN" sz="1050" b="0" i="0">
                        <a:solidFill>
                          <a:srgbClr val="F0F0F0"/>
                        </a:solidFill>
                        <a:effectLst/>
                        <a:latin typeface="Segoe WPC"/>
                      </a:endParaRPr>
                    </a:p>
                  </a:txBody>
                  <a:tcPr marL="128016" marR="128016" marT="109728" marB="82296">
                    <a:solidFill>
                      <a:srgbClr val="173D50"/>
                    </a:solidFill>
                  </a:tcPr>
                </a:tc>
                <a:tc>
                  <a:txBody>
                    <a:bodyPr/>
                    <a:lstStyle/>
                    <a:p>
                      <a:pPr algn="l" fontAlgn="t">
                        <a:lnSpc>
                          <a:spcPts val="2200"/>
                        </a:lnSpc>
                        <a:spcBef>
                          <a:spcPts val="0"/>
                        </a:spcBef>
                        <a:spcAft>
                          <a:spcPts val="0"/>
                        </a:spcAft>
                        <a:buNone/>
                      </a:pPr>
                      <a:r>
                        <a:rPr lang="en-IN" sz="1800" b="1">
                          <a:solidFill>
                            <a:srgbClr val="FFFFFF"/>
                          </a:solidFill>
                          <a:effectLst/>
                          <a:latin typeface="Aptos"/>
                        </a:rPr>
                        <a:t>Meaning</a:t>
                      </a:r>
                      <a:endParaRPr lang="en-IN" sz="1050" b="0" i="0">
                        <a:solidFill>
                          <a:srgbClr val="F0F0F0"/>
                        </a:solidFill>
                        <a:effectLst/>
                        <a:latin typeface="Segoe WPC"/>
                      </a:endParaRPr>
                    </a:p>
                  </a:txBody>
                  <a:tcPr marL="128016" marR="128016" marT="109728" marB="82296">
                    <a:solidFill>
                      <a:srgbClr val="173D50"/>
                    </a:solidFill>
                  </a:tcPr>
                </a:tc>
                <a:tc>
                  <a:txBody>
                    <a:bodyPr/>
                    <a:lstStyle/>
                    <a:p>
                      <a:pPr algn="l" fontAlgn="t">
                        <a:lnSpc>
                          <a:spcPts val="2200"/>
                        </a:lnSpc>
                        <a:spcBef>
                          <a:spcPts val="0"/>
                        </a:spcBef>
                        <a:spcAft>
                          <a:spcPts val="0"/>
                        </a:spcAft>
                        <a:buNone/>
                      </a:pPr>
                      <a:r>
                        <a:rPr lang="en-IN" sz="1800" b="1">
                          <a:solidFill>
                            <a:srgbClr val="FFFFFF"/>
                          </a:solidFill>
                          <a:effectLst/>
                          <a:latin typeface="Aptos"/>
                        </a:rPr>
                        <a:t>Branch customer example</a:t>
                      </a:r>
                      <a:endParaRPr lang="en-IN" sz="1050" b="0" i="0">
                        <a:solidFill>
                          <a:srgbClr val="F0F0F0"/>
                        </a:solidFill>
                        <a:effectLst/>
                        <a:latin typeface="Segoe WPC"/>
                      </a:endParaRPr>
                    </a:p>
                  </a:txBody>
                  <a:tcPr marL="128016" marR="128016" marT="109728" marB="82296">
                    <a:solidFill>
                      <a:srgbClr val="173D50"/>
                    </a:solidFill>
                  </a:tcPr>
                </a:tc>
                <a:extLst>
                  <a:ext uri="{0D108BD9-81ED-4DB2-BD59-A6C34878D82A}">
                    <a16:rowId xmlns:a16="http://schemas.microsoft.com/office/drawing/2014/main" val="3327697577"/>
                  </a:ext>
                </a:extLst>
              </a:tr>
              <a:tr h="1078992">
                <a:tc>
                  <a:txBody>
                    <a:bodyPr/>
                    <a:lstStyle/>
                    <a:p>
                      <a:pPr algn="l" fontAlgn="t" latinLnBrk="0">
                        <a:lnSpc>
                          <a:spcPts val="2200"/>
                        </a:lnSpc>
                        <a:spcBef>
                          <a:spcPts val="0"/>
                        </a:spcBef>
                        <a:spcAft>
                          <a:spcPts val="0"/>
                        </a:spcAft>
                        <a:buNone/>
                      </a:pPr>
                      <a:r>
                        <a:rPr lang="en-IN" sz="1800" b="1">
                          <a:solidFill>
                            <a:srgbClr val="172C42"/>
                          </a:solidFill>
                          <a:effectLst/>
                          <a:latin typeface="Aptos"/>
                        </a:rPr>
                        <a:t>Start state</a:t>
                      </a:r>
                      <a:endParaRPr lang="en-IN" sz="1050" b="0" i="0">
                        <a:solidFill>
                          <a:srgbClr val="F0F0F0"/>
                        </a:solidFill>
                        <a:effectLst/>
                        <a:latin typeface="Segoe WPC"/>
                      </a:endParaRPr>
                    </a:p>
                  </a:txBody>
                  <a:tcPr marL="128016" marR="128016" marT="109728" marB="82296">
                    <a:solidFill>
                      <a:srgbClr val="F0F4F6"/>
                    </a:solidFill>
                  </a:tcPr>
                </a:tc>
                <a:tc>
                  <a:txBody>
                    <a:bodyPr/>
                    <a:lstStyle/>
                    <a:p>
                      <a:pPr algn="l" fontAlgn="t" latinLnBrk="0">
                        <a:lnSpc>
                          <a:spcPts val="2200"/>
                        </a:lnSpc>
                        <a:spcBef>
                          <a:spcPts val="0"/>
                        </a:spcBef>
                        <a:spcAft>
                          <a:spcPts val="0"/>
                        </a:spcAft>
                        <a:buNone/>
                      </a:pPr>
                      <a:r>
                        <a:rPr lang="en-IN" sz="1800" b="0">
                          <a:solidFill>
                            <a:srgbClr val="172C42"/>
                          </a:solidFill>
                          <a:effectLst/>
                          <a:latin typeface="Aptos"/>
                        </a:rPr>
                        <a:t>What must already be running</a:t>
                      </a:r>
                      <a:endParaRPr lang="en-IN" sz="1050" b="0" i="0">
                        <a:solidFill>
                          <a:srgbClr val="F0F0F0"/>
                        </a:solidFill>
                        <a:effectLst/>
                        <a:latin typeface="Segoe WPC"/>
                      </a:endParaRPr>
                    </a:p>
                  </a:txBody>
                  <a:tcPr marL="128016" marR="128016" marT="109728" marB="82296">
                    <a:solidFill>
                      <a:srgbClr val="F0F4F6"/>
                    </a:solidFill>
                  </a:tcPr>
                </a:tc>
                <a:tc>
                  <a:txBody>
                    <a:bodyPr/>
                    <a:lstStyle/>
                    <a:p>
                      <a:pPr algn="l" fontAlgn="t" latinLnBrk="0">
                        <a:lnSpc>
                          <a:spcPts val="2200"/>
                        </a:lnSpc>
                        <a:spcBef>
                          <a:spcPts val="0"/>
                        </a:spcBef>
                        <a:spcAft>
                          <a:spcPts val="0"/>
                        </a:spcAft>
                        <a:buNone/>
                      </a:pPr>
                      <a:r>
                        <a:rPr lang="en-IN" sz="1800" b="0">
                          <a:solidFill>
                            <a:srgbClr val="172C42"/>
                          </a:solidFill>
                          <a:effectLst/>
                          <a:latin typeface="Aptos"/>
                        </a:rPr>
                        <a:t>The bank is open at http://localhost:5173/</a:t>
                      </a:r>
                      <a:endParaRPr lang="en-IN" sz="1050" b="0" i="0">
                        <a:solidFill>
                          <a:srgbClr val="F0F0F0"/>
                        </a:solidFill>
                        <a:effectLst/>
                        <a:latin typeface="Segoe WPC"/>
                      </a:endParaRPr>
                    </a:p>
                  </a:txBody>
                  <a:tcPr marL="128016" marR="128016" marT="109728" marB="82296">
                    <a:solidFill>
                      <a:srgbClr val="F0F4F6"/>
                    </a:solidFill>
                  </a:tcPr>
                </a:tc>
                <a:extLst>
                  <a:ext uri="{0D108BD9-81ED-4DB2-BD59-A6C34878D82A}">
                    <a16:rowId xmlns:a16="http://schemas.microsoft.com/office/drawing/2014/main" val="2718931030"/>
                  </a:ext>
                </a:extLst>
              </a:tr>
              <a:tr h="1078992">
                <a:tc>
                  <a:txBody>
                    <a:bodyPr/>
                    <a:lstStyle/>
                    <a:p>
                      <a:pPr algn="l" fontAlgn="t" latinLnBrk="0">
                        <a:lnSpc>
                          <a:spcPts val="2200"/>
                        </a:lnSpc>
                        <a:spcBef>
                          <a:spcPts val="0"/>
                        </a:spcBef>
                        <a:spcAft>
                          <a:spcPts val="0"/>
                        </a:spcAft>
                        <a:buNone/>
                      </a:pPr>
                      <a:r>
                        <a:rPr lang="en-IN" sz="1800" b="1">
                          <a:solidFill>
                            <a:srgbClr val="172C42"/>
                          </a:solidFill>
                          <a:effectLst/>
                          <a:latin typeface="Aptos"/>
                        </a:rPr>
                        <a:t>Action</a:t>
                      </a:r>
                      <a:endParaRPr lang="en-IN" sz="1050" b="0" i="0">
                        <a:solidFill>
                          <a:srgbClr val="F0F0F0"/>
                        </a:solidFill>
                        <a:effectLst/>
                        <a:latin typeface="Segoe WPC"/>
                      </a:endParaRPr>
                    </a:p>
                  </a:txBody>
                  <a:tcPr marL="128016" marR="128016" marT="109728" marB="82296">
                    <a:solidFill>
                      <a:srgbClr val="FFFFFF"/>
                    </a:solidFill>
                  </a:tcPr>
                </a:tc>
                <a:tc>
                  <a:txBody>
                    <a:bodyPr/>
                    <a:lstStyle/>
                    <a:p>
                      <a:pPr algn="l" fontAlgn="t" latinLnBrk="0">
                        <a:lnSpc>
                          <a:spcPts val="2200"/>
                        </a:lnSpc>
                        <a:spcBef>
                          <a:spcPts val="0"/>
                        </a:spcBef>
                        <a:spcAft>
                          <a:spcPts val="0"/>
                        </a:spcAft>
                        <a:buNone/>
                      </a:pPr>
                      <a:r>
                        <a:rPr lang="en-IN" sz="1800" b="0">
                          <a:solidFill>
                            <a:srgbClr val="172C42"/>
                          </a:solidFill>
                          <a:effectLst/>
                          <a:latin typeface="Aptos"/>
                        </a:rPr>
                        <a:t>What the person does</a:t>
                      </a:r>
                      <a:endParaRPr lang="en-IN" sz="1050" b="0" i="0">
                        <a:solidFill>
                          <a:srgbClr val="F0F0F0"/>
                        </a:solidFill>
                        <a:effectLst/>
                        <a:latin typeface="Segoe WPC"/>
                      </a:endParaRPr>
                    </a:p>
                  </a:txBody>
                  <a:tcPr marL="128016" marR="128016" marT="109728" marB="82296">
                    <a:solidFill>
                      <a:srgbClr val="FFFFFF"/>
                    </a:solidFill>
                  </a:tcPr>
                </a:tc>
                <a:tc>
                  <a:txBody>
                    <a:bodyPr/>
                    <a:lstStyle/>
                    <a:p>
                      <a:pPr algn="l" fontAlgn="t" latinLnBrk="0">
                        <a:lnSpc>
                          <a:spcPts val="2200"/>
                        </a:lnSpc>
                        <a:spcBef>
                          <a:spcPts val="0"/>
                        </a:spcBef>
                        <a:spcAft>
                          <a:spcPts val="0"/>
                        </a:spcAft>
                        <a:buNone/>
                      </a:pPr>
                      <a:r>
                        <a:rPr lang="en-IN" sz="1800" b="0">
                          <a:solidFill>
                            <a:srgbClr val="172C42"/>
                          </a:solidFill>
                          <a:effectLst/>
                          <a:latin typeface="Aptos"/>
                        </a:rPr>
                        <a:t>Sign in as synthetic.customer@example.com with password Test1234!, and choose Branch</a:t>
                      </a:r>
                      <a:endParaRPr lang="en-IN" sz="1050" b="0" i="0">
                        <a:solidFill>
                          <a:srgbClr val="F0F0F0"/>
                        </a:solidFill>
                        <a:effectLst/>
                        <a:latin typeface="Segoe WPC"/>
                      </a:endParaRPr>
                    </a:p>
                  </a:txBody>
                  <a:tcPr marL="128016" marR="128016" marT="109728" marB="82296">
                    <a:solidFill>
                      <a:srgbClr val="FFFFFF"/>
                    </a:solidFill>
                  </a:tcPr>
                </a:tc>
                <a:extLst>
                  <a:ext uri="{0D108BD9-81ED-4DB2-BD59-A6C34878D82A}">
                    <a16:rowId xmlns:a16="http://schemas.microsoft.com/office/drawing/2014/main" val="3195183277"/>
                  </a:ext>
                </a:extLst>
              </a:tr>
              <a:tr h="1078992">
                <a:tc>
                  <a:txBody>
                    <a:bodyPr/>
                    <a:lstStyle/>
                    <a:p>
                      <a:pPr algn="l" fontAlgn="t" latinLnBrk="0">
                        <a:lnSpc>
                          <a:spcPts val="2200"/>
                        </a:lnSpc>
                        <a:spcBef>
                          <a:spcPts val="0"/>
                        </a:spcBef>
                        <a:spcAft>
                          <a:spcPts val="0"/>
                        </a:spcAft>
                        <a:buNone/>
                      </a:pPr>
                      <a:r>
                        <a:rPr lang="en-IN" sz="1800" b="1">
                          <a:solidFill>
                            <a:srgbClr val="172C42"/>
                          </a:solidFill>
                          <a:effectLst/>
                          <a:latin typeface="Aptos"/>
                        </a:rPr>
                        <a:t>Expected result</a:t>
                      </a:r>
                      <a:endParaRPr lang="en-IN" sz="1050" b="0" i="0">
                        <a:solidFill>
                          <a:srgbClr val="F0F0F0"/>
                        </a:solidFill>
                        <a:effectLst/>
                        <a:latin typeface="Segoe WPC"/>
                      </a:endParaRPr>
                    </a:p>
                  </a:txBody>
                  <a:tcPr marL="128016" marR="128016" marT="109728" marB="82296">
                    <a:solidFill>
                      <a:srgbClr val="F0F4F6"/>
                    </a:solidFill>
                  </a:tcPr>
                </a:tc>
                <a:tc>
                  <a:txBody>
                    <a:bodyPr/>
                    <a:lstStyle/>
                    <a:p>
                      <a:pPr algn="l" fontAlgn="t" latinLnBrk="0">
                        <a:lnSpc>
                          <a:spcPts val="2200"/>
                        </a:lnSpc>
                        <a:spcBef>
                          <a:spcPts val="0"/>
                        </a:spcBef>
                        <a:spcAft>
                          <a:spcPts val="0"/>
                        </a:spcAft>
                        <a:buNone/>
                      </a:pPr>
                      <a:r>
                        <a:rPr lang="en-IN" sz="1800" b="0">
                          <a:solidFill>
                            <a:srgbClr val="172C42"/>
                          </a:solidFill>
                          <a:effectLst/>
                          <a:latin typeface="Aptos"/>
                        </a:rPr>
                        <a:t>What you should see if the rule is right</a:t>
                      </a:r>
                      <a:endParaRPr lang="en-IN" sz="1050" b="0" i="0">
                        <a:solidFill>
                          <a:srgbClr val="F0F0F0"/>
                        </a:solidFill>
                        <a:effectLst/>
                        <a:latin typeface="Segoe WPC"/>
                      </a:endParaRPr>
                    </a:p>
                  </a:txBody>
                  <a:tcPr marL="128016" marR="128016" marT="109728" marB="82296">
                    <a:solidFill>
                      <a:srgbClr val="F0F4F6"/>
                    </a:solidFill>
                  </a:tcPr>
                </a:tc>
                <a:tc>
                  <a:txBody>
                    <a:bodyPr/>
                    <a:lstStyle/>
                    <a:p>
                      <a:pPr algn="l" fontAlgn="t" latinLnBrk="0">
                        <a:lnSpc>
                          <a:spcPts val="2200"/>
                        </a:lnSpc>
                        <a:spcBef>
                          <a:spcPts val="0"/>
                        </a:spcBef>
                        <a:spcAft>
                          <a:spcPts val="0"/>
                        </a:spcAft>
                        <a:buNone/>
                      </a:pPr>
                      <a:r>
                        <a:rPr lang="en-IN" sz="1800" b="0">
                          <a:solidFill>
                            <a:srgbClr val="172C42"/>
                          </a:solidFill>
                          <a:effectLst/>
                          <a:latin typeface="Aptos"/>
                        </a:rPr>
                        <a:t>The screen shows account 10000001 and Transfer funds</a:t>
                      </a:r>
                      <a:endParaRPr lang="en-IN" sz="1050" b="0" i="0">
                        <a:solidFill>
                          <a:srgbClr val="F0F0F0"/>
                        </a:solidFill>
                        <a:effectLst/>
                        <a:latin typeface="Segoe WPC"/>
                      </a:endParaRPr>
                    </a:p>
                  </a:txBody>
                  <a:tcPr marL="128016" marR="128016" marT="109728" marB="82296">
                    <a:solidFill>
                      <a:srgbClr val="F0F4F6"/>
                    </a:solidFill>
                  </a:tcPr>
                </a:tc>
                <a:extLst>
                  <a:ext uri="{0D108BD9-81ED-4DB2-BD59-A6C34878D82A}">
                    <a16:rowId xmlns:a16="http://schemas.microsoft.com/office/drawing/2014/main" val="233808387"/>
                  </a:ext>
                </a:extLst>
              </a:tr>
              <a:tr h="1078992">
                <a:tc>
                  <a:txBody>
                    <a:bodyPr/>
                    <a:lstStyle/>
                    <a:p>
                      <a:pPr algn="l" fontAlgn="t" latinLnBrk="0">
                        <a:lnSpc>
                          <a:spcPts val="2200"/>
                        </a:lnSpc>
                        <a:spcBef>
                          <a:spcPts val="0"/>
                        </a:spcBef>
                        <a:spcAft>
                          <a:spcPts val="0"/>
                        </a:spcAft>
                        <a:buNone/>
                      </a:pPr>
                      <a:r>
                        <a:rPr lang="en-IN" sz="1800" b="1">
                          <a:solidFill>
                            <a:srgbClr val="172C42"/>
                          </a:solidFill>
                          <a:effectLst/>
                          <a:latin typeface="Aptos"/>
                        </a:rPr>
                        <a:t>Cleanup</a:t>
                      </a:r>
                      <a:endParaRPr lang="en-IN" sz="1050" b="0" i="0">
                        <a:solidFill>
                          <a:srgbClr val="F0F0F0"/>
                        </a:solidFill>
                        <a:effectLst/>
                        <a:latin typeface="Segoe WPC"/>
                      </a:endParaRPr>
                    </a:p>
                  </a:txBody>
                  <a:tcPr marL="128016" marR="128016" marT="109728" marB="82296">
                    <a:solidFill>
                      <a:srgbClr val="FFFFFF"/>
                    </a:solidFill>
                  </a:tcPr>
                </a:tc>
                <a:tc>
                  <a:txBody>
                    <a:bodyPr/>
                    <a:lstStyle/>
                    <a:p>
                      <a:pPr algn="l" fontAlgn="t" latinLnBrk="0">
                        <a:lnSpc>
                          <a:spcPts val="2200"/>
                        </a:lnSpc>
                        <a:spcBef>
                          <a:spcPts val="0"/>
                        </a:spcBef>
                        <a:spcAft>
                          <a:spcPts val="0"/>
                        </a:spcAft>
                        <a:buNone/>
                      </a:pPr>
                      <a:r>
                        <a:rPr lang="en-IN" sz="1800" b="0">
                          <a:solidFill>
                            <a:srgbClr val="172C42"/>
                          </a:solidFill>
                          <a:effectLst/>
                          <a:latin typeface="Aptos"/>
                        </a:rPr>
                        <a:t>How you leave the app ready for the next check</a:t>
                      </a:r>
                      <a:endParaRPr lang="en-IN" sz="1050" b="0" i="0">
                        <a:solidFill>
                          <a:srgbClr val="F0F0F0"/>
                        </a:solidFill>
                        <a:effectLst/>
                        <a:latin typeface="Segoe WPC"/>
                      </a:endParaRPr>
                    </a:p>
                  </a:txBody>
                  <a:tcPr marL="128016" marR="128016" marT="109728" marB="82296">
                    <a:solidFill>
                      <a:srgbClr val="FFFFFF"/>
                    </a:solidFill>
                  </a:tcPr>
                </a:tc>
                <a:tc>
                  <a:txBody>
                    <a:bodyPr/>
                    <a:lstStyle/>
                    <a:p>
                      <a:pPr algn="l" fontAlgn="t" latinLnBrk="0">
                        <a:lnSpc>
                          <a:spcPts val="2200"/>
                        </a:lnSpc>
                        <a:spcBef>
                          <a:spcPts val="0"/>
                        </a:spcBef>
                        <a:spcAft>
                          <a:spcPts val="0"/>
                        </a:spcAft>
                        <a:buNone/>
                      </a:pPr>
                      <a:r>
                        <a:rPr lang="en-IN" sz="1800" b="0">
                          <a:solidFill>
                            <a:srgbClr val="172C42"/>
                          </a:solidFill>
                          <a:effectLst/>
                          <a:latin typeface="Aptos"/>
                        </a:rPr>
                        <a:t>Click Log out and see Sign in again</a:t>
                      </a:r>
                      <a:endParaRPr lang="en-IN" sz="1050" b="0" i="0">
                        <a:solidFill>
                          <a:srgbClr val="F0F0F0"/>
                        </a:solidFill>
                        <a:effectLst/>
                        <a:latin typeface="Segoe WPC"/>
                      </a:endParaRPr>
                    </a:p>
                  </a:txBody>
                  <a:tcPr marL="128016" marR="128016" marT="109728" marB="82296">
                    <a:solidFill>
                      <a:srgbClr val="FFFFFF"/>
                    </a:solidFill>
                  </a:tcPr>
                </a:tc>
                <a:extLst>
                  <a:ext uri="{0D108BD9-81ED-4DB2-BD59-A6C34878D82A}">
                    <a16:rowId xmlns:a16="http://schemas.microsoft.com/office/drawing/2014/main" val="2929587452"/>
                  </a:ext>
                </a:extLst>
              </a:tr>
            </a:tbl>
          </a:graphicData>
        </a:graphic>
      </p:graphicFrame>
    </p:spTree>
    <p:extLst>
      <p:ext uri="{BB962C8B-B14F-4D97-AF65-F5344CB8AC3E}">
        <p14:creationId xmlns:p14="http://schemas.microsoft.com/office/powerpoint/2010/main" val="9546509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37405-4CF3-EDD6-B609-968D0A79DBD2}"/>
              </a:ext>
            </a:extLst>
          </p:cNvPr>
          <p:cNvSpPr>
            <a:spLocks noGrp="1"/>
          </p:cNvSpPr>
          <p:nvPr>
            <p:ph type="ctrTitle"/>
          </p:nvPr>
        </p:nvSpPr>
        <p:spPr>
          <a:xfrm>
            <a:off x="594360" y="411480"/>
            <a:ext cx="10972800" cy="548640"/>
          </a:xfrm>
        </p:spPr>
        <p:txBody>
          <a:bodyPr wrap="square" lIns="0" tIns="0" rIns="0" bIns="0"/>
          <a:lstStyle/>
          <a:p>
            <a:pPr algn="l">
              <a:spcAft>
                <a:spcPts val="600"/>
              </a:spcAft>
            </a:pPr>
            <a:r>
              <a:rPr lang="en-US" sz="3200" b="1">
                <a:solidFill>
                  <a:srgbClr val="172C42"/>
                </a:solidFill>
              </a:rPr>
              <a:t>Test-case design: the bank detective’s recipe</a:t>
            </a:r>
            <a:endParaRPr lang="en-US"/>
          </a:p>
        </p:txBody>
      </p:sp>
      <p:sp>
        <p:nvSpPr>
          <p:cNvPr id="3" name="Subtitle 2">
            <a:extLst>
              <a:ext uri="{FF2B5EF4-FFF2-40B4-BE49-F238E27FC236}">
                <a16:creationId xmlns:a16="http://schemas.microsoft.com/office/drawing/2014/main" id="{068CEAE8-6FB4-4AC3-98CB-C0BAC1584446}"/>
              </a:ext>
            </a:extLst>
          </p:cNvPr>
          <p:cNvSpPr>
            <a:spLocks noGrp="1"/>
          </p:cNvSpPr>
          <p:nvPr>
            <p:ph type="subTitle" idx="1"/>
          </p:nvPr>
        </p:nvSpPr>
        <p:spPr>
          <a:xfrm>
            <a:off x="594360" y="1078992"/>
            <a:ext cx="10972800" cy="502920"/>
          </a:xfrm>
        </p:spPr>
        <p:txBody>
          <a:bodyPr wrap="square" lIns="0" tIns="0" rIns="0" bIns="0"/>
          <a:lstStyle/>
          <a:p>
            <a:pPr marL="0" indent="0" algn="l">
              <a:spcAft>
                <a:spcPts val="600"/>
              </a:spcAft>
              <a:buNone/>
            </a:pPr>
            <a:r>
              <a:rPr lang="en-US" sz="2200" b="0">
                <a:solidFill>
                  <a:srgbClr val="3C4A58"/>
                </a:solidFill>
              </a:rPr>
              <a:t>Branch sign-in example: clear setup, repeatable actions, and a checkable result.</a:t>
            </a:r>
            <a:endParaRPr lang="en-US"/>
          </a:p>
        </p:txBody>
      </p:sp>
      <p:sp>
        <p:nvSpPr>
          <p:cNvPr id="4" name="TextBox 3"/>
          <p:cNvSpPr txBox="1"/>
          <p:nvPr/>
        </p:nvSpPr>
        <p:spPr>
          <a:xfrm>
            <a:off x="594360" y="1856231"/>
            <a:ext cx="2496312" cy="457200"/>
          </a:xfrm>
          <a:prstGeom prst="rect">
            <a:avLst/>
          </a:prstGeom>
          <a:noFill/>
        </p:spPr>
        <p:txBody>
          <a:bodyPr wrap="square" lIns="0" tIns="0" rIns="0" bIns="0">
            <a:spAutoFit/>
          </a:bodyPr>
          <a:lstStyle/>
          <a:p>
            <a:pPr>
              <a:lnSpc>
                <a:spcPct val="105000"/>
              </a:lnSpc>
              <a:spcAft>
                <a:spcPts val="0"/>
              </a:spcAft>
            </a:pPr>
            <a:r>
              <a:rPr sz="2200" b="1">
                <a:solidFill>
                  <a:srgbClr val="172C42"/>
                </a:solidFill>
              </a:rPr>
              <a:t>1  Start state</a:t>
            </a:r>
          </a:p>
        </p:txBody>
      </p:sp>
      <p:sp>
        <p:nvSpPr>
          <p:cNvPr id="5" name="TextBox 4"/>
          <p:cNvSpPr txBox="1"/>
          <p:nvPr/>
        </p:nvSpPr>
        <p:spPr>
          <a:xfrm>
            <a:off x="3429000" y="1856231"/>
            <a:ext cx="2496312" cy="457200"/>
          </a:xfrm>
          <a:prstGeom prst="rect">
            <a:avLst/>
          </a:prstGeom>
          <a:noFill/>
        </p:spPr>
        <p:txBody>
          <a:bodyPr wrap="square" lIns="0" tIns="0" rIns="0" bIns="0">
            <a:spAutoFit/>
          </a:bodyPr>
          <a:lstStyle/>
          <a:p>
            <a:pPr>
              <a:lnSpc>
                <a:spcPct val="105000"/>
              </a:lnSpc>
              <a:spcAft>
                <a:spcPts val="0"/>
              </a:spcAft>
            </a:pPr>
            <a:r>
              <a:rPr sz="2200" b="1">
                <a:solidFill>
                  <a:srgbClr val="172C42"/>
                </a:solidFill>
              </a:rPr>
              <a:t>2  Actions &amp; data</a:t>
            </a:r>
          </a:p>
        </p:txBody>
      </p:sp>
      <p:sp>
        <p:nvSpPr>
          <p:cNvPr id="6" name="TextBox 5"/>
          <p:cNvSpPr txBox="1"/>
          <p:nvPr/>
        </p:nvSpPr>
        <p:spPr>
          <a:xfrm>
            <a:off x="6263640" y="1856231"/>
            <a:ext cx="2496312" cy="457200"/>
          </a:xfrm>
          <a:prstGeom prst="rect">
            <a:avLst/>
          </a:prstGeom>
          <a:noFill/>
        </p:spPr>
        <p:txBody>
          <a:bodyPr wrap="square" lIns="0" tIns="0" rIns="0" bIns="0">
            <a:spAutoFit/>
          </a:bodyPr>
          <a:lstStyle/>
          <a:p>
            <a:pPr>
              <a:lnSpc>
                <a:spcPct val="105000"/>
              </a:lnSpc>
              <a:spcAft>
                <a:spcPts val="0"/>
              </a:spcAft>
            </a:pPr>
            <a:r>
              <a:rPr sz="2200" b="1">
                <a:solidFill>
                  <a:srgbClr val="172C42"/>
                </a:solidFill>
              </a:rPr>
              <a:t>3  Expected result</a:t>
            </a:r>
          </a:p>
        </p:txBody>
      </p:sp>
      <p:sp>
        <p:nvSpPr>
          <p:cNvPr id="7" name="TextBox 6"/>
          <p:cNvSpPr txBox="1"/>
          <p:nvPr/>
        </p:nvSpPr>
        <p:spPr>
          <a:xfrm>
            <a:off x="9098280" y="1856231"/>
            <a:ext cx="2496312" cy="457200"/>
          </a:xfrm>
          <a:prstGeom prst="rect">
            <a:avLst/>
          </a:prstGeom>
          <a:noFill/>
        </p:spPr>
        <p:txBody>
          <a:bodyPr wrap="square" lIns="0" tIns="0" rIns="0" bIns="0">
            <a:spAutoFit/>
          </a:bodyPr>
          <a:lstStyle/>
          <a:p>
            <a:pPr>
              <a:lnSpc>
                <a:spcPct val="105000"/>
              </a:lnSpc>
              <a:spcAft>
                <a:spcPts val="0"/>
              </a:spcAft>
            </a:pPr>
            <a:r>
              <a:rPr sz="2200" b="1">
                <a:solidFill>
                  <a:srgbClr val="172C42"/>
                </a:solidFill>
              </a:rPr>
              <a:t>4  Cleanup</a:t>
            </a:r>
          </a:p>
        </p:txBody>
      </p:sp>
      <p:pic>
        <p:nvPicPr>
          <p:cNvPr id="8" name="Picture 7" descr="image-da066a1657e662ccb1920ff502939f99-scene-0.png"/>
          <p:cNvPicPr>
            <a:picLocks noChangeAspect="1"/>
          </p:cNvPicPr>
          <p:nvPr/>
        </p:nvPicPr>
        <p:blipFill>
          <a:blip r:embed="rId3"/>
          <a:stretch>
            <a:fillRect/>
          </a:stretch>
        </p:blipFill>
        <p:spPr>
          <a:xfrm>
            <a:off x="1244934" y="2414016"/>
            <a:ext cx="1195163" cy="1874519"/>
          </a:xfrm>
          <a:prstGeom prst="rect">
            <a:avLst/>
          </a:prstGeom>
        </p:spPr>
      </p:pic>
      <p:pic>
        <p:nvPicPr>
          <p:cNvPr id="9" name="Picture 8" descr="image-da066a1657e662ccb1920ff502939f99-scene-1.png"/>
          <p:cNvPicPr>
            <a:picLocks noChangeAspect="1"/>
          </p:cNvPicPr>
          <p:nvPr/>
        </p:nvPicPr>
        <p:blipFill>
          <a:blip r:embed="rId4"/>
          <a:stretch>
            <a:fillRect/>
          </a:stretch>
        </p:blipFill>
        <p:spPr>
          <a:xfrm>
            <a:off x="4070138" y="2414016"/>
            <a:ext cx="1214034" cy="1874519"/>
          </a:xfrm>
          <a:prstGeom prst="rect">
            <a:avLst/>
          </a:prstGeom>
        </p:spPr>
      </p:pic>
      <p:pic>
        <p:nvPicPr>
          <p:cNvPr id="10" name="Picture 9" descr="image-da066a1657e662ccb1920ff502939f99-scene-2.png"/>
          <p:cNvPicPr>
            <a:picLocks noChangeAspect="1"/>
          </p:cNvPicPr>
          <p:nvPr/>
        </p:nvPicPr>
        <p:blipFill>
          <a:blip r:embed="rId5"/>
          <a:stretch>
            <a:fillRect/>
          </a:stretch>
        </p:blipFill>
        <p:spPr>
          <a:xfrm>
            <a:off x="6917359" y="2414016"/>
            <a:ext cx="1188873" cy="1874519"/>
          </a:xfrm>
          <a:prstGeom prst="rect">
            <a:avLst/>
          </a:prstGeom>
        </p:spPr>
      </p:pic>
      <p:pic>
        <p:nvPicPr>
          <p:cNvPr id="11" name="Picture 10" descr="image-da066a1657e662ccb1920ff502939f99-scene-3.png"/>
          <p:cNvPicPr>
            <a:picLocks noChangeAspect="1"/>
          </p:cNvPicPr>
          <p:nvPr/>
        </p:nvPicPr>
        <p:blipFill>
          <a:blip r:embed="rId6"/>
          <a:stretch>
            <a:fillRect/>
          </a:stretch>
        </p:blipFill>
        <p:spPr>
          <a:xfrm>
            <a:off x="9737846" y="2414016"/>
            <a:ext cx="1217179" cy="1874519"/>
          </a:xfrm>
          <a:prstGeom prst="rect">
            <a:avLst/>
          </a:prstGeom>
        </p:spPr>
      </p:pic>
      <p:sp>
        <p:nvSpPr>
          <p:cNvPr id="12" name="TextBox 11"/>
          <p:cNvSpPr txBox="1"/>
          <p:nvPr/>
        </p:nvSpPr>
        <p:spPr>
          <a:xfrm>
            <a:off x="594360" y="4544568"/>
            <a:ext cx="2496312" cy="548640"/>
          </a:xfrm>
          <a:prstGeom prst="rect">
            <a:avLst/>
          </a:prstGeom>
          <a:noFill/>
        </p:spPr>
        <p:txBody>
          <a:bodyPr wrap="square" lIns="0" tIns="0" rIns="0" bIns="0">
            <a:spAutoFit/>
          </a:bodyPr>
          <a:lstStyle/>
          <a:p>
            <a:pPr>
              <a:lnSpc>
                <a:spcPct val="105000"/>
              </a:lnSpc>
              <a:spcAft>
                <a:spcPts val="0"/>
              </a:spcAft>
            </a:pPr>
            <a:r>
              <a:rPr sz="2000" b="1">
                <a:solidFill>
                  <a:srgbClr val="007D87"/>
                </a:solidFill>
              </a:rPr>
              <a:t>“Ingredients first!”</a:t>
            </a:r>
          </a:p>
        </p:txBody>
      </p:sp>
      <p:sp>
        <p:nvSpPr>
          <p:cNvPr id="13" name="TextBox 12"/>
          <p:cNvSpPr txBox="1"/>
          <p:nvPr/>
        </p:nvSpPr>
        <p:spPr>
          <a:xfrm>
            <a:off x="594360" y="5212080"/>
            <a:ext cx="2496312" cy="1005840"/>
          </a:xfrm>
          <a:prstGeom prst="rect">
            <a:avLst/>
          </a:prstGeom>
          <a:noFill/>
        </p:spPr>
        <p:txBody>
          <a:bodyPr wrap="square" lIns="0" tIns="0" rIns="0" bIns="0">
            <a:spAutoFit/>
          </a:bodyPr>
          <a:lstStyle/>
          <a:p>
            <a:pPr>
              <a:lnSpc>
                <a:spcPct val="105000"/>
              </a:lnSpc>
              <a:spcAft>
                <a:spcPts val="0"/>
              </a:spcAft>
            </a:pPr>
            <a:r>
              <a:rPr sz="2000" b="0">
                <a:solidFill>
                  <a:srgbClr val="172C42"/>
                </a:solidFill>
              </a:rPr>
              <a:t>Bank app running.</a:t>
            </a:r>
          </a:p>
          <a:p>
            <a:pPr>
              <a:lnSpc>
                <a:spcPct val="105000"/>
              </a:lnSpc>
              <a:spcAft>
                <a:spcPts val="0"/>
              </a:spcAft>
            </a:pPr>
            <a:r>
              <a:rPr sz="2000" b="0">
                <a:solidFill>
                  <a:srgbClr val="172C42"/>
                </a:solidFill>
              </a:rPr>
              <a:t>Known test customer ready.</a:t>
            </a:r>
          </a:p>
        </p:txBody>
      </p:sp>
      <p:sp>
        <p:nvSpPr>
          <p:cNvPr id="14" name="TextBox 13"/>
          <p:cNvSpPr txBox="1"/>
          <p:nvPr/>
        </p:nvSpPr>
        <p:spPr>
          <a:xfrm>
            <a:off x="3429000" y="4544568"/>
            <a:ext cx="2496312" cy="548640"/>
          </a:xfrm>
          <a:prstGeom prst="rect">
            <a:avLst/>
          </a:prstGeom>
          <a:noFill/>
        </p:spPr>
        <p:txBody>
          <a:bodyPr wrap="square" lIns="0" tIns="0" rIns="0" bIns="0">
            <a:spAutoFit/>
          </a:bodyPr>
          <a:lstStyle/>
          <a:p>
            <a:pPr>
              <a:lnSpc>
                <a:spcPct val="105000"/>
              </a:lnSpc>
              <a:spcAft>
                <a:spcPts val="0"/>
              </a:spcAft>
            </a:pPr>
            <a:r>
              <a:rPr sz="2000" b="1">
                <a:solidFill>
                  <a:srgbClr val="007D87"/>
                </a:solidFill>
              </a:rPr>
              <a:t>“No mystery clicks.”</a:t>
            </a:r>
          </a:p>
        </p:txBody>
      </p:sp>
      <p:sp>
        <p:nvSpPr>
          <p:cNvPr id="15" name="TextBox 14"/>
          <p:cNvSpPr txBox="1"/>
          <p:nvPr/>
        </p:nvSpPr>
        <p:spPr>
          <a:xfrm>
            <a:off x="3429000" y="5212080"/>
            <a:ext cx="2496312" cy="1005840"/>
          </a:xfrm>
          <a:prstGeom prst="rect">
            <a:avLst/>
          </a:prstGeom>
          <a:noFill/>
        </p:spPr>
        <p:txBody>
          <a:bodyPr wrap="square" lIns="0" tIns="0" rIns="0" bIns="0">
            <a:spAutoFit/>
          </a:bodyPr>
          <a:lstStyle/>
          <a:p>
            <a:pPr>
              <a:lnSpc>
                <a:spcPct val="105000"/>
              </a:lnSpc>
              <a:spcAft>
                <a:spcPts val="0"/>
              </a:spcAft>
            </a:pPr>
            <a:r>
              <a:rPr sz="2000" b="0">
                <a:solidFill>
                  <a:srgbClr val="172C42"/>
                </a:solidFill>
              </a:rPr>
              <a:t>Sign in with test credentials.</a:t>
            </a:r>
          </a:p>
          <a:p>
            <a:pPr>
              <a:lnSpc>
                <a:spcPct val="105000"/>
              </a:lnSpc>
              <a:spcAft>
                <a:spcPts val="0"/>
              </a:spcAft>
            </a:pPr>
            <a:r>
              <a:rPr sz="2000" b="0">
                <a:solidFill>
                  <a:srgbClr val="172C42"/>
                </a:solidFill>
              </a:rPr>
              <a:t>Choose Branch.</a:t>
            </a:r>
          </a:p>
        </p:txBody>
      </p:sp>
      <p:sp>
        <p:nvSpPr>
          <p:cNvPr id="16" name="TextBox 15"/>
          <p:cNvSpPr txBox="1"/>
          <p:nvPr/>
        </p:nvSpPr>
        <p:spPr>
          <a:xfrm>
            <a:off x="6263640" y="4544568"/>
            <a:ext cx="2496312" cy="548640"/>
          </a:xfrm>
          <a:prstGeom prst="rect">
            <a:avLst/>
          </a:prstGeom>
          <a:noFill/>
        </p:spPr>
        <p:txBody>
          <a:bodyPr wrap="square" lIns="0" tIns="0" rIns="0" bIns="0">
            <a:spAutoFit/>
          </a:bodyPr>
          <a:lstStyle/>
          <a:p>
            <a:pPr>
              <a:lnSpc>
                <a:spcPct val="105000"/>
              </a:lnSpc>
              <a:spcAft>
                <a:spcPts val="0"/>
              </a:spcAft>
            </a:pPr>
            <a:r>
              <a:rPr sz="2000" b="1">
                <a:solidFill>
                  <a:srgbClr val="007D87"/>
                </a:solidFill>
              </a:rPr>
              <a:t>“What counts as a pass?”</a:t>
            </a:r>
          </a:p>
        </p:txBody>
      </p:sp>
      <p:sp>
        <p:nvSpPr>
          <p:cNvPr id="17" name="TextBox 16"/>
          <p:cNvSpPr txBox="1"/>
          <p:nvPr/>
        </p:nvSpPr>
        <p:spPr>
          <a:xfrm>
            <a:off x="6263640" y="5212080"/>
            <a:ext cx="2496312" cy="1005840"/>
          </a:xfrm>
          <a:prstGeom prst="rect">
            <a:avLst/>
          </a:prstGeom>
          <a:noFill/>
        </p:spPr>
        <p:txBody>
          <a:bodyPr wrap="square" lIns="0" tIns="0" rIns="0" bIns="0">
            <a:spAutoFit/>
          </a:bodyPr>
          <a:lstStyle/>
          <a:p>
            <a:pPr>
              <a:lnSpc>
                <a:spcPct val="105000"/>
              </a:lnSpc>
              <a:spcAft>
                <a:spcPts val="0"/>
              </a:spcAft>
            </a:pPr>
            <a:r>
              <a:rPr sz="2000" b="0">
                <a:solidFill>
                  <a:srgbClr val="172C42"/>
                </a:solidFill>
              </a:rPr>
              <a:t>Account 10000001 +</a:t>
            </a:r>
          </a:p>
          <a:p>
            <a:pPr>
              <a:lnSpc>
                <a:spcPct val="105000"/>
              </a:lnSpc>
              <a:spcAft>
                <a:spcPts val="0"/>
              </a:spcAft>
            </a:pPr>
            <a:r>
              <a:rPr sz="2000" b="0">
                <a:solidFill>
                  <a:srgbClr val="172C42"/>
                </a:solidFill>
              </a:rPr>
              <a:t>Transfer funds visible.</a:t>
            </a:r>
          </a:p>
        </p:txBody>
      </p:sp>
      <p:sp>
        <p:nvSpPr>
          <p:cNvPr id="18" name="TextBox 17"/>
          <p:cNvSpPr txBox="1"/>
          <p:nvPr/>
        </p:nvSpPr>
        <p:spPr>
          <a:xfrm>
            <a:off x="9098280" y="4544568"/>
            <a:ext cx="2496312" cy="548640"/>
          </a:xfrm>
          <a:prstGeom prst="rect">
            <a:avLst/>
          </a:prstGeom>
          <a:noFill/>
        </p:spPr>
        <p:txBody>
          <a:bodyPr wrap="square" lIns="0" tIns="0" rIns="0" bIns="0">
            <a:spAutoFit/>
          </a:bodyPr>
          <a:lstStyle/>
          <a:p>
            <a:pPr>
              <a:lnSpc>
                <a:spcPct val="105000"/>
              </a:lnSpc>
              <a:spcAft>
                <a:spcPts val="0"/>
              </a:spcAft>
            </a:pPr>
            <a:r>
              <a:rPr sz="2000" b="1">
                <a:solidFill>
                  <a:srgbClr val="007D87"/>
                </a:solidFill>
              </a:rPr>
              <a:t>“Leave no crumbs.”</a:t>
            </a:r>
          </a:p>
        </p:txBody>
      </p:sp>
      <p:sp>
        <p:nvSpPr>
          <p:cNvPr id="19" name="TextBox 18"/>
          <p:cNvSpPr txBox="1"/>
          <p:nvPr/>
        </p:nvSpPr>
        <p:spPr>
          <a:xfrm>
            <a:off x="9098280" y="5212080"/>
            <a:ext cx="2496312" cy="1005840"/>
          </a:xfrm>
          <a:prstGeom prst="rect">
            <a:avLst/>
          </a:prstGeom>
          <a:noFill/>
        </p:spPr>
        <p:txBody>
          <a:bodyPr wrap="square" lIns="0" tIns="0" rIns="0" bIns="0">
            <a:spAutoFit/>
          </a:bodyPr>
          <a:lstStyle/>
          <a:p>
            <a:pPr>
              <a:lnSpc>
                <a:spcPct val="105000"/>
              </a:lnSpc>
              <a:spcAft>
                <a:spcPts val="0"/>
              </a:spcAft>
            </a:pPr>
            <a:r>
              <a:rPr sz="2000" b="0">
                <a:solidFill>
                  <a:srgbClr val="172C42"/>
                </a:solidFill>
              </a:rPr>
              <a:t>Log out.</a:t>
            </a:r>
          </a:p>
          <a:p>
            <a:pPr>
              <a:lnSpc>
                <a:spcPct val="105000"/>
              </a:lnSpc>
              <a:spcAft>
                <a:spcPts val="0"/>
              </a:spcAft>
            </a:pPr>
            <a:r>
              <a:rPr sz="2000" b="0">
                <a:solidFill>
                  <a:srgbClr val="172C42"/>
                </a:solidFill>
              </a:rPr>
              <a:t>Sign in appears again.</a:t>
            </a:r>
          </a:p>
        </p:txBody>
      </p:sp>
      <p:sp>
        <p:nvSpPr>
          <p:cNvPr id="20" name="TextBox 19"/>
          <p:cNvSpPr txBox="1"/>
          <p:nvPr/>
        </p:nvSpPr>
        <p:spPr>
          <a:xfrm>
            <a:off x="594360" y="6428232"/>
            <a:ext cx="10972800" cy="274320"/>
          </a:xfrm>
          <a:prstGeom prst="rect">
            <a:avLst/>
          </a:prstGeom>
          <a:noFill/>
        </p:spPr>
        <p:txBody>
          <a:bodyPr wrap="square" lIns="0" tIns="0" rIns="0" bIns="0">
            <a:spAutoFit/>
          </a:bodyPr>
          <a:lstStyle/>
          <a:p>
            <a:pPr>
              <a:lnSpc>
                <a:spcPct val="105000"/>
              </a:lnSpc>
              <a:spcAft>
                <a:spcPts val="0"/>
              </a:spcAft>
            </a:pPr>
            <a:r>
              <a:rPr sz="1800" b="1">
                <a:solidFill>
                  <a:srgbClr val="172C42"/>
                </a:solidFill>
              </a:rPr>
              <a:t>Write the expected result before running the test.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713232" y="365760"/>
            <a:ext cx="10972800" cy="594360"/>
          </a:xfrm>
          <a:prstGeom prst="rect">
            <a:avLst/>
          </a:prstGeom>
          <a:noFill/>
        </p:spPr>
        <p:txBody>
          <a:bodyPr wrap="square" lIns="0" tIns="0" rIns="0" bIns="0" anchor="t">
            <a:spAutoFit/>
          </a:bodyPr>
          <a:lstStyle/>
          <a:p>
            <a:pPr>
              <a:lnSpc>
                <a:spcPts val="3500"/>
              </a:lnSpc>
              <a:spcBef>
                <a:spcPts val="0"/>
              </a:spcBef>
              <a:spcAft>
                <a:spcPts val="0"/>
              </a:spcAft>
            </a:pPr>
            <a:r>
              <a:rPr sz="3200" b="1">
                <a:solidFill>
                  <a:srgbClr val="FFFFFF"/>
                </a:solidFill>
              </a:rPr>
              <a:t>Selenium sign-in test</a:t>
            </a:r>
          </a:p>
        </p:txBody>
      </p:sp>
      <p:sp>
        <p:nvSpPr>
          <p:cNvPr id="19" name="TextBox 18"/>
          <p:cNvSpPr txBox="1"/>
          <p:nvPr/>
        </p:nvSpPr>
        <p:spPr>
          <a:xfrm>
            <a:off x="594360" y="1143000"/>
            <a:ext cx="54864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1  Launch Chrome and enter credentials</a:t>
            </a:r>
          </a:p>
        </p:txBody>
      </p:sp>
      <p:sp>
        <p:nvSpPr>
          <p:cNvPr id="20" name="TextBox 19"/>
          <p:cNvSpPr txBox="1"/>
          <p:nvPr/>
        </p:nvSpPr>
        <p:spPr>
          <a:xfrm>
            <a:off x="6309360" y="1143000"/>
            <a:ext cx="54864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2  Sign in, check the account and close</a:t>
            </a:r>
          </a:p>
        </p:txBody>
      </p:sp>
      <p:sp>
        <p:nvSpPr>
          <p:cNvPr id="21" name="TextBox 20"/>
          <p:cNvSpPr txBox="1"/>
          <p:nvPr/>
        </p:nvSpPr>
        <p:spPr>
          <a:xfrm>
            <a:off x="411480" y="1874519"/>
            <a:ext cx="5577840" cy="4617720"/>
          </a:xfrm>
          <a:prstGeom prst="rect">
            <a:avLst/>
          </a:prstGeom>
          <a:noFill/>
        </p:spPr>
        <p:txBody>
          <a:bodyPr wrap="square" lIns="0" tIns="0" rIns="0" bIns="0" anchor="t">
            <a:spAutoFit/>
          </a:bodyPr>
          <a:lstStyle/>
          <a:p>
            <a:pPr>
              <a:lnSpc>
                <a:spcPts val="1900"/>
              </a:lnSpc>
              <a:spcBef>
                <a:spcPts val="0"/>
              </a:spcBef>
              <a:spcAft>
                <a:spcPts val="0"/>
              </a:spcAft>
            </a:pPr>
            <a:r>
              <a:rPr sz="1550" b="1">
                <a:solidFill>
                  <a:srgbClr val="6B3FA0"/>
                </a:solidFill>
                <a:latin typeface="Consolas"/>
              </a:rPr>
              <a:t>import</a:t>
            </a:r>
            <a:r>
              <a:rPr sz="1550" b="0">
                <a:solidFill>
                  <a:srgbClr val="172C42"/>
                </a:solidFill>
                <a:latin typeface="Consolas"/>
              </a:rPr>
              <a:t> { Builder, By, until }</a:t>
            </a:r>
          </a:p>
          <a:p>
            <a:pPr>
              <a:lnSpc>
                <a:spcPts val="1900"/>
              </a:lnSpc>
              <a:spcBef>
                <a:spcPts val="0"/>
              </a:spcBef>
              <a:spcAft>
                <a:spcPts val="0"/>
              </a:spcAft>
            </a:pPr>
            <a:r>
              <a:rPr sz="1550" b="0">
                <a:solidFill>
                  <a:srgbClr val="172C42"/>
                </a:solidFill>
                <a:latin typeface="Consolas"/>
              </a:rPr>
              <a:t>  </a:t>
            </a:r>
            <a:r>
              <a:rPr sz="1550" b="1">
                <a:solidFill>
                  <a:srgbClr val="6B3FA0"/>
                </a:solidFill>
                <a:latin typeface="Consolas"/>
              </a:rPr>
              <a:t>from</a:t>
            </a:r>
            <a:r>
              <a:rPr sz="1550" b="0">
                <a:solidFill>
                  <a:srgbClr val="172C42"/>
                </a:solidFill>
                <a:latin typeface="Consolas"/>
              </a:rPr>
              <a:t> </a:t>
            </a:r>
            <a:r>
              <a:rPr sz="1550" b="0">
                <a:solidFill>
                  <a:srgbClr val="2B6B4A"/>
                </a:solidFill>
                <a:latin typeface="Consolas"/>
              </a:rPr>
              <a:t>'selenium-webdriver'</a:t>
            </a:r>
            <a:r>
              <a:rPr sz="1550" b="0">
                <a:solidFill>
                  <a:srgbClr val="172C42"/>
                </a:solidFill>
                <a:latin typeface="Consolas"/>
              </a:rPr>
              <a:t>;</a:t>
            </a:r>
          </a:p>
          <a:p>
            <a:pPr>
              <a:lnSpc>
                <a:spcPts val="1900"/>
              </a:lnSpc>
              <a:spcBef>
                <a:spcPts val="0"/>
              </a:spcBef>
              <a:spcAft>
                <a:spcPts val="0"/>
              </a:spcAft>
            </a:pPr>
            <a:endParaRPr sz="1550" b="0">
              <a:solidFill>
                <a:srgbClr val="172C42"/>
              </a:solidFill>
              <a:latin typeface="Consolas"/>
            </a:endParaRPr>
          </a:p>
          <a:p>
            <a:pPr>
              <a:lnSpc>
                <a:spcPts val="1900"/>
              </a:lnSpc>
              <a:spcBef>
                <a:spcPts val="0"/>
              </a:spcBef>
              <a:spcAft>
                <a:spcPts val="0"/>
              </a:spcAft>
            </a:pPr>
            <a:r>
              <a:rPr sz="1550" b="1">
                <a:solidFill>
                  <a:srgbClr val="6B3FA0"/>
                </a:solidFill>
                <a:latin typeface="Consolas"/>
              </a:rPr>
              <a:t>const</a:t>
            </a:r>
            <a:r>
              <a:rPr sz="1550" b="0">
                <a:solidFill>
                  <a:srgbClr val="172C42"/>
                </a:solidFill>
                <a:latin typeface="Consolas"/>
              </a:rPr>
              <a:t> driver = </a:t>
            </a:r>
            <a:r>
              <a:rPr sz="1550" b="1">
                <a:solidFill>
                  <a:srgbClr val="6B3FA0"/>
                </a:solidFill>
                <a:latin typeface="Consolas"/>
              </a:rPr>
              <a:t>await</a:t>
            </a:r>
            <a:r>
              <a:rPr sz="1550" b="0">
                <a:solidFill>
                  <a:srgbClr val="172C42"/>
                </a:solidFill>
                <a:latin typeface="Consolas"/>
              </a:rPr>
              <a:t> </a:t>
            </a:r>
            <a:r>
              <a:rPr sz="1550" b="1">
                <a:solidFill>
                  <a:srgbClr val="6B3FA0"/>
                </a:solidFill>
                <a:latin typeface="Consolas"/>
              </a:rPr>
              <a:t>new</a:t>
            </a:r>
            <a:r>
              <a:rPr sz="1550" b="0">
                <a:solidFill>
                  <a:srgbClr val="172C42"/>
                </a:solidFill>
                <a:latin typeface="Consolas"/>
              </a:rPr>
              <a:t> Builder()</a:t>
            </a:r>
          </a:p>
          <a:p>
            <a:pPr>
              <a:lnSpc>
                <a:spcPts val="1900"/>
              </a:lnSpc>
              <a:spcBef>
                <a:spcPts val="0"/>
              </a:spcBef>
              <a:spcAft>
                <a:spcPts val="0"/>
              </a:spcAft>
            </a:pPr>
            <a:r>
              <a:rPr sz="1550" b="0">
                <a:solidFill>
                  <a:srgbClr val="172C42"/>
                </a:solidFill>
                <a:latin typeface="Consolas"/>
              </a:rPr>
              <a:t>  .forBrowser(</a:t>
            </a:r>
            <a:r>
              <a:rPr sz="1550" b="0">
                <a:solidFill>
                  <a:srgbClr val="2B6B4A"/>
                </a:solidFill>
                <a:latin typeface="Consolas"/>
              </a:rPr>
              <a:t>'chrome'</a:t>
            </a:r>
            <a:r>
              <a:rPr sz="1550" b="0">
                <a:solidFill>
                  <a:srgbClr val="172C42"/>
                </a:solidFill>
                <a:latin typeface="Consolas"/>
              </a:rPr>
              <a:t>).build();</a:t>
            </a:r>
          </a:p>
          <a:p>
            <a:pPr>
              <a:lnSpc>
                <a:spcPts val="1900"/>
              </a:lnSpc>
              <a:spcBef>
                <a:spcPts val="0"/>
              </a:spcBef>
              <a:spcAft>
                <a:spcPts val="0"/>
              </a:spcAft>
            </a:pPr>
            <a:endParaRPr sz="1550" b="0">
              <a:solidFill>
                <a:srgbClr val="172C42"/>
              </a:solidFill>
              <a:latin typeface="Consolas"/>
            </a:endParaRPr>
          </a:p>
          <a:p>
            <a:pPr>
              <a:lnSpc>
                <a:spcPts val="1900"/>
              </a:lnSpc>
              <a:spcBef>
                <a:spcPts val="0"/>
              </a:spcBef>
              <a:spcAft>
                <a:spcPts val="0"/>
              </a:spcAft>
            </a:pPr>
            <a:r>
              <a:rPr sz="1550" b="1">
                <a:solidFill>
                  <a:srgbClr val="6B3FA0"/>
                </a:solidFill>
                <a:latin typeface="Consolas"/>
              </a:rPr>
              <a:t>try</a:t>
            </a:r>
            <a:r>
              <a:rPr sz="1550" b="0">
                <a:solidFill>
                  <a:srgbClr val="172C42"/>
                </a:solidFill>
                <a:latin typeface="Consolas"/>
              </a:rPr>
              <a:t> {</a:t>
            </a:r>
          </a:p>
          <a:p>
            <a:pPr>
              <a:lnSpc>
                <a:spcPts val="1900"/>
              </a:lnSpc>
              <a:spcBef>
                <a:spcPts val="0"/>
              </a:spcBef>
              <a:spcAft>
                <a:spcPts val="0"/>
              </a:spcAft>
            </a:pPr>
            <a:r>
              <a:rPr sz="1550" b="0">
                <a:solidFill>
                  <a:srgbClr val="172C42"/>
                </a:solidFill>
                <a:latin typeface="Consolas"/>
              </a:rPr>
              <a:t>  </a:t>
            </a:r>
            <a:r>
              <a:rPr sz="1550" b="1">
                <a:solidFill>
                  <a:srgbClr val="6B3FA0"/>
                </a:solidFill>
                <a:latin typeface="Consolas"/>
              </a:rPr>
              <a:t>await</a:t>
            </a:r>
            <a:r>
              <a:rPr sz="1550" b="0">
                <a:solidFill>
                  <a:srgbClr val="172C42"/>
                </a:solidFill>
                <a:latin typeface="Consolas"/>
              </a:rPr>
              <a:t> driver.get(</a:t>
            </a:r>
            <a:r>
              <a:rPr sz="1550" b="0">
                <a:solidFill>
                  <a:srgbClr val="2B6B4A"/>
                </a:solidFill>
                <a:latin typeface="Consolas"/>
              </a:rPr>
              <a:t>'http://localhost:5173/'</a:t>
            </a:r>
            <a:r>
              <a:rPr sz="1550" b="0">
                <a:solidFill>
                  <a:srgbClr val="172C42"/>
                </a:solidFill>
                <a:latin typeface="Consolas"/>
              </a:rPr>
              <a:t>);</a:t>
            </a:r>
          </a:p>
          <a:p>
            <a:pPr>
              <a:lnSpc>
                <a:spcPts val="1900"/>
              </a:lnSpc>
              <a:spcBef>
                <a:spcPts val="0"/>
              </a:spcBef>
              <a:spcAft>
                <a:spcPts val="0"/>
              </a:spcAft>
            </a:pPr>
            <a:endParaRPr sz="1550" b="0">
              <a:solidFill>
                <a:srgbClr val="172C42"/>
              </a:solidFill>
              <a:latin typeface="Consolas"/>
            </a:endParaRPr>
          </a:p>
          <a:p>
            <a:pPr>
              <a:lnSpc>
                <a:spcPts val="1900"/>
              </a:lnSpc>
              <a:spcBef>
                <a:spcPts val="0"/>
              </a:spcBef>
              <a:spcAft>
                <a:spcPts val="0"/>
              </a:spcAft>
            </a:pPr>
            <a:r>
              <a:rPr sz="1550" b="0">
                <a:solidFill>
                  <a:srgbClr val="172C42"/>
                </a:solidFill>
                <a:latin typeface="Consolas"/>
              </a:rPr>
              <a:t>  </a:t>
            </a:r>
            <a:r>
              <a:rPr sz="1550" b="1">
                <a:solidFill>
                  <a:srgbClr val="6B3FA0"/>
                </a:solidFill>
                <a:latin typeface="Consolas"/>
              </a:rPr>
              <a:t>const</a:t>
            </a:r>
            <a:r>
              <a:rPr sz="1550" b="0">
                <a:solidFill>
                  <a:srgbClr val="172C42"/>
                </a:solidFill>
                <a:latin typeface="Consolas"/>
              </a:rPr>
              <a:t> email = </a:t>
            </a:r>
            <a:r>
              <a:rPr sz="1550" b="1">
                <a:solidFill>
                  <a:srgbClr val="6B3FA0"/>
                </a:solidFill>
                <a:latin typeface="Consolas"/>
              </a:rPr>
              <a:t>await</a:t>
            </a:r>
            <a:r>
              <a:rPr sz="1550" b="0">
                <a:solidFill>
                  <a:srgbClr val="172C42"/>
                </a:solidFill>
                <a:latin typeface="Consolas"/>
              </a:rPr>
              <a:t> driver.findElement(</a:t>
            </a:r>
          </a:p>
          <a:p>
            <a:pPr>
              <a:lnSpc>
                <a:spcPts val="1900"/>
              </a:lnSpc>
              <a:spcBef>
                <a:spcPts val="0"/>
              </a:spcBef>
              <a:spcAft>
                <a:spcPts val="0"/>
              </a:spcAft>
            </a:pPr>
            <a:r>
              <a:rPr sz="1550" b="0">
                <a:solidFill>
                  <a:srgbClr val="172C42"/>
                </a:solidFill>
                <a:latin typeface="Consolas"/>
              </a:rPr>
              <a:t>    By.css(</a:t>
            </a:r>
            <a:r>
              <a:rPr sz="1550" b="0">
                <a:solidFill>
                  <a:srgbClr val="2B6B4A"/>
                </a:solidFill>
                <a:latin typeface="Consolas"/>
              </a:rPr>
              <a:t>'input[autocomplete="username"]'</a:t>
            </a:r>
            <a:r>
              <a:rPr sz="1550" b="0">
                <a:solidFill>
                  <a:srgbClr val="172C42"/>
                </a:solidFill>
                <a:latin typeface="Consolas"/>
              </a:rPr>
              <a:t>));</a:t>
            </a:r>
          </a:p>
          <a:p>
            <a:pPr>
              <a:lnSpc>
                <a:spcPts val="1900"/>
              </a:lnSpc>
              <a:spcBef>
                <a:spcPts val="0"/>
              </a:spcBef>
              <a:spcAft>
                <a:spcPts val="0"/>
              </a:spcAft>
            </a:pPr>
            <a:r>
              <a:rPr sz="1550" b="0">
                <a:solidFill>
                  <a:srgbClr val="172C42"/>
                </a:solidFill>
                <a:latin typeface="Consolas"/>
              </a:rPr>
              <a:t>  </a:t>
            </a:r>
            <a:r>
              <a:rPr sz="1550" b="1">
                <a:solidFill>
                  <a:srgbClr val="6B3FA0"/>
                </a:solidFill>
                <a:latin typeface="Consolas"/>
              </a:rPr>
              <a:t>await</a:t>
            </a:r>
            <a:r>
              <a:rPr sz="1550" b="0">
                <a:solidFill>
                  <a:srgbClr val="172C42"/>
                </a:solidFill>
                <a:latin typeface="Consolas"/>
              </a:rPr>
              <a:t> email.sendKeys(</a:t>
            </a:r>
          </a:p>
          <a:p>
            <a:pPr>
              <a:lnSpc>
                <a:spcPts val="1900"/>
              </a:lnSpc>
              <a:spcBef>
                <a:spcPts val="0"/>
              </a:spcBef>
              <a:spcAft>
                <a:spcPts val="0"/>
              </a:spcAft>
            </a:pPr>
            <a:r>
              <a:rPr sz="1550" b="0">
                <a:solidFill>
                  <a:srgbClr val="172C42"/>
                </a:solidFill>
                <a:latin typeface="Consolas"/>
              </a:rPr>
              <a:t>    </a:t>
            </a:r>
            <a:r>
              <a:rPr sz="1550" b="0">
                <a:solidFill>
                  <a:srgbClr val="2B6B4A"/>
                </a:solidFill>
                <a:latin typeface="Consolas"/>
              </a:rPr>
              <a:t>'synthetic.customer@example.com'</a:t>
            </a:r>
            <a:r>
              <a:rPr sz="1550" b="0">
                <a:solidFill>
                  <a:srgbClr val="172C42"/>
                </a:solidFill>
                <a:latin typeface="Consolas"/>
              </a:rPr>
              <a:t>);</a:t>
            </a:r>
          </a:p>
          <a:p>
            <a:pPr>
              <a:lnSpc>
                <a:spcPts val="1900"/>
              </a:lnSpc>
              <a:spcBef>
                <a:spcPts val="0"/>
              </a:spcBef>
              <a:spcAft>
                <a:spcPts val="0"/>
              </a:spcAft>
            </a:pPr>
            <a:endParaRPr sz="1550" b="0">
              <a:solidFill>
                <a:srgbClr val="172C42"/>
              </a:solidFill>
              <a:latin typeface="Consolas"/>
            </a:endParaRPr>
          </a:p>
          <a:p>
            <a:pPr>
              <a:lnSpc>
                <a:spcPts val="1900"/>
              </a:lnSpc>
              <a:spcBef>
                <a:spcPts val="0"/>
              </a:spcBef>
              <a:spcAft>
                <a:spcPts val="0"/>
              </a:spcAft>
            </a:pPr>
            <a:r>
              <a:rPr sz="1550" b="0">
                <a:solidFill>
                  <a:srgbClr val="172C42"/>
                </a:solidFill>
                <a:latin typeface="Consolas"/>
              </a:rPr>
              <a:t>  </a:t>
            </a:r>
            <a:r>
              <a:rPr sz="1550" b="1">
                <a:solidFill>
                  <a:srgbClr val="6B3FA0"/>
                </a:solidFill>
                <a:latin typeface="Consolas"/>
              </a:rPr>
              <a:t>const</a:t>
            </a:r>
            <a:r>
              <a:rPr sz="1550" b="0">
                <a:solidFill>
                  <a:srgbClr val="172C42"/>
                </a:solidFill>
                <a:latin typeface="Consolas"/>
              </a:rPr>
              <a:t> password = </a:t>
            </a:r>
            <a:r>
              <a:rPr sz="1550" b="1">
                <a:solidFill>
                  <a:srgbClr val="6B3FA0"/>
                </a:solidFill>
                <a:latin typeface="Consolas"/>
              </a:rPr>
              <a:t>await</a:t>
            </a:r>
            <a:r>
              <a:rPr sz="1550" b="0">
                <a:solidFill>
                  <a:srgbClr val="172C42"/>
                </a:solidFill>
                <a:latin typeface="Consolas"/>
              </a:rPr>
              <a:t> driver.findElement(</a:t>
            </a:r>
          </a:p>
          <a:p>
            <a:pPr>
              <a:lnSpc>
                <a:spcPts val="1900"/>
              </a:lnSpc>
              <a:spcBef>
                <a:spcPts val="0"/>
              </a:spcBef>
              <a:spcAft>
                <a:spcPts val="0"/>
              </a:spcAft>
            </a:pPr>
            <a:r>
              <a:rPr sz="1550" b="0">
                <a:solidFill>
                  <a:srgbClr val="172C42"/>
                </a:solidFill>
                <a:latin typeface="Consolas"/>
              </a:rPr>
              <a:t>    By.css(</a:t>
            </a:r>
            <a:r>
              <a:rPr sz="1550" b="0">
                <a:solidFill>
                  <a:srgbClr val="2B6B4A"/>
                </a:solidFill>
                <a:latin typeface="Consolas"/>
              </a:rPr>
              <a:t>'input[type="password"]'</a:t>
            </a:r>
            <a:r>
              <a:rPr sz="1550" b="0">
                <a:solidFill>
                  <a:srgbClr val="172C42"/>
                </a:solidFill>
                <a:latin typeface="Consolas"/>
              </a:rPr>
              <a:t>));</a:t>
            </a:r>
          </a:p>
          <a:p>
            <a:pPr>
              <a:lnSpc>
                <a:spcPts val="1900"/>
              </a:lnSpc>
              <a:spcBef>
                <a:spcPts val="0"/>
              </a:spcBef>
              <a:spcAft>
                <a:spcPts val="0"/>
              </a:spcAft>
            </a:pPr>
            <a:r>
              <a:rPr sz="1550" b="0">
                <a:solidFill>
                  <a:srgbClr val="172C42"/>
                </a:solidFill>
                <a:latin typeface="Consolas"/>
              </a:rPr>
              <a:t>  </a:t>
            </a:r>
            <a:r>
              <a:rPr sz="1550" b="1">
                <a:solidFill>
                  <a:srgbClr val="6B3FA0"/>
                </a:solidFill>
                <a:latin typeface="Consolas"/>
              </a:rPr>
              <a:t>await</a:t>
            </a:r>
            <a:r>
              <a:rPr sz="1550" b="0">
                <a:solidFill>
                  <a:srgbClr val="172C42"/>
                </a:solidFill>
                <a:latin typeface="Consolas"/>
              </a:rPr>
              <a:t> password.sendKeys(</a:t>
            </a:r>
            <a:r>
              <a:rPr sz="1550" b="0">
                <a:solidFill>
                  <a:srgbClr val="2B6B4A"/>
                </a:solidFill>
                <a:latin typeface="Consolas"/>
              </a:rPr>
              <a:t>'Test1234!'</a:t>
            </a:r>
            <a:r>
              <a:rPr sz="1550" b="0">
                <a:solidFill>
                  <a:srgbClr val="172C42"/>
                </a:solidFill>
                <a:latin typeface="Consolas"/>
              </a:rPr>
              <a:t>);</a:t>
            </a:r>
          </a:p>
        </p:txBody>
      </p:sp>
      <p:sp>
        <p:nvSpPr>
          <p:cNvPr id="22" name="TextBox 21"/>
          <p:cNvSpPr txBox="1"/>
          <p:nvPr/>
        </p:nvSpPr>
        <p:spPr>
          <a:xfrm>
            <a:off x="6217920" y="1874519"/>
            <a:ext cx="5577840" cy="4617720"/>
          </a:xfrm>
          <a:prstGeom prst="rect">
            <a:avLst/>
          </a:prstGeom>
          <a:noFill/>
        </p:spPr>
        <p:txBody>
          <a:bodyPr wrap="square" lIns="0" tIns="0" rIns="0" bIns="0" anchor="t">
            <a:spAutoFit/>
          </a:bodyPr>
          <a:lstStyle/>
          <a:p>
            <a:pPr>
              <a:lnSpc>
                <a:spcPts val="1900"/>
              </a:lnSpc>
              <a:spcBef>
                <a:spcPts val="0"/>
              </a:spcBef>
              <a:spcAft>
                <a:spcPts val="0"/>
              </a:spcAft>
            </a:pPr>
            <a:r>
              <a:rPr sz="1550" b="0">
                <a:solidFill>
                  <a:srgbClr val="172C42"/>
                </a:solidFill>
                <a:latin typeface="Consolas"/>
              </a:rPr>
              <a:t>  </a:t>
            </a:r>
            <a:r>
              <a:rPr sz="1550" b="1">
                <a:solidFill>
                  <a:srgbClr val="6B3FA0"/>
                </a:solidFill>
                <a:latin typeface="Consolas"/>
              </a:rPr>
              <a:t>await</a:t>
            </a:r>
            <a:r>
              <a:rPr sz="1550" b="0">
                <a:solidFill>
                  <a:srgbClr val="172C42"/>
                </a:solidFill>
                <a:latin typeface="Consolas"/>
              </a:rPr>
              <a:t> driver.findElement(</a:t>
            </a:r>
          </a:p>
          <a:p>
            <a:pPr>
              <a:lnSpc>
                <a:spcPts val="1900"/>
              </a:lnSpc>
              <a:spcBef>
                <a:spcPts val="0"/>
              </a:spcBef>
              <a:spcAft>
                <a:spcPts val="0"/>
              </a:spcAft>
            </a:pPr>
            <a:r>
              <a:rPr sz="1550" b="0">
                <a:solidFill>
                  <a:srgbClr val="172C42"/>
                </a:solidFill>
                <a:latin typeface="Consolas"/>
              </a:rPr>
              <a:t>    By.xpath(</a:t>
            </a:r>
            <a:r>
              <a:rPr sz="1550" b="0">
                <a:solidFill>
                  <a:srgbClr val="2B6B4A"/>
                </a:solidFill>
                <a:latin typeface="Consolas"/>
              </a:rPr>
              <a:t>"//button[text()='Sign in']"</a:t>
            </a:r>
            <a:r>
              <a:rPr sz="1550" b="0">
                <a:solidFill>
                  <a:srgbClr val="172C42"/>
                </a:solidFill>
                <a:latin typeface="Consolas"/>
              </a:rPr>
              <a:t>))</a:t>
            </a:r>
          </a:p>
          <a:p>
            <a:pPr>
              <a:lnSpc>
                <a:spcPts val="1900"/>
              </a:lnSpc>
              <a:spcBef>
                <a:spcPts val="0"/>
              </a:spcBef>
              <a:spcAft>
                <a:spcPts val="0"/>
              </a:spcAft>
            </a:pPr>
            <a:r>
              <a:rPr sz="1550" b="0">
                <a:solidFill>
                  <a:srgbClr val="172C42"/>
                </a:solidFill>
                <a:latin typeface="Consolas"/>
              </a:rPr>
              <a:t>    .click();</a:t>
            </a:r>
          </a:p>
          <a:p>
            <a:pPr>
              <a:lnSpc>
                <a:spcPts val="1900"/>
              </a:lnSpc>
              <a:spcBef>
                <a:spcPts val="0"/>
              </a:spcBef>
              <a:spcAft>
                <a:spcPts val="0"/>
              </a:spcAft>
            </a:pPr>
            <a:endParaRPr sz="1550" b="0">
              <a:solidFill>
                <a:srgbClr val="172C42"/>
              </a:solidFill>
              <a:latin typeface="Consolas"/>
            </a:endParaRPr>
          </a:p>
          <a:p>
            <a:pPr>
              <a:lnSpc>
                <a:spcPts val="1900"/>
              </a:lnSpc>
              <a:spcBef>
                <a:spcPts val="0"/>
              </a:spcBef>
              <a:spcAft>
                <a:spcPts val="0"/>
              </a:spcAft>
            </a:pPr>
            <a:r>
              <a:rPr sz="1550" b="0">
                <a:solidFill>
                  <a:srgbClr val="172C42"/>
                </a:solidFill>
                <a:latin typeface="Consolas"/>
              </a:rPr>
              <a:t>  </a:t>
            </a:r>
            <a:r>
              <a:rPr sz="1550" b="1">
                <a:solidFill>
                  <a:srgbClr val="6B3FA0"/>
                </a:solidFill>
                <a:latin typeface="Consolas"/>
              </a:rPr>
              <a:t>await</a:t>
            </a:r>
            <a:r>
              <a:rPr sz="1550" b="0">
                <a:solidFill>
                  <a:srgbClr val="172C42"/>
                </a:solidFill>
                <a:latin typeface="Consolas"/>
              </a:rPr>
              <a:t> driver.wait(until.elementLocated(</a:t>
            </a:r>
          </a:p>
          <a:p>
            <a:pPr>
              <a:lnSpc>
                <a:spcPts val="1900"/>
              </a:lnSpc>
              <a:spcBef>
                <a:spcPts val="0"/>
              </a:spcBef>
              <a:spcAft>
                <a:spcPts val="0"/>
              </a:spcAft>
            </a:pPr>
            <a:r>
              <a:rPr sz="1550" b="0">
                <a:solidFill>
                  <a:srgbClr val="172C42"/>
                </a:solidFill>
                <a:latin typeface="Consolas"/>
              </a:rPr>
              <a:t>    By.xpath(</a:t>
            </a:r>
            <a:r>
              <a:rPr sz="1550" b="0">
                <a:solidFill>
                  <a:srgbClr val="2B6B4A"/>
                </a:solidFill>
                <a:latin typeface="Consolas"/>
              </a:rPr>
              <a:t>"//button[text()='Log out']"</a:t>
            </a:r>
            <a:r>
              <a:rPr sz="1550" b="0">
                <a:solidFill>
                  <a:srgbClr val="172C42"/>
                </a:solidFill>
                <a:latin typeface="Consolas"/>
              </a:rPr>
              <a:t>)),</a:t>
            </a:r>
          </a:p>
          <a:p>
            <a:pPr>
              <a:lnSpc>
                <a:spcPts val="1900"/>
              </a:lnSpc>
              <a:spcBef>
                <a:spcPts val="0"/>
              </a:spcBef>
              <a:spcAft>
                <a:spcPts val="0"/>
              </a:spcAft>
            </a:pPr>
            <a:r>
              <a:rPr sz="1550" b="0">
                <a:solidFill>
                  <a:srgbClr val="172C42"/>
                </a:solidFill>
                <a:latin typeface="Consolas"/>
              </a:rPr>
              <a:t>    </a:t>
            </a:r>
            <a:r>
              <a:rPr sz="1550" b="0">
                <a:solidFill>
                  <a:srgbClr val="175D9A"/>
                </a:solidFill>
                <a:latin typeface="Consolas"/>
              </a:rPr>
              <a:t>15000</a:t>
            </a:r>
            <a:r>
              <a:rPr sz="1550" b="0">
                <a:solidFill>
                  <a:srgbClr val="172C42"/>
                </a:solidFill>
                <a:latin typeface="Consolas"/>
              </a:rPr>
              <a:t>);</a:t>
            </a:r>
          </a:p>
          <a:p>
            <a:pPr>
              <a:lnSpc>
                <a:spcPts val="1900"/>
              </a:lnSpc>
              <a:spcBef>
                <a:spcPts val="0"/>
              </a:spcBef>
              <a:spcAft>
                <a:spcPts val="0"/>
              </a:spcAft>
            </a:pPr>
            <a:r>
              <a:rPr sz="1550" b="0">
                <a:solidFill>
                  <a:srgbClr val="172C42"/>
                </a:solidFill>
                <a:latin typeface="Consolas"/>
              </a:rPr>
              <a:t>  </a:t>
            </a:r>
            <a:r>
              <a:rPr sz="1550" b="1">
                <a:solidFill>
                  <a:srgbClr val="6B3FA0"/>
                </a:solidFill>
                <a:latin typeface="Consolas"/>
              </a:rPr>
              <a:t>const</a:t>
            </a:r>
            <a:r>
              <a:rPr sz="1550" b="0">
                <a:solidFill>
                  <a:srgbClr val="172C42"/>
                </a:solidFill>
                <a:latin typeface="Consolas"/>
              </a:rPr>
              <a:t> screen = </a:t>
            </a:r>
            <a:r>
              <a:rPr sz="1550" b="1">
                <a:solidFill>
                  <a:srgbClr val="6B3FA0"/>
                </a:solidFill>
                <a:latin typeface="Consolas"/>
              </a:rPr>
              <a:t>await</a:t>
            </a:r>
            <a:r>
              <a:rPr sz="1550" b="0">
                <a:solidFill>
                  <a:srgbClr val="172C42"/>
                </a:solidFill>
                <a:latin typeface="Consolas"/>
              </a:rPr>
              <a:t> driver.findElement(</a:t>
            </a:r>
          </a:p>
          <a:p>
            <a:pPr>
              <a:lnSpc>
                <a:spcPts val="1900"/>
              </a:lnSpc>
              <a:spcBef>
                <a:spcPts val="0"/>
              </a:spcBef>
              <a:spcAft>
                <a:spcPts val="0"/>
              </a:spcAft>
            </a:pPr>
            <a:r>
              <a:rPr sz="1550" b="0">
                <a:solidFill>
                  <a:srgbClr val="172C42"/>
                </a:solidFill>
                <a:latin typeface="Consolas"/>
              </a:rPr>
              <a:t>    By.css(</a:t>
            </a:r>
            <a:r>
              <a:rPr sz="1550" b="0">
                <a:solidFill>
                  <a:srgbClr val="2B6B4A"/>
                </a:solidFill>
                <a:latin typeface="Consolas"/>
              </a:rPr>
              <a:t>'body'</a:t>
            </a:r>
            <a:r>
              <a:rPr sz="1550" b="0">
                <a:solidFill>
                  <a:srgbClr val="172C42"/>
                </a:solidFill>
                <a:latin typeface="Consolas"/>
              </a:rPr>
              <a:t>)).getText();</a:t>
            </a:r>
          </a:p>
          <a:p>
            <a:pPr>
              <a:lnSpc>
                <a:spcPts val="1900"/>
              </a:lnSpc>
              <a:spcBef>
                <a:spcPts val="0"/>
              </a:spcBef>
              <a:spcAft>
                <a:spcPts val="0"/>
              </a:spcAft>
            </a:pPr>
            <a:r>
              <a:rPr sz="1550" b="0">
                <a:solidFill>
                  <a:srgbClr val="172C42"/>
                </a:solidFill>
                <a:latin typeface="Consolas"/>
              </a:rPr>
              <a:t>  </a:t>
            </a:r>
            <a:r>
              <a:rPr sz="1550" b="1">
                <a:solidFill>
                  <a:srgbClr val="6B3FA0"/>
                </a:solidFill>
                <a:latin typeface="Consolas"/>
              </a:rPr>
              <a:t>if</a:t>
            </a:r>
            <a:r>
              <a:rPr sz="1550" b="0">
                <a:solidFill>
                  <a:srgbClr val="172C42"/>
                </a:solidFill>
                <a:latin typeface="Consolas"/>
              </a:rPr>
              <a:t> (!screen.includes(</a:t>
            </a:r>
            <a:r>
              <a:rPr sz="1550" b="0">
                <a:solidFill>
                  <a:srgbClr val="2B6B4A"/>
                </a:solidFill>
                <a:latin typeface="Consolas"/>
              </a:rPr>
              <a:t>'Account 10000001'</a:t>
            </a:r>
            <a:r>
              <a:rPr sz="1550" b="0">
                <a:solidFill>
                  <a:srgbClr val="172C42"/>
                </a:solidFill>
                <a:latin typeface="Consolas"/>
              </a:rPr>
              <a:t>)) {</a:t>
            </a:r>
          </a:p>
          <a:p>
            <a:pPr>
              <a:lnSpc>
                <a:spcPts val="1900"/>
              </a:lnSpc>
              <a:spcBef>
                <a:spcPts val="0"/>
              </a:spcBef>
              <a:spcAft>
                <a:spcPts val="0"/>
              </a:spcAft>
            </a:pPr>
            <a:r>
              <a:rPr sz="1550" b="0">
                <a:solidFill>
                  <a:srgbClr val="172C42"/>
                </a:solidFill>
                <a:latin typeface="Consolas"/>
              </a:rPr>
              <a:t>    </a:t>
            </a:r>
            <a:r>
              <a:rPr sz="1550" b="1">
                <a:solidFill>
                  <a:srgbClr val="6B3FA0"/>
                </a:solidFill>
                <a:latin typeface="Consolas"/>
              </a:rPr>
              <a:t>throw</a:t>
            </a:r>
            <a:r>
              <a:rPr sz="1550" b="0">
                <a:solidFill>
                  <a:srgbClr val="172C42"/>
                </a:solidFill>
                <a:latin typeface="Consolas"/>
              </a:rPr>
              <a:t> </a:t>
            </a:r>
            <a:r>
              <a:rPr sz="1550" b="1">
                <a:solidFill>
                  <a:srgbClr val="6B3FA0"/>
                </a:solidFill>
                <a:latin typeface="Consolas"/>
              </a:rPr>
              <a:t>new</a:t>
            </a:r>
            <a:r>
              <a:rPr sz="1550" b="0">
                <a:solidFill>
                  <a:srgbClr val="172C42"/>
                </a:solidFill>
                <a:latin typeface="Consolas"/>
              </a:rPr>
              <a:t> Error(</a:t>
            </a:r>
          </a:p>
          <a:p>
            <a:pPr>
              <a:lnSpc>
                <a:spcPts val="1900"/>
              </a:lnSpc>
              <a:spcBef>
                <a:spcPts val="0"/>
              </a:spcBef>
              <a:spcAft>
                <a:spcPts val="0"/>
              </a:spcAft>
            </a:pPr>
            <a:r>
              <a:rPr sz="1550" b="0">
                <a:solidFill>
                  <a:srgbClr val="172C42"/>
                </a:solidFill>
                <a:latin typeface="Consolas"/>
              </a:rPr>
              <a:t>      </a:t>
            </a:r>
            <a:r>
              <a:rPr sz="1550" b="0">
                <a:solidFill>
                  <a:srgbClr val="2B6B4A"/>
                </a:solidFill>
                <a:latin typeface="Consolas"/>
              </a:rPr>
              <a:t>'The account number was not on the screen'</a:t>
            </a:r>
          </a:p>
          <a:p>
            <a:pPr>
              <a:lnSpc>
                <a:spcPts val="1900"/>
              </a:lnSpc>
              <a:spcBef>
                <a:spcPts val="0"/>
              </a:spcBef>
              <a:spcAft>
                <a:spcPts val="0"/>
              </a:spcAft>
            </a:pPr>
            <a:r>
              <a:rPr sz="1550" b="0">
                <a:solidFill>
                  <a:srgbClr val="172C42"/>
                </a:solidFill>
                <a:latin typeface="Consolas"/>
              </a:rPr>
              <a:t>    );</a:t>
            </a:r>
          </a:p>
          <a:p>
            <a:pPr>
              <a:lnSpc>
                <a:spcPts val="1900"/>
              </a:lnSpc>
              <a:spcBef>
                <a:spcPts val="0"/>
              </a:spcBef>
              <a:spcAft>
                <a:spcPts val="0"/>
              </a:spcAft>
            </a:pPr>
            <a:r>
              <a:rPr sz="1550" b="0">
                <a:solidFill>
                  <a:srgbClr val="172C42"/>
                </a:solidFill>
                <a:latin typeface="Consolas"/>
              </a:rPr>
              <a:t>  }</a:t>
            </a:r>
          </a:p>
          <a:p>
            <a:pPr>
              <a:lnSpc>
                <a:spcPts val="1900"/>
              </a:lnSpc>
              <a:spcBef>
                <a:spcPts val="0"/>
              </a:spcBef>
              <a:spcAft>
                <a:spcPts val="0"/>
              </a:spcAft>
            </a:pPr>
            <a:r>
              <a:rPr sz="1550" b="0">
                <a:solidFill>
                  <a:srgbClr val="172C42"/>
                </a:solidFill>
                <a:latin typeface="Consolas"/>
              </a:rPr>
              <a:t>} </a:t>
            </a:r>
            <a:r>
              <a:rPr sz="1550" b="1">
                <a:solidFill>
                  <a:srgbClr val="6B3FA0"/>
                </a:solidFill>
                <a:latin typeface="Consolas"/>
              </a:rPr>
              <a:t>finally</a:t>
            </a:r>
            <a:r>
              <a:rPr sz="1550" b="0">
                <a:solidFill>
                  <a:srgbClr val="172C42"/>
                </a:solidFill>
                <a:latin typeface="Consolas"/>
              </a:rPr>
              <a:t> {</a:t>
            </a:r>
          </a:p>
          <a:p>
            <a:pPr>
              <a:lnSpc>
                <a:spcPts val="1900"/>
              </a:lnSpc>
              <a:spcBef>
                <a:spcPts val="0"/>
              </a:spcBef>
              <a:spcAft>
                <a:spcPts val="0"/>
              </a:spcAft>
            </a:pPr>
            <a:r>
              <a:rPr sz="1550" b="0">
                <a:solidFill>
                  <a:srgbClr val="172C42"/>
                </a:solidFill>
                <a:latin typeface="Consolas"/>
              </a:rPr>
              <a:t>  </a:t>
            </a:r>
            <a:r>
              <a:rPr sz="1550" b="1">
                <a:solidFill>
                  <a:srgbClr val="6B3FA0"/>
                </a:solidFill>
                <a:latin typeface="Consolas"/>
              </a:rPr>
              <a:t>await</a:t>
            </a:r>
            <a:r>
              <a:rPr sz="1550" b="0">
                <a:solidFill>
                  <a:srgbClr val="172C42"/>
                </a:solidFill>
                <a:latin typeface="Consolas"/>
              </a:rPr>
              <a:t> driver.quit();</a:t>
            </a:r>
          </a:p>
          <a:p>
            <a:pPr>
              <a:lnSpc>
                <a:spcPts val="1900"/>
              </a:lnSpc>
              <a:spcBef>
                <a:spcPts val="0"/>
              </a:spcBef>
              <a:spcAft>
                <a:spcPts val="0"/>
              </a:spcAft>
            </a:pPr>
            <a:r>
              <a:rPr sz="1550" b="0">
                <a:solidFill>
                  <a:srgbClr val="172C42"/>
                </a:solidFill>
                <a:latin typeface="Consolas"/>
              </a:rPr>
              <a:t>}</a:t>
            </a:r>
          </a:p>
        </p:txBody>
      </p:sp>
    </p:spTree>
    <p:extLst>
      <p:ext uri="{BB962C8B-B14F-4D97-AF65-F5344CB8AC3E}">
        <p14:creationId xmlns:p14="http://schemas.microsoft.com/office/powerpoint/2010/main" val="42398966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2">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4">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17"/>
          <p:cNvSpPr txBox="1"/>
          <p:nvPr/>
        </p:nvSpPr>
        <p:spPr>
          <a:xfrm>
            <a:off x="713232" y="365760"/>
            <a:ext cx="10972800" cy="594360"/>
          </a:xfrm>
          <a:prstGeom prst="rect">
            <a:avLst/>
          </a:prstGeom>
          <a:noFill/>
        </p:spPr>
        <p:txBody>
          <a:bodyPr wrap="square" lIns="0" tIns="0" rIns="0" bIns="0" anchor="t">
            <a:spAutoFit/>
          </a:bodyPr>
          <a:lstStyle/>
          <a:p>
            <a:pPr>
              <a:lnSpc>
                <a:spcPts val="3500"/>
              </a:lnSpc>
              <a:spcBef>
                <a:spcPts val="0"/>
              </a:spcBef>
              <a:spcAft>
                <a:spcPts val="0"/>
              </a:spcAft>
            </a:pPr>
            <a:r>
              <a:rPr sz="3200" b="1">
                <a:solidFill>
                  <a:srgbClr val="FFFFFF"/>
                </a:solidFill>
              </a:rPr>
              <a:t>Selenium test pieces</a:t>
            </a:r>
          </a:p>
        </p:txBody>
      </p:sp>
      <p:sp>
        <p:nvSpPr>
          <p:cNvPr id="6" name="TextBox 18"/>
          <p:cNvSpPr txBox="1"/>
          <p:nvPr/>
        </p:nvSpPr>
        <p:spPr>
          <a:xfrm>
            <a:off x="594360" y="1143000"/>
            <a:ext cx="10972800" cy="320040"/>
          </a:xfrm>
          <a:prstGeom prst="rect">
            <a:avLst/>
          </a:prstGeom>
          <a:noFill/>
        </p:spPr>
        <p:txBody>
          <a:bodyPr wrap="square" lIns="0" tIns="0" rIns="0" bIns="0" anchor="t">
            <a:spAutoFit/>
          </a:bodyPr>
          <a:lstStyle/>
          <a:p>
            <a:pPr>
              <a:lnSpc>
                <a:spcPts val="2100"/>
              </a:lnSpc>
              <a:spcBef>
                <a:spcPts val="0"/>
              </a:spcBef>
              <a:spcAft>
                <a:spcPts val="0"/>
              </a:spcAft>
            </a:pPr>
            <a:r>
              <a:rPr sz="1800" b="1">
                <a:solidFill>
                  <a:srgbClr val="FFFFFF"/>
                </a:solidFill>
              </a:rPr>
              <a:t>What each piece does in this test</a:t>
            </a:r>
          </a:p>
        </p:txBody>
      </p:sp>
      <p:graphicFrame>
        <p:nvGraphicFramePr>
          <p:cNvPr id="7" name="Table 8"/>
          <p:cNvGraphicFramePr>
            <a:graphicFrameLocks noGrp="1"/>
          </p:cNvGraphicFramePr>
          <p:nvPr/>
        </p:nvGraphicFramePr>
        <p:xfrm>
          <a:off x="457200" y="1737360"/>
          <a:ext cx="11274552" cy="4791455"/>
        </p:xfrm>
        <a:graphic>
          <a:graphicData uri="http://schemas.openxmlformats.org/drawingml/2006/table">
            <a:tbl>
              <a:tblPr firstRow="1" bandRow="1">
                <a:tableStyleId>{5C22544A-7EE6-4342-B048-85BDC9FD1C3A}</a:tableStyleId>
              </a:tblPr>
              <a:tblGrid>
                <a:gridCol w="2331720">
                  <a:extLst>
                    <a:ext uri="{9D8B030D-6E8A-4147-A177-3AD203B41FA5}">
                      <a16:colId xmlns:a16="http://schemas.microsoft.com/office/drawing/2014/main" val="20000"/>
                    </a:ext>
                  </a:extLst>
                </a:gridCol>
                <a:gridCol w="8942832">
                  <a:extLst>
                    <a:ext uri="{9D8B030D-6E8A-4147-A177-3AD203B41FA5}">
                      <a16:colId xmlns:a16="http://schemas.microsoft.com/office/drawing/2014/main" val="20001"/>
                    </a:ext>
                  </a:extLst>
                </a:gridCol>
              </a:tblGrid>
              <a:tr h="393192">
                <a:tc>
                  <a:txBody>
                    <a:bodyPr/>
                    <a:lstStyle/>
                    <a:p>
                      <a:pPr>
                        <a:lnSpc>
                          <a:spcPts val="1800"/>
                        </a:lnSpc>
                        <a:spcBef>
                          <a:spcPts val="0"/>
                        </a:spcBef>
                        <a:spcAft>
                          <a:spcPts val="0"/>
                        </a:spcAft>
                      </a:pPr>
                      <a:r>
                        <a:rPr sz="1600" b="1">
                          <a:solidFill>
                            <a:srgbClr val="FFFFFF"/>
                          </a:solidFill>
                          <a:latin typeface="Aptos"/>
                        </a:rPr>
                        <a:t>Piece</a:t>
                      </a:r>
                    </a:p>
                  </a:txBody>
                  <a:tcPr marL="128016" marR="128016" marT="64008" anchor="ctr">
                    <a:solidFill>
                      <a:srgbClr val="173D50"/>
                    </a:solidFill>
                  </a:tcPr>
                </a:tc>
                <a:tc>
                  <a:txBody>
                    <a:bodyPr/>
                    <a:lstStyle/>
                    <a:p>
                      <a:pPr>
                        <a:lnSpc>
                          <a:spcPts val="1800"/>
                        </a:lnSpc>
                        <a:spcBef>
                          <a:spcPts val="0"/>
                        </a:spcBef>
                        <a:spcAft>
                          <a:spcPts val="0"/>
                        </a:spcAft>
                      </a:pPr>
                      <a:r>
                        <a:rPr sz="1600" b="1">
                          <a:solidFill>
                            <a:srgbClr val="FFFFFF"/>
                          </a:solidFill>
                          <a:latin typeface="Aptos"/>
                        </a:rPr>
                        <a:t>What it does in this test</a:t>
                      </a:r>
                    </a:p>
                  </a:txBody>
                  <a:tcPr marL="128016" marR="128016" marT="64008" anchor="ctr">
                    <a:solidFill>
                      <a:srgbClr val="173D50"/>
                    </a:solidFill>
                  </a:tcPr>
                </a:tc>
                <a:extLst>
                  <a:ext uri="{0D108BD9-81ED-4DB2-BD59-A6C34878D82A}">
                    <a16:rowId xmlns:a16="http://schemas.microsoft.com/office/drawing/2014/main" val="10000"/>
                  </a:ext>
                </a:extLst>
              </a:tr>
              <a:tr h="640080">
                <a:tc>
                  <a:txBody>
                    <a:bodyPr/>
                    <a:lstStyle/>
                    <a:p>
                      <a:pPr>
                        <a:lnSpc>
                          <a:spcPts val="1800"/>
                        </a:lnSpc>
                        <a:spcBef>
                          <a:spcPts val="0"/>
                        </a:spcBef>
                        <a:spcAft>
                          <a:spcPts val="0"/>
                        </a:spcAft>
                      </a:pPr>
                      <a:r>
                        <a:rPr sz="1600" b="1">
                          <a:solidFill>
                            <a:srgbClr val="172C42"/>
                          </a:solidFill>
                          <a:latin typeface="Aptos"/>
                        </a:rPr>
                        <a:t>Builder</a:t>
                      </a:r>
                    </a:p>
                  </a:txBody>
                  <a:tcPr marL="128016" marR="128016" marT="64008" anchor="ctr">
                    <a:solidFill>
                      <a:srgbClr val="F0F4F6"/>
                    </a:solidFill>
                  </a:tcPr>
                </a:tc>
                <a:tc>
                  <a:txBody>
                    <a:bodyPr/>
                    <a:lstStyle/>
                    <a:p>
                      <a:pPr>
                        <a:lnSpc>
                          <a:spcPts val="1800"/>
                        </a:lnSpc>
                        <a:spcBef>
                          <a:spcPts val="0"/>
                        </a:spcBef>
                        <a:spcAft>
                          <a:spcPts val="0"/>
                        </a:spcAft>
                      </a:pPr>
                      <a:r>
                        <a:rPr sz="1600" b="0">
                          <a:solidFill>
                            <a:srgbClr val="172C42"/>
                          </a:solidFill>
                          <a:latin typeface="Aptos"/>
                        </a:rPr>
                        <a:t>Opens Chrome. This is the line that stops on your PC, because selenium-manager.exe is blocked.</a:t>
                      </a:r>
                    </a:p>
                  </a:txBody>
                  <a:tcPr marL="128016" marR="128016" marT="64008" anchor="ctr">
                    <a:solidFill>
                      <a:srgbClr val="F0F4F6"/>
                    </a:solidFill>
                  </a:tcPr>
                </a:tc>
                <a:extLst>
                  <a:ext uri="{0D108BD9-81ED-4DB2-BD59-A6C34878D82A}">
                    <a16:rowId xmlns:a16="http://schemas.microsoft.com/office/drawing/2014/main" val="10001"/>
                  </a:ext>
                </a:extLst>
              </a:tr>
              <a:tr h="420624">
                <a:tc>
                  <a:txBody>
                    <a:bodyPr/>
                    <a:lstStyle/>
                    <a:p>
                      <a:pPr>
                        <a:lnSpc>
                          <a:spcPts val="1800"/>
                        </a:lnSpc>
                        <a:spcBef>
                          <a:spcPts val="0"/>
                        </a:spcBef>
                        <a:spcAft>
                          <a:spcPts val="0"/>
                        </a:spcAft>
                      </a:pPr>
                      <a:r>
                        <a:rPr sz="1600" b="1">
                          <a:solidFill>
                            <a:srgbClr val="172C42"/>
                          </a:solidFill>
                          <a:latin typeface="Aptos"/>
                        </a:rPr>
                        <a:t>driver.get</a:t>
                      </a:r>
                    </a:p>
                  </a:txBody>
                  <a:tcPr marL="128016" marR="128016" marT="64008" anchor="ctr">
                    <a:solidFill>
                      <a:srgbClr val="FFFFFF"/>
                    </a:solidFill>
                  </a:tcPr>
                </a:tc>
                <a:tc>
                  <a:txBody>
                    <a:bodyPr/>
                    <a:lstStyle/>
                    <a:p>
                      <a:pPr>
                        <a:lnSpc>
                          <a:spcPts val="1800"/>
                        </a:lnSpc>
                        <a:spcBef>
                          <a:spcPts val="0"/>
                        </a:spcBef>
                        <a:spcAft>
                          <a:spcPts val="0"/>
                        </a:spcAft>
                      </a:pPr>
                      <a:r>
                        <a:rPr sz="1600" b="0">
                          <a:solidFill>
                            <a:srgbClr val="172C42"/>
                          </a:solidFill>
                          <a:latin typeface="Aptos"/>
                        </a:rPr>
                        <a:t>Opens the bank page, the same as typing the address yourself.</a:t>
                      </a:r>
                    </a:p>
                  </a:txBody>
                  <a:tcPr marL="128016" marR="128016" marT="64008" anchor="ctr">
                    <a:solidFill>
                      <a:srgbClr val="FFFFFF"/>
                    </a:solidFill>
                  </a:tcPr>
                </a:tc>
                <a:extLst>
                  <a:ext uri="{0D108BD9-81ED-4DB2-BD59-A6C34878D82A}">
                    <a16:rowId xmlns:a16="http://schemas.microsoft.com/office/drawing/2014/main" val="10002"/>
                  </a:ext>
                </a:extLst>
              </a:tr>
              <a:tr h="694944">
                <a:tc>
                  <a:txBody>
                    <a:bodyPr/>
                    <a:lstStyle/>
                    <a:p>
                      <a:pPr>
                        <a:lnSpc>
                          <a:spcPts val="1800"/>
                        </a:lnSpc>
                        <a:spcBef>
                          <a:spcPts val="0"/>
                        </a:spcBef>
                        <a:spcAft>
                          <a:spcPts val="0"/>
                        </a:spcAft>
                      </a:pPr>
                      <a:r>
                        <a:rPr sz="1600" b="1">
                          <a:solidFill>
                            <a:srgbClr val="172C42"/>
                          </a:solidFill>
                          <a:latin typeface="Aptos"/>
                        </a:rPr>
                        <a:t>By.css and By.xpath</a:t>
                      </a:r>
                    </a:p>
                  </a:txBody>
                  <a:tcPr marL="128016" marR="128016" marT="64008" anchor="ctr">
                    <a:solidFill>
                      <a:srgbClr val="F0F4F6"/>
                    </a:solidFill>
                  </a:tcPr>
                </a:tc>
                <a:tc>
                  <a:txBody>
                    <a:bodyPr/>
                    <a:lstStyle/>
                    <a:p>
                      <a:pPr>
                        <a:lnSpc>
                          <a:spcPts val="1800"/>
                        </a:lnSpc>
                        <a:spcBef>
                          <a:spcPts val="0"/>
                        </a:spcBef>
                        <a:spcAft>
                          <a:spcPts val="0"/>
                        </a:spcAft>
                      </a:pPr>
                      <a:r>
                        <a:rPr sz="1600" b="0">
                          <a:solidFill>
                            <a:srgbClr val="172C42"/>
                          </a:solidFill>
                          <a:latin typeface="Aptos"/>
                        </a:rPr>
                        <a:t>Describe which box or button to use. The email box is found by its autocomplete attribute. Sign in is found by the words on the button.</a:t>
                      </a:r>
                    </a:p>
                  </a:txBody>
                  <a:tcPr marL="128016" marR="128016" marT="64008" anchor="ctr">
                    <a:solidFill>
                      <a:srgbClr val="F0F4F6"/>
                    </a:solidFill>
                  </a:tcPr>
                </a:tc>
                <a:extLst>
                  <a:ext uri="{0D108BD9-81ED-4DB2-BD59-A6C34878D82A}">
                    <a16:rowId xmlns:a16="http://schemas.microsoft.com/office/drawing/2014/main" val="10003"/>
                  </a:ext>
                </a:extLst>
              </a:tr>
              <a:tr h="402336">
                <a:tc>
                  <a:txBody>
                    <a:bodyPr/>
                    <a:lstStyle/>
                    <a:p>
                      <a:pPr>
                        <a:lnSpc>
                          <a:spcPts val="1800"/>
                        </a:lnSpc>
                        <a:spcBef>
                          <a:spcPts val="0"/>
                        </a:spcBef>
                        <a:spcAft>
                          <a:spcPts val="0"/>
                        </a:spcAft>
                      </a:pPr>
                      <a:r>
                        <a:rPr sz="1600" b="1">
                          <a:solidFill>
                            <a:srgbClr val="172C42"/>
                          </a:solidFill>
                          <a:latin typeface="Aptos"/>
                        </a:rPr>
                        <a:t>findElement</a:t>
                      </a:r>
                    </a:p>
                  </a:txBody>
                  <a:tcPr marL="128016" marR="128016" marT="64008" anchor="ctr">
                    <a:solidFill>
                      <a:srgbClr val="FFFFFF"/>
                    </a:solidFill>
                  </a:tcPr>
                </a:tc>
                <a:tc>
                  <a:txBody>
                    <a:bodyPr/>
                    <a:lstStyle/>
                    <a:p>
                      <a:pPr>
                        <a:lnSpc>
                          <a:spcPts val="1800"/>
                        </a:lnSpc>
                        <a:spcBef>
                          <a:spcPts val="0"/>
                        </a:spcBef>
                        <a:spcAft>
                          <a:spcPts val="0"/>
                        </a:spcAft>
                      </a:pPr>
                      <a:r>
                        <a:rPr sz="1600" b="0">
                          <a:solidFill>
                            <a:srgbClr val="172C42"/>
                          </a:solidFill>
                          <a:latin typeface="Aptos"/>
                        </a:rPr>
                        <a:t>Locates that one box or button on the page.</a:t>
                      </a:r>
                    </a:p>
                  </a:txBody>
                  <a:tcPr marL="128016" marR="128016" marT="64008" anchor="ctr">
                    <a:solidFill>
                      <a:srgbClr val="FFFFFF"/>
                    </a:solidFill>
                  </a:tcPr>
                </a:tc>
                <a:extLst>
                  <a:ext uri="{0D108BD9-81ED-4DB2-BD59-A6C34878D82A}">
                    <a16:rowId xmlns:a16="http://schemas.microsoft.com/office/drawing/2014/main" val="10004"/>
                  </a:ext>
                </a:extLst>
              </a:tr>
              <a:tr h="402336">
                <a:tc>
                  <a:txBody>
                    <a:bodyPr/>
                    <a:lstStyle/>
                    <a:p>
                      <a:pPr>
                        <a:lnSpc>
                          <a:spcPts val="1800"/>
                        </a:lnSpc>
                        <a:spcBef>
                          <a:spcPts val="0"/>
                        </a:spcBef>
                        <a:spcAft>
                          <a:spcPts val="0"/>
                        </a:spcAft>
                      </a:pPr>
                      <a:r>
                        <a:rPr sz="1600" b="1">
                          <a:solidFill>
                            <a:srgbClr val="172C42"/>
                          </a:solidFill>
                          <a:latin typeface="Aptos"/>
                        </a:rPr>
                        <a:t>sendKeys</a:t>
                      </a:r>
                    </a:p>
                  </a:txBody>
                  <a:tcPr marL="128016" marR="128016" marT="64008" anchor="ctr">
                    <a:solidFill>
                      <a:srgbClr val="F0F4F6"/>
                    </a:solidFill>
                  </a:tcPr>
                </a:tc>
                <a:tc>
                  <a:txBody>
                    <a:bodyPr/>
                    <a:lstStyle/>
                    <a:p>
                      <a:pPr>
                        <a:lnSpc>
                          <a:spcPts val="1800"/>
                        </a:lnSpc>
                        <a:spcBef>
                          <a:spcPts val="0"/>
                        </a:spcBef>
                        <a:spcAft>
                          <a:spcPts val="0"/>
                        </a:spcAft>
                      </a:pPr>
                      <a:r>
                        <a:rPr sz="1600" b="0">
                          <a:solidFill>
                            <a:srgbClr val="172C42"/>
                          </a:solidFill>
                          <a:latin typeface="Aptos"/>
                        </a:rPr>
                        <a:t>Types into the box.</a:t>
                      </a:r>
                    </a:p>
                  </a:txBody>
                  <a:tcPr marL="128016" marR="128016" marT="64008" anchor="ctr">
                    <a:solidFill>
                      <a:srgbClr val="F0F4F6"/>
                    </a:solidFill>
                  </a:tcPr>
                </a:tc>
                <a:extLst>
                  <a:ext uri="{0D108BD9-81ED-4DB2-BD59-A6C34878D82A}">
                    <a16:rowId xmlns:a16="http://schemas.microsoft.com/office/drawing/2014/main" val="10005"/>
                  </a:ext>
                </a:extLst>
              </a:tr>
              <a:tr h="402336">
                <a:tc>
                  <a:txBody>
                    <a:bodyPr/>
                    <a:lstStyle/>
                    <a:p>
                      <a:pPr>
                        <a:lnSpc>
                          <a:spcPts val="1800"/>
                        </a:lnSpc>
                        <a:spcBef>
                          <a:spcPts val="0"/>
                        </a:spcBef>
                        <a:spcAft>
                          <a:spcPts val="0"/>
                        </a:spcAft>
                      </a:pPr>
                      <a:r>
                        <a:rPr sz="1600" b="1">
                          <a:solidFill>
                            <a:srgbClr val="172C42"/>
                          </a:solidFill>
                          <a:latin typeface="Aptos"/>
                        </a:rPr>
                        <a:t>click</a:t>
                      </a:r>
                    </a:p>
                  </a:txBody>
                  <a:tcPr marL="128016" marR="128016" marT="64008" anchor="ctr">
                    <a:solidFill>
                      <a:srgbClr val="FFFFFF"/>
                    </a:solidFill>
                  </a:tcPr>
                </a:tc>
                <a:tc>
                  <a:txBody>
                    <a:bodyPr/>
                    <a:lstStyle/>
                    <a:p>
                      <a:pPr>
                        <a:lnSpc>
                          <a:spcPts val="1800"/>
                        </a:lnSpc>
                        <a:spcBef>
                          <a:spcPts val="0"/>
                        </a:spcBef>
                        <a:spcAft>
                          <a:spcPts val="0"/>
                        </a:spcAft>
                      </a:pPr>
                      <a:r>
                        <a:rPr sz="1600" b="0">
                          <a:solidFill>
                            <a:srgbClr val="172C42"/>
                          </a:solidFill>
                          <a:latin typeface="Aptos"/>
                        </a:rPr>
                        <a:t>Presses the button.</a:t>
                      </a:r>
                    </a:p>
                  </a:txBody>
                  <a:tcPr marL="128016" marR="128016" marT="64008" anchor="ctr">
                    <a:solidFill>
                      <a:srgbClr val="FFFFFF"/>
                    </a:solidFill>
                  </a:tcPr>
                </a:tc>
                <a:extLst>
                  <a:ext uri="{0D108BD9-81ED-4DB2-BD59-A6C34878D82A}">
                    <a16:rowId xmlns:a16="http://schemas.microsoft.com/office/drawing/2014/main" val="10006"/>
                  </a:ext>
                </a:extLst>
              </a:tr>
              <a:tr h="457200">
                <a:tc>
                  <a:txBody>
                    <a:bodyPr/>
                    <a:lstStyle/>
                    <a:p>
                      <a:pPr>
                        <a:lnSpc>
                          <a:spcPts val="1800"/>
                        </a:lnSpc>
                        <a:spcBef>
                          <a:spcPts val="0"/>
                        </a:spcBef>
                        <a:spcAft>
                          <a:spcPts val="0"/>
                        </a:spcAft>
                      </a:pPr>
                      <a:r>
                        <a:rPr sz="1600" b="1">
                          <a:solidFill>
                            <a:srgbClr val="172C42"/>
                          </a:solidFill>
                          <a:latin typeface="Aptos"/>
                        </a:rPr>
                        <a:t>wait and until</a:t>
                      </a:r>
                    </a:p>
                  </a:txBody>
                  <a:tcPr marL="128016" marR="128016" marT="64008" anchor="ctr">
                    <a:solidFill>
                      <a:srgbClr val="F0F4F6"/>
                    </a:solidFill>
                  </a:tcPr>
                </a:tc>
                <a:tc>
                  <a:txBody>
                    <a:bodyPr/>
                    <a:lstStyle/>
                    <a:p>
                      <a:pPr>
                        <a:lnSpc>
                          <a:spcPts val="1800"/>
                        </a:lnSpc>
                        <a:spcBef>
                          <a:spcPts val="0"/>
                        </a:spcBef>
                        <a:spcAft>
                          <a:spcPts val="0"/>
                        </a:spcAft>
                      </a:pPr>
                      <a:r>
                        <a:rPr sz="1600" b="0">
                          <a:solidFill>
                            <a:srgbClr val="172C42"/>
                          </a:solidFill>
                          <a:latin typeface="Aptos"/>
                        </a:rPr>
                        <a:t>Pauses until Log out appears. The page needs a moment after sign-in.</a:t>
                      </a:r>
                    </a:p>
                  </a:txBody>
                  <a:tcPr marL="128016" marR="128016" marT="64008" anchor="ctr">
                    <a:solidFill>
                      <a:srgbClr val="F0F4F6"/>
                    </a:solidFill>
                  </a:tcPr>
                </a:tc>
                <a:extLst>
                  <a:ext uri="{0D108BD9-81ED-4DB2-BD59-A6C34878D82A}">
                    <a16:rowId xmlns:a16="http://schemas.microsoft.com/office/drawing/2014/main" val="10007"/>
                  </a:ext>
                </a:extLst>
              </a:tr>
              <a:tr h="457200">
                <a:tc>
                  <a:txBody>
                    <a:bodyPr/>
                    <a:lstStyle/>
                    <a:p>
                      <a:pPr>
                        <a:lnSpc>
                          <a:spcPts val="1800"/>
                        </a:lnSpc>
                        <a:spcBef>
                          <a:spcPts val="0"/>
                        </a:spcBef>
                        <a:spcAft>
                          <a:spcPts val="0"/>
                        </a:spcAft>
                      </a:pPr>
                      <a:r>
                        <a:rPr sz="1600" b="1">
                          <a:solidFill>
                            <a:srgbClr val="172C42"/>
                          </a:solidFill>
                          <a:latin typeface="Aptos"/>
                        </a:rPr>
                        <a:t>getText</a:t>
                      </a:r>
                    </a:p>
                  </a:txBody>
                  <a:tcPr marL="128016" marR="128016" marT="64008" anchor="ctr">
                    <a:solidFill>
                      <a:srgbClr val="FFFFFF"/>
                    </a:solidFill>
                  </a:tcPr>
                </a:tc>
                <a:tc>
                  <a:txBody>
                    <a:bodyPr/>
                    <a:lstStyle/>
                    <a:p>
                      <a:pPr>
                        <a:lnSpc>
                          <a:spcPts val="1800"/>
                        </a:lnSpc>
                        <a:spcBef>
                          <a:spcPts val="0"/>
                        </a:spcBef>
                        <a:spcAft>
                          <a:spcPts val="0"/>
                        </a:spcAft>
                      </a:pPr>
                      <a:r>
                        <a:rPr sz="1600" b="0">
                          <a:solidFill>
                            <a:srgbClr val="172C42"/>
                          </a:solidFill>
                          <a:latin typeface="Aptos"/>
                        </a:rPr>
                        <a:t>Reads the words on the screen so the test can check for Account 10000001.</a:t>
                      </a:r>
                    </a:p>
                  </a:txBody>
                  <a:tcPr marL="128016" marR="128016" marT="64008" anchor="ctr">
                    <a:solidFill>
                      <a:srgbClr val="FFFFFF"/>
                    </a:solidFill>
                  </a:tcPr>
                </a:tc>
                <a:extLst>
                  <a:ext uri="{0D108BD9-81ED-4DB2-BD59-A6C34878D82A}">
                    <a16:rowId xmlns:a16="http://schemas.microsoft.com/office/drawing/2014/main" val="10008"/>
                  </a:ext>
                </a:extLst>
              </a:tr>
              <a:tr h="521207">
                <a:tc>
                  <a:txBody>
                    <a:bodyPr/>
                    <a:lstStyle/>
                    <a:p>
                      <a:pPr>
                        <a:lnSpc>
                          <a:spcPts val="1800"/>
                        </a:lnSpc>
                        <a:spcBef>
                          <a:spcPts val="0"/>
                        </a:spcBef>
                        <a:spcAft>
                          <a:spcPts val="0"/>
                        </a:spcAft>
                      </a:pPr>
                      <a:r>
                        <a:rPr sz="1600" b="1">
                          <a:solidFill>
                            <a:srgbClr val="172C42"/>
                          </a:solidFill>
                          <a:latin typeface="Aptos"/>
                        </a:rPr>
                        <a:t>quit</a:t>
                      </a:r>
                    </a:p>
                  </a:txBody>
                  <a:tcPr marL="128016" marR="128016" marT="64008" anchor="ctr">
                    <a:solidFill>
                      <a:srgbClr val="F0F4F6"/>
                    </a:solidFill>
                  </a:tcPr>
                </a:tc>
                <a:tc>
                  <a:txBody>
                    <a:bodyPr/>
                    <a:lstStyle/>
                    <a:p>
                      <a:pPr>
                        <a:lnSpc>
                          <a:spcPts val="1800"/>
                        </a:lnSpc>
                        <a:spcBef>
                          <a:spcPts val="0"/>
                        </a:spcBef>
                        <a:spcAft>
                          <a:spcPts val="0"/>
                        </a:spcAft>
                      </a:pPr>
                      <a:r>
                        <a:rPr sz="1600" b="0">
                          <a:solidFill>
                            <a:srgbClr val="172C42"/>
                          </a:solidFill>
                          <a:latin typeface="Aptos"/>
                        </a:rPr>
                        <a:t>Closes Chrome even when the check fails. finally is what makes that happen.</a:t>
                      </a:r>
                    </a:p>
                  </a:txBody>
                  <a:tcPr marL="128016" marR="128016" marT="64008" anchor="ctr">
                    <a:solidFill>
                      <a:srgbClr val="F0F4F6"/>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0010560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1508760"/>
            <a:ext cx="6217920" cy="1188720"/>
          </a:xfrm>
          <a:prstGeom prst="rect">
            <a:avLst/>
          </a:prstGeom>
          <a:noFill/>
        </p:spPr>
        <p:txBody>
          <a:bodyPr wrap="square" lIns="0" tIns="0" rIns="0" bIns="0">
            <a:spAutoFit/>
          </a:bodyPr>
          <a:lstStyle/>
          <a:p>
            <a:pPr>
              <a:lnSpc>
                <a:spcPct val="105000"/>
              </a:lnSpc>
              <a:spcAft>
                <a:spcPts val="0"/>
              </a:spcAft>
            </a:pPr>
            <a:r>
              <a:rPr sz="6800" b="1">
                <a:solidFill>
                  <a:srgbClr val="172C42"/>
                </a:solidFill>
              </a:rPr>
              <a:t>Thank you!</a:t>
            </a:r>
          </a:p>
        </p:txBody>
      </p:sp>
      <p:sp>
        <p:nvSpPr>
          <p:cNvPr id="3" name="TextBox 2"/>
          <p:cNvSpPr txBox="1"/>
          <p:nvPr/>
        </p:nvSpPr>
        <p:spPr>
          <a:xfrm>
            <a:off x="777240" y="2926080"/>
            <a:ext cx="5394960" cy="548640"/>
          </a:xfrm>
          <a:prstGeom prst="rect">
            <a:avLst/>
          </a:prstGeom>
          <a:noFill/>
        </p:spPr>
        <p:txBody>
          <a:bodyPr wrap="square" lIns="0" tIns="0" rIns="0" bIns="0">
            <a:spAutoFit/>
          </a:bodyPr>
          <a:lstStyle/>
          <a:p>
            <a:pPr>
              <a:lnSpc>
                <a:spcPct val="105000"/>
              </a:lnSpc>
              <a:spcAft>
                <a:spcPts val="0"/>
              </a:spcAft>
            </a:pPr>
            <a:r>
              <a:rPr sz="2800" b="1">
                <a:solidFill>
                  <a:srgbClr val="007D87"/>
                </a:solidFill>
              </a:rPr>
              <a:t>Questions welcome.</a:t>
            </a:r>
          </a:p>
        </p:txBody>
      </p:sp>
      <p:sp>
        <p:nvSpPr>
          <p:cNvPr id="4" name="TextBox 3"/>
          <p:cNvSpPr txBox="1"/>
          <p:nvPr/>
        </p:nvSpPr>
        <p:spPr>
          <a:xfrm>
            <a:off x="777240" y="3675887"/>
            <a:ext cx="5212080" cy="914400"/>
          </a:xfrm>
          <a:prstGeom prst="rect">
            <a:avLst/>
          </a:prstGeom>
          <a:noFill/>
        </p:spPr>
        <p:txBody>
          <a:bodyPr wrap="square" lIns="0" tIns="0" rIns="0" bIns="0">
            <a:spAutoFit/>
          </a:bodyPr>
          <a:lstStyle/>
          <a:p>
            <a:pPr>
              <a:lnSpc>
                <a:spcPct val="105000"/>
              </a:lnSpc>
              <a:spcAft>
                <a:spcPts val="0"/>
              </a:spcAft>
            </a:pPr>
            <a:r>
              <a:rPr sz="2500" b="0">
                <a:solidFill>
                  <a:srgbClr val="172C42"/>
                </a:solidFill>
              </a:rPr>
              <a:t>Curiosity is always</a:t>
            </a:r>
          </a:p>
          <a:p>
            <a:pPr>
              <a:lnSpc>
                <a:spcPct val="105000"/>
              </a:lnSpc>
              <a:spcAft>
                <a:spcPts val="0"/>
              </a:spcAft>
            </a:pPr>
            <a:r>
              <a:rPr sz="2500" b="0">
                <a:solidFill>
                  <a:srgbClr val="172C42"/>
                </a:solidFill>
              </a:rPr>
              <a:t>a good dependency.</a:t>
            </a:r>
          </a:p>
        </p:txBody>
      </p:sp>
      <p:sp>
        <p:nvSpPr>
          <p:cNvPr id="5" name="TextBox 4"/>
          <p:cNvSpPr txBox="1"/>
          <p:nvPr/>
        </p:nvSpPr>
        <p:spPr>
          <a:xfrm>
            <a:off x="777240" y="6080760"/>
            <a:ext cx="5852160" cy="329184"/>
          </a:xfrm>
          <a:prstGeom prst="rect">
            <a:avLst/>
          </a:prstGeom>
          <a:noFill/>
        </p:spPr>
        <p:txBody>
          <a:bodyPr wrap="square" lIns="0" tIns="0" rIns="0" bIns="0">
            <a:spAutoFit/>
          </a:bodyPr>
          <a:lstStyle/>
          <a:p>
            <a:pPr>
              <a:lnSpc>
                <a:spcPct val="105000"/>
              </a:lnSpc>
              <a:spcAft>
                <a:spcPts val="0"/>
              </a:spcAft>
            </a:pPr>
            <a:r>
              <a:rPr sz="1800" b="0">
                <a:solidFill>
                  <a:srgbClr val="3C4A58"/>
                </a:solidFill>
              </a:rPr>
              <a:t>Happy coding. Thoughtful testing.</a:t>
            </a:r>
          </a:p>
        </p:txBody>
      </p:sp>
      <p:pic>
        <p:nvPicPr>
          <p:cNvPr id="6" name="Picture 5" descr="image-a2f14be469b768f1ead2409475ba65c8.jpg"/>
          <p:cNvPicPr>
            <a:picLocks noChangeAspect="1"/>
          </p:cNvPicPr>
          <p:nvPr/>
        </p:nvPicPr>
        <p:blipFill>
          <a:blip r:embed="rId3"/>
          <a:stretch>
            <a:fillRect/>
          </a:stretch>
        </p:blipFill>
        <p:spPr>
          <a:xfrm>
            <a:off x="6812280" y="1223483"/>
            <a:ext cx="4892039" cy="4539048"/>
          </a:xfrm>
          <a:prstGeom prst="rect">
            <a:avLst/>
          </a:prstGeom>
        </p:spPr>
      </p:pic>
    </p:spTree>
    <p:extLst>
      <p:ext uri="{BB962C8B-B14F-4D97-AF65-F5344CB8AC3E}">
        <p14:creationId xmlns:p14="http://schemas.microsoft.com/office/powerpoint/2010/main" val="37446624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962</TotalTime>
  <Words>8991</Words>
  <Application>Microsoft Office PowerPoint</Application>
  <PresentationFormat>Widescreen</PresentationFormat>
  <Paragraphs>1175</Paragraphs>
  <Slides>69</Slides>
  <Notes>36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69</vt:i4>
      </vt:variant>
    </vt:vector>
  </HeadingPairs>
  <TitlesOfParts>
    <vt:vector size="75" baseType="lpstr">
      <vt:lpstr>Aptos</vt:lpstr>
      <vt:lpstr>Aptos Display</vt:lpstr>
      <vt:lpstr>Arial</vt:lpstr>
      <vt:lpstr>Consolas</vt:lpstr>
      <vt:lpstr>Segoe WPC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OOSE: Object-oriented Software Engineering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UML diagrams</vt:lpstr>
      <vt:lpstr>UML Diagram </vt:lpstr>
      <vt:lpstr>Create Your UML !!!!</vt:lpstr>
      <vt:lpstr>PowerPoint Presentation</vt:lpstr>
      <vt:lpstr>Design pattern groups</vt:lpstr>
      <vt:lpstr>Model–view–controller</vt:lpstr>
      <vt:lpstr>Model–view–controller</vt:lpstr>
      <vt:lpstr>Repository</vt:lpstr>
      <vt:lpstr>Repository</vt:lpstr>
      <vt:lpstr>Singleton</vt:lpstr>
      <vt:lpstr>Singleton</vt:lpstr>
      <vt:lpstr>Factory</vt:lpstr>
      <vt:lpstr>Factory</vt:lpstr>
      <vt:lpstr>Facade</vt:lpstr>
      <vt:lpstr>Facade</vt:lpstr>
      <vt:lpstr>Strategy</vt:lpstr>
      <vt:lpstr>Strategy</vt:lpstr>
      <vt:lpstr>Observer</vt:lpstr>
      <vt:lpstr>Observer</vt:lpstr>
      <vt:lpstr>Adapter</vt:lpstr>
      <vt:lpstr>Adapter</vt:lpstr>
      <vt:lpstr>Builder</vt:lpstr>
      <vt:lpstr>Builder</vt:lpstr>
      <vt:lpstr>Design patterns in the app</vt:lpstr>
      <vt:lpstr>Who should talk to MongoDB?</vt:lpstr>
      <vt:lpstr>Good Design: Repository</vt:lpstr>
      <vt:lpstr>Is it Good Design</vt:lpstr>
      <vt:lpstr>Design-pattern clue: Strategy</vt:lpstr>
      <vt:lpstr>Vending machine: weak and repaired design</vt:lpstr>
      <vt:lpstr>PowerPoint Presentation</vt:lpstr>
      <vt:lpstr>PowerPoint Presentation</vt:lpstr>
      <vt:lpstr>Vending service: weak and repaired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Testing types</vt:lpstr>
      <vt:lpstr>Seven ways to check the bank</vt:lpstr>
      <vt:lpstr>Smoke, regression and acceptance testing</vt:lpstr>
      <vt:lpstr>PowerPoint Presentation</vt:lpstr>
      <vt:lpstr>Test-case design: the bank detective’s recipe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Dhivya Ragupathi</dc:creator>
  <cp:lastModifiedBy>Dhivya Ragupathi</cp:lastModifiedBy>
  <cp:revision>24</cp:revision>
  <dcterms:created xsi:type="dcterms:W3CDTF">2026-10-10T08:18:53Z</dcterms:created>
  <dcterms:modified xsi:type="dcterms:W3CDTF">2026-10-11T17:10:22Z</dcterms:modified>
</cp:coreProperties>
</file>